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Download</c:v>
                </c:pt>
              </c:strCache>
            </c:strRef>
          </c:tx>
          <c:spPr>
            <a:solidFill>
              <a:srgbClr val="2EE6FF"/>
            </a:solidFill>
            <a:effectLst/>
          </c:spPr>
          <c:invertIfNegative val="0"/>
          <c:dLbls>
            <c:numFmt formatCode="#,##0&quot; Mbit/s&quot;" sourceLinked="0"/>
            <c:txPr>
              <a:bodyPr/>
              <a:lstStyle/>
              <a:p>
                <a:pPr>
                  <a:defRPr b="0" i="0" strike="noStrike" sz="900" u="none">
                    <a:solidFill>
                      <a:srgbClr val="E9EFFA"/>
                    </a:solidFill>
                    <a:latin typeface="Courier New"/>
                  </a:defRPr>
                </a:pPr>
              </a:p>
            </c:txPr>
            <c:showLegendKey val="0"/>
            <c:showVal val="1"/>
            <c:showCatName val="0"/>
            <c:showSerName val="0"/>
            <c:showPercent val="0"/>
            <c:showBubbleSize val="0"/>
            <c:showLeaderLines val="0"/>
          </c:dLbls>
          <c:cat>
            <c:multiLvlStrRef>
              <c:f>Sheet1!$A$2:$A$7</c:f>
              <c:multiLvlStrCache>
                <c:ptCount val="6"/>
                <c:lvl>
                  <c:pt idx="0">
                    <c:v>Glasfaser</c:v>
                  </c:pt>
                  <c:pt idx="1">
                    <c:v>Richtfunk</c:v>
                  </c:pt>
                  <c:pt idx="2">
                    <c:v>Kabel</c:v>
                  </c:pt>
                  <c:pt idx="3">
                    <c:v>5G</c:v>
                  </c:pt>
                  <c:pt idx="4">
                    <c:v>DSL</c:v>
                  </c:pt>
                  <c:pt idx="5">
                    <c:v>Satellit</c:v>
                  </c:pt>
                </c:lvl>
              </c:multiLvlStrCache>
            </c:multiLvlStrRef>
          </c:cat>
          <c:val>
            <c:numRef>
              <c:f>Sheet1!$B$2:$B$7</c:f>
              <c:numCache>
                <c:formatCode>General</c:formatCode>
                <c:ptCount val="6"/>
                <c:pt idx="0">
                  <c:v>10000</c:v>
                </c:pt>
                <c:pt idx="1">
                  <c:v>1000</c:v>
                </c:pt>
                <c:pt idx="2">
                  <c:v>1000</c:v>
                </c:pt>
                <c:pt idx="3">
                  <c:v>500</c:v>
                </c:pt>
                <c:pt idx="4">
                  <c:v>250</c:v>
                </c:pt>
                <c:pt idx="5">
                  <c:v>200</c:v>
                </c:pt>
              </c:numCache>
            </c:numRef>
          </c:val>
        </c:ser>
        <c:ser>
          <c:idx val="1"/>
          <c:order val="1"/>
          <c:tx>
            <c:strRef>
              <c:f>Sheet1!$C$1</c:f>
              <c:strCache>
                <c:ptCount val="1"/>
                <c:pt idx="0">
                  <c:v>Upload</c:v>
                </c:pt>
              </c:strCache>
            </c:strRef>
          </c:tx>
          <c:spPr>
            <a:solidFill>
              <a:srgbClr val="FF4FB0"/>
            </a:solidFill>
            <a:effectLst/>
          </c:spPr>
          <c:invertIfNegative val="0"/>
          <c:dLbls>
            <c:numFmt formatCode="#,##0&quot; Mbit/s&quot;" sourceLinked="0"/>
            <c:txPr>
              <a:bodyPr/>
              <a:lstStyle/>
              <a:p>
                <a:pPr>
                  <a:defRPr b="0" i="0" strike="noStrike" sz="900" u="none">
                    <a:solidFill>
                      <a:srgbClr val="E9EFFA"/>
                    </a:solidFill>
                    <a:latin typeface="Courier New"/>
                  </a:defRPr>
                </a:pPr>
              </a:p>
            </c:txPr>
            <c:showLegendKey val="0"/>
            <c:showVal val="1"/>
            <c:showCatName val="0"/>
            <c:showSerName val="0"/>
            <c:showPercent val="0"/>
            <c:showBubbleSize val="0"/>
            <c:showLeaderLines val="0"/>
          </c:dLbls>
          <c:cat>
            <c:multiLvlStrRef>
              <c:f>Sheet1!$A$2:$A$7</c:f>
              <c:multiLvlStrCache>
                <c:ptCount val="6"/>
                <c:lvl>
                  <c:pt idx="0">
                    <c:v>Glasfaser</c:v>
                  </c:pt>
                  <c:pt idx="1">
                    <c:v>Richtfunk</c:v>
                  </c:pt>
                  <c:pt idx="2">
                    <c:v>Kabel</c:v>
                  </c:pt>
                  <c:pt idx="3">
                    <c:v>5G</c:v>
                  </c:pt>
                  <c:pt idx="4">
                    <c:v>DSL</c:v>
                  </c:pt>
                  <c:pt idx="5">
                    <c:v>Satellit</c:v>
                  </c:pt>
                </c:lvl>
              </c:multiLvlStrCache>
            </c:multiLvlStrRef>
          </c:cat>
          <c:val>
            <c:numRef>
              <c:f>Sheet1!$C$2:$C$7</c:f>
              <c:numCache>
                <c:formatCode>General</c:formatCode>
                <c:ptCount val="6"/>
                <c:pt idx="0">
                  <c:v>10000</c:v>
                </c:pt>
                <c:pt idx="1">
                  <c:v>1000</c:v>
                </c:pt>
                <c:pt idx="2">
                  <c:v>50</c:v>
                </c:pt>
                <c:pt idx="3">
                  <c:v>100</c:v>
                </c:pt>
                <c:pt idx="4">
                  <c:v>40</c:v>
                </c:pt>
                <c:pt idx="5">
                  <c:v>20</c:v>
                </c:pt>
              </c:numCache>
            </c:numRef>
          </c:val>
        </c:ser>
        <c:dLbls>
          <c:numFmt formatCode="#,##0&quot; Mbit/s&quot;" sourceLinked="0"/>
          <c:txPr>
            <a:bodyPr/>
            <a:lstStyle/>
            <a:p>
              <a:pPr>
                <a:defRPr b="0" i="0" strike="noStrike" sz="900" u="none">
                  <a:solidFill>
                    <a:srgbClr val="E9EFFA"/>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26335C"/>
            </a:solidFill>
            <a:prstDash val="solid"/>
            <a:round/>
          </a:ln>
        </c:spPr>
        <c:txPr>
          <a:bodyPr/>
          <a:lstStyle/>
          <a:p>
            <a:pPr>
              <a:defRPr sz="1150" b="0" i="0" u="none" strike="noStrike">
                <a:solidFill>
                  <a:srgbClr val="E9EFFA"/>
                </a:solidFill>
                <a:latin typeface="Calibri"/>
              </a:defRPr>
            </a:pPr>
            <a:endParaRPr lang="en-US"/>
          </a:p>
        </c:txPr>
        <c:crossAx val="2094734552"/>
        <c:crosses val="autoZero"/>
        <c:auto val="1"/>
        <c:lblAlgn val="ctr"/>
        <c:noMultiLvlLbl val="1"/>
      </c:catAx>
      <c:valAx>
        <c:axId val="2094734552"/>
        <c:scaling>
          <c:orientation val="minMax"/>
          <c:max val="12500"/>
        </c:scaling>
        <c:delete val="0"/>
        <c:axPos val="b"/>
        <c:majorGridlines>
          <c:spPr>
            <a:ln w="6350" cap="flat">
              <a:solidFill>
                <a:srgbClr val="1C2749"/>
              </a:solidFill>
              <a:prstDash val="solid"/>
              <a:round/>
            </a:ln>
          </c:spPr>
        </c:majorGridlines>
        <c:numFmt formatCode="General" sourceLinked="0"/>
        <c:majorTickMark val="out"/>
        <c:minorTickMark val="none"/>
        <c:tickLblPos val="low"/>
        <c:spPr>
          <a:ln w="12700" cap="flat">
            <a:solidFill>
              <a:srgbClr val="26335C"/>
            </a:solidFill>
            <a:prstDash val="solid"/>
            <a:round/>
          </a:ln>
        </c:spPr>
        <c:txPr>
          <a:bodyPr/>
          <a:lstStyle/>
          <a:p>
            <a:pPr>
              <a:defRPr sz="900" b="0" i="0" u="none" strike="noStrike">
                <a:solidFill>
                  <a:srgbClr val="8E9BB8"/>
                </a:solidFill>
                <a:latin typeface="Courier New"/>
              </a:defRPr>
            </a:pPr>
            <a:endParaRPr lang="en-US"/>
          </a:p>
        </c:txPr>
        <c:crossAx val="2094734554"/>
        <c:crosses val="autoZero"/>
        <c:crossBetween val="between"/>
      </c:valAx>
      <c:spPr>
        <a:solidFill>
          <a:srgbClr val="04060F"/>
        </a:solidFill>
        <a:ln>
          <a:noFill/>
        </a:ln>
        <a:effectLst/>
      </c:spPr>
    </c:plotArea>
    <c:legend>
      <c:legendPos val="t"/>
      <c:overlay val="0"/>
      <c:txPr>
        <a:bodyPr/>
        <a:lstStyle/>
        <a:p>
          <a:pPr>
            <a:defRPr sz="1100">
              <a:solidFill>
                <a:srgbClr val="8E9BB8"/>
              </a:solidFill>
              <a:latin typeface="Calibri"/>
              <a:cs typeface="Calibri"/>
            </a:defRPr>
          </a:pPr>
          <a:endParaRPr lang="en-US"/>
        </a:p>
      </c:txPr>
    </c:legend>
    <c:plotVisOnly val="1"/>
    <c:dispBlanksAs val="span"/>
  </c:chart>
  <c:spPr>
    <a:solidFill>
      <a:srgbClr val="04060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Glasfaser ist eine von sechs Anschlussarten, die wir für Teach:In vergleichen. Kernaussage: Daten reisen als Lichtpulse durch Quarzglas — symmetrisch, gigabitschnell, praktisch unbegrenzt ausbaubar. Die drei Zahlen unten sind der rote Faden: Rate, Dämpfung, Verfügbarkeit.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Schaubild der Übertragungsstrecke. Wichtig zu betonen: Bei FTTH endet das Glas erst im Büro. Der Splitter ist rein optisch und braucht keinen Strom — das macht den Massenausbau bezahlbar. Die Entfernungen oben zeigen die Größenordnung: vom Keller bis zur Vermittlungsstelle sind es maximal 20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Medium und seine Eigenschaften. Kernaussage: Nur der 9-µm-Kern leitet Licht, alles andere ist mechanischer Schutz. Der Unterschied zwischen Kern (n ≈ 1,48) und Mantel (n ≈ 1,46) beträgt rund 1 Prozent und genügt für die Totalreflexion. Für FTTH wird immer Singlemode verlegt, Multimode nur im Gebäude.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FTTx-Varianten. Kernaussage: Nur bei FTTH liegt Glas bis ins Gebäude, bei allen anderen übernimmt irgendwann Kupfer und begrenzt die Rate. Für Teach:In ist FTTH das Ziel. PON versus P2P ist die zweite Entscheidung: PON ist günstig und geteilt, P2P garantiert Bandbreite, kostet aber deutlich mehr.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Funktionsweise. Kern der Erklärung: Der Kern ist optisch dichter als der Mantel, deshalb wird flach auftreffendes Licht vollständig reflektiert — es gibt keinen Verlust an der Grenzfläche. Bei den Modulationsverfahren reicht es, NRZ (an/aus) und WDM (mehrere Farben gleichzeitig) zu erklären, der Rest ist Vertiefung für Nachfragen.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zentrale Vergleich. Wichtigster Punkt: Nur Glasfaser und Richtfunk sind symmetrisch. Kabel liefert zwar 1 Gbit/s im Download, aber nur 50 Mbit/s zurück — für ein Testzentrum mit Backups und Videokonferenzen ist genau das der Engpass. Die Skala ist linear, deshalb sieht man sofort, wie weit Glasfaser vorn liegt.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Bewertung. Ehrlich bleiben: Die Nachteile sind real, aber fast alle organisatorisch, nicht technisch. Der Punkt, den die Klasse mitnehmen soll: Der Upload entscheidet für ein Testzentrum, und die Rückfallebene über Kabel oder 5G gehört in die Planung.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Verfügbarkeit. Die spannende Zahl ist die Lücke zwischen 62 Prozent erschlossen und 27 Prozent gebucht — es liegt viel mehr Glas, als genutzt wird. Für Teach:In ist nur die konkrete Adresse relevant, deshalb die drei Prüfschritte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Kosten. Der wichtigste Satz steht unten links: Wer während der Vorvermarktung bestellt, zahlt für den Hausanschluss nichts. Wer zu spät kommt, zahlt bis zu 2 500 Euro. Für Teach:In heißt das: Ausbauphase beobachten und im richtigen Fenster unterschreiben. Der mittlere Tarif ist der realistische für das Zentrum.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für das Plenum. Fragen einzeln vorlesen, kurz abstimmen lassen, dann auflösen. Die Auflösung steht unten rechts: 1b, 2b, 3b, 4c, 5c.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 Teil 1. Nicht vorlesen — als Nachschlagefolie für Rückfragen und zum Ausdrucken gedacht.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 Teil 2. Ebenfalls Nachschlagefolie.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 Kurz zeigen, nicht vorlesen. Bei Rückfragen zu Zahlen auf diese Folie zurückspringen.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1371600"/>
            <a:ext cx="5486400" cy="274320"/>
          </a:xfrm>
          <a:prstGeom prst="rect">
            <a:avLst/>
          </a:prstGeom>
          <a:noFill/>
          <a:ln/>
        </p:spPr>
        <p:txBody>
          <a:bodyPr wrap="square" lIns="0" tIns="0" rIns="0" bIns="0" rtlCol="0" anchor="ctr"/>
          <a:lstStyle/>
          <a:p>
            <a:pPr indent="0" marL="0">
              <a:buNone/>
            </a:pPr>
            <a:r>
              <a:rPr lang="en-US" sz="1200" b="1" spc="300" kern="0" dirty="0">
                <a:solidFill>
                  <a:srgbClr val="2EE6FF"/>
                </a:solidFill>
                <a:latin typeface="Courier New" pitchFamily="34" charset="0"/>
                <a:ea typeface="Courier New" pitchFamily="34" charset="-122"/>
                <a:cs typeface="Courier New" pitchFamily="34" charset="-120"/>
              </a:rPr>
              <a:t>ANSCHLUSSART 3 VON 6</a:t>
            </a:r>
            <a:endParaRPr lang="en-US" sz="1200" dirty="0"/>
          </a:p>
        </p:txBody>
      </p:sp>
      <p:sp>
        <p:nvSpPr>
          <p:cNvPr id="3" name="Text 1"/>
          <p:cNvSpPr txBox="1"/>
          <p:nvPr/>
        </p:nvSpPr>
        <p:spPr>
          <a:xfrm>
            <a:off x="566928" y="1664208"/>
            <a:ext cx="7315200" cy="274320"/>
          </a:xfrm>
          <a:prstGeom prst="rect">
            <a:avLst/>
          </a:prstGeom>
          <a:noFill/>
          <a:ln/>
        </p:spPr>
        <p:txBody>
          <a:bodyPr wrap="square" lIns="0" tIns="0" rIns="0" bIns="0" rtlCol="0" anchor="ctr"/>
          <a:lstStyle/>
          <a:p>
            <a:pPr indent="0" marL="0">
              <a:buNone/>
            </a:pPr>
            <a:r>
              <a:rPr lang="en-US" sz="1050" spc="150" kern="0" dirty="0">
                <a:solidFill>
                  <a:srgbClr val="8E9BB8"/>
                </a:solidFill>
                <a:latin typeface="Courier New" pitchFamily="34" charset="0"/>
                <a:ea typeface="Courier New" pitchFamily="34" charset="-122"/>
                <a:cs typeface="Courier New" pitchFamily="34" charset="-120"/>
              </a:rPr>
              <a:t>DSL · KABEL · LWL · RICHTFUNK · LTE/5G · SATELLIT</a:t>
            </a:r>
            <a:endParaRPr lang="en-US" sz="1050" dirty="0"/>
          </a:p>
        </p:txBody>
      </p:sp>
      <p:sp>
        <p:nvSpPr>
          <p:cNvPr id="4" name="Text 2"/>
          <p:cNvSpPr txBox="1"/>
          <p:nvPr/>
        </p:nvSpPr>
        <p:spPr>
          <a:xfrm>
            <a:off x="566928" y="2148840"/>
            <a:ext cx="7680960" cy="1371600"/>
          </a:xfrm>
          <a:prstGeom prst="rect">
            <a:avLst/>
          </a:prstGeom>
          <a:noFill/>
          <a:ln/>
        </p:spPr>
        <p:txBody>
          <a:bodyPr wrap="square" lIns="0" tIns="0" rIns="0" bIns="0" rtlCol="0" anchor="ctr"/>
          <a:lstStyle/>
          <a:p>
            <a:pPr indent="0" marL="0">
              <a:buNone/>
            </a:pPr>
            <a:r>
              <a:rPr lang="en-US" sz="8800" b="1" spc="-100" kern="0" dirty="0">
                <a:solidFill>
                  <a:srgbClr val="E9EFFA"/>
                </a:solidFill>
                <a:latin typeface="Calibri" pitchFamily="34" charset="0"/>
                <a:ea typeface="Calibri" pitchFamily="34" charset="-122"/>
                <a:cs typeface="Calibri" pitchFamily="34" charset="-120"/>
              </a:rPr>
              <a:t>GLAS</a:t>
            </a:r>
            <a:pPr indent="0" marL="0">
              <a:buNone/>
            </a:pPr>
            <a:r>
              <a:rPr lang="en-US" sz="8800" b="1" spc="-100" kern="0" dirty="0">
                <a:solidFill>
                  <a:srgbClr val="2EE6FF"/>
                </a:solidFill>
                <a:latin typeface="Calibri" pitchFamily="34" charset="0"/>
                <a:ea typeface="Calibri" pitchFamily="34" charset="-122"/>
                <a:cs typeface="Calibri" pitchFamily="34" charset="-120"/>
              </a:rPr>
              <a:t>FASER</a:t>
            </a:r>
            <a:endParaRPr lang="en-US" sz="8800" dirty="0"/>
          </a:p>
        </p:txBody>
      </p:sp>
      <p:sp>
        <p:nvSpPr>
          <p:cNvPr id="5" name="Text 3"/>
          <p:cNvSpPr txBox="1"/>
          <p:nvPr/>
        </p:nvSpPr>
        <p:spPr>
          <a:xfrm>
            <a:off x="566928" y="3611880"/>
            <a:ext cx="6766560" cy="822960"/>
          </a:xfrm>
          <a:prstGeom prst="rect">
            <a:avLst/>
          </a:prstGeom>
          <a:noFill/>
          <a:ln/>
        </p:spPr>
        <p:txBody>
          <a:bodyPr wrap="square" lIns="0" tIns="0" rIns="0" bIns="0" rtlCol="0" anchor="ctr"/>
          <a:lstStyle/>
          <a:p>
            <a:pPr indent="0" marL="0">
              <a:lnSpc>
                <a:spcPct val="120000"/>
              </a:lnSpc>
              <a:buNone/>
            </a:pPr>
            <a:r>
              <a:rPr lang="en-US" sz="1600" dirty="0">
                <a:solidFill>
                  <a:srgbClr val="C9D4E8"/>
                </a:solidFill>
                <a:latin typeface="Calibri" pitchFamily="34" charset="0"/>
                <a:ea typeface="Calibri" pitchFamily="34" charset="-122"/>
                <a:cs typeface="Calibri" pitchFamily="34" charset="-120"/>
              </a:rPr>
              <a:t>Ein Haar aus Quarzglas, in dem Licht die Daten trägt.</a:t>
            </a:r>
            <a:endParaRPr lang="en-US" sz="1600" dirty="0"/>
          </a:p>
          <a:p>
            <a:pPr indent="0" marL="0">
              <a:lnSpc>
                <a:spcPct val="120000"/>
              </a:lnSpc>
              <a:buNone/>
            </a:pPr>
            <a:r>
              <a:rPr lang="en-US" sz="1600" dirty="0">
                <a:solidFill>
                  <a:srgbClr val="C9D4E8"/>
                </a:solidFill>
                <a:latin typeface="Calibri" pitchFamily="34" charset="0"/>
                <a:ea typeface="Calibri" pitchFamily="34" charset="-122"/>
                <a:cs typeface="Calibri" pitchFamily="34" charset="-120"/>
              </a:rPr>
              <a:t>WAN-Anbindung für das Schulungs- und Testzentrum Teach:In.</a:t>
            </a:r>
            <a:endParaRPr lang="en-US" sz="1600" dirty="0"/>
          </a:p>
        </p:txBody>
      </p:sp>
      <p:sp>
        <p:nvSpPr>
          <p:cNvPr id="6" name="Text 4"/>
          <p:cNvSpPr txBox="1"/>
          <p:nvPr/>
        </p:nvSpPr>
        <p:spPr>
          <a:xfrm>
            <a:off x="566928" y="4892040"/>
            <a:ext cx="2697480" cy="566928"/>
          </a:xfrm>
          <a:prstGeom prst="rect">
            <a:avLst/>
          </a:prstGeom>
          <a:noFill/>
          <a:ln/>
        </p:spPr>
        <p:txBody>
          <a:bodyPr wrap="square" lIns="0" tIns="0" rIns="0" bIns="0" rtlCol="0" anchor="ctr"/>
          <a:lstStyle/>
          <a:p>
            <a:pPr indent="0" marL="0">
              <a:buNone/>
            </a:pPr>
            <a:r>
              <a:rPr lang="en-US" sz="3000" b="1" dirty="0">
                <a:solidFill>
                  <a:srgbClr val="2EE6FF"/>
                </a:solidFill>
                <a:latin typeface="Courier New" pitchFamily="34" charset="0"/>
                <a:ea typeface="Courier New" pitchFamily="34" charset="-122"/>
                <a:cs typeface="Courier New" pitchFamily="34" charset="-120"/>
              </a:rPr>
              <a:t>10 Gbit/s</a:t>
            </a:r>
            <a:endParaRPr lang="en-US" sz="3000" dirty="0"/>
          </a:p>
        </p:txBody>
      </p:sp>
      <p:sp>
        <p:nvSpPr>
          <p:cNvPr id="7" name="Text 5"/>
          <p:cNvSpPr txBox="1"/>
          <p:nvPr/>
        </p:nvSpPr>
        <p:spPr>
          <a:xfrm>
            <a:off x="566928" y="5440680"/>
            <a:ext cx="2697480" cy="658368"/>
          </a:xfrm>
          <a:prstGeom prst="rect">
            <a:avLst/>
          </a:prstGeom>
          <a:noFill/>
          <a:ln/>
        </p:spPr>
        <p:txBody>
          <a:bodyPr wrap="square" lIns="0" tIns="0" rIns="0" bIns="0" rtlCol="0" anchor="ctr"/>
          <a:lstStyle/>
          <a:p>
            <a:pPr indent="0" marL="0">
              <a:lnSpc>
                <a:spcPct val="105000"/>
              </a:lnSpc>
              <a:buNone/>
            </a:pPr>
            <a:r>
              <a:rPr lang="en-US" sz="1050" dirty="0">
                <a:solidFill>
                  <a:srgbClr val="8E9BB8"/>
                </a:solidFill>
                <a:latin typeface="Calibri" pitchFamily="34" charset="0"/>
                <a:ea typeface="Calibri" pitchFamily="34" charset="-122"/>
                <a:cs typeface="Calibri" pitchFamily="34" charset="-120"/>
              </a:rPr>
              <a:t>symmetrisch, XGS-PON</a:t>
            </a:r>
            <a:endParaRPr lang="en-US" sz="1050" dirty="0"/>
          </a:p>
        </p:txBody>
      </p:sp>
      <p:sp>
        <p:nvSpPr>
          <p:cNvPr id="8" name="Text 6"/>
          <p:cNvSpPr txBox="1"/>
          <p:nvPr/>
        </p:nvSpPr>
        <p:spPr>
          <a:xfrm>
            <a:off x="3447288" y="4892040"/>
            <a:ext cx="2697480" cy="566928"/>
          </a:xfrm>
          <a:prstGeom prst="rect">
            <a:avLst/>
          </a:prstGeom>
          <a:noFill/>
          <a:ln/>
        </p:spPr>
        <p:txBody>
          <a:bodyPr wrap="square" lIns="0" tIns="0" rIns="0" bIns="0" rtlCol="0" anchor="ctr"/>
          <a:lstStyle/>
          <a:p>
            <a:pPr indent="0" marL="0">
              <a:buNone/>
            </a:pPr>
            <a:r>
              <a:rPr lang="en-US" sz="3000" b="1" dirty="0">
                <a:solidFill>
                  <a:srgbClr val="5CF2A6"/>
                </a:solidFill>
                <a:latin typeface="Courier New" pitchFamily="34" charset="0"/>
                <a:ea typeface="Courier New" pitchFamily="34" charset="-122"/>
                <a:cs typeface="Courier New" pitchFamily="34" charset="-120"/>
              </a:rPr>
              <a:t>0,2 dB/km</a:t>
            </a:r>
            <a:endParaRPr lang="en-US" sz="3000" dirty="0"/>
          </a:p>
        </p:txBody>
      </p:sp>
      <p:sp>
        <p:nvSpPr>
          <p:cNvPr id="9" name="Text 7"/>
          <p:cNvSpPr txBox="1"/>
          <p:nvPr/>
        </p:nvSpPr>
        <p:spPr>
          <a:xfrm>
            <a:off x="3447288" y="5440680"/>
            <a:ext cx="2697480" cy="658368"/>
          </a:xfrm>
          <a:prstGeom prst="rect">
            <a:avLst/>
          </a:prstGeom>
          <a:noFill/>
          <a:ln/>
        </p:spPr>
        <p:txBody>
          <a:bodyPr wrap="square" lIns="0" tIns="0" rIns="0" bIns="0" rtlCol="0" anchor="ctr"/>
          <a:lstStyle/>
          <a:p>
            <a:pPr indent="0" marL="0">
              <a:lnSpc>
                <a:spcPct val="105000"/>
              </a:lnSpc>
              <a:buNone/>
            </a:pPr>
            <a:r>
              <a:rPr lang="en-US" sz="1050" dirty="0">
                <a:solidFill>
                  <a:srgbClr val="8E9BB8"/>
                </a:solidFill>
                <a:latin typeface="Calibri" pitchFamily="34" charset="0"/>
                <a:ea typeface="Calibri" pitchFamily="34" charset="-122"/>
                <a:cs typeface="Calibri" pitchFamily="34" charset="-120"/>
              </a:rPr>
              <a:t>Dämpfung bei 1550 nm</a:t>
            </a:r>
            <a:endParaRPr lang="en-US" sz="1050" dirty="0"/>
          </a:p>
        </p:txBody>
      </p:sp>
      <p:sp>
        <p:nvSpPr>
          <p:cNvPr id="10" name="Text 8"/>
          <p:cNvSpPr txBox="1"/>
          <p:nvPr/>
        </p:nvSpPr>
        <p:spPr>
          <a:xfrm>
            <a:off x="6327648" y="4892040"/>
            <a:ext cx="2697480" cy="566928"/>
          </a:xfrm>
          <a:prstGeom prst="rect">
            <a:avLst/>
          </a:prstGeom>
          <a:noFill/>
          <a:ln/>
        </p:spPr>
        <p:txBody>
          <a:bodyPr wrap="square" lIns="0" tIns="0" rIns="0" bIns="0" rtlCol="0" anchor="ctr"/>
          <a:lstStyle/>
          <a:p>
            <a:pPr indent="0" marL="0">
              <a:buNone/>
            </a:pPr>
            <a:r>
              <a:rPr lang="en-US" sz="3000" b="1" dirty="0">
                <a:solidFill>
                  <a:srgbClr val="FFB43C"/>
                </a:solidFill>
                <a:latin typeface="Courier New" pitchFamily="34" charset="0"/>
                <a:ea typeface="Courier New" pitchFamily="34" charset="-122"/>
                <a:cs typeface="Courier New" pitchFamily="34" charset="-120"/>
              </a:rPr>
              <a:t>62 %</a:t>
            </a:r>
            <a:endParaRPr lang="en-US" sz="3000" dirty="0"/>
          </a:p>
        </p:txBody>
      </p:sp>
      <p:sp>
        <p:nvSpPr>
          <p:cNvPr id="11" name="Text 9"/>
          <p:cNvSpPr txBox="1"/>
          <p:nvPr/>
        </p:nvSpPr>
        <p:spPr>
          <a:xfrm>
            <a:off x="6327648" y="5440680"/>
            <a:ext cx="2697480" cy="658368"/>
          </a:xfrm>
          <a:prstGeom prst="rect">
            <a:avLst/>
          </a:prstGeom>
          <a:noFill/>
          <a:ln/>
        </p:spPr>
        <p:txBody>
          <a:bodyPr wrap="square" lIns="0" tIns="0" rIns="0" bIns="0" rtlCol="0" anchor="ctr"/>
          <a:lstStyle/>
          <a:p>
            <a:pPr indent="0" marL="0">
              <a:lnSpc>
                <a:spcPct val="105000"/>
              </a:lnSpc>
              <a:buNone/>
            </a:pPr>
            <a:r>
              <a:rPr lang="en-US" sz="1050" dirty="0">
                <a:solidFill>
                  <a:srgbClr val="8E9BB8"/>
                </a:solidFill>
                <a:latin typeface="Calibri" pitchFamily="34" charset="0"/>
                <a:ea typeface="Calibri" pitchFamily="34" charset="-122"/>
                <a:cs typeface="Calibri" pitchFamily="34" charset="-120"/>
              </a:rPr>
              <a:t>der Haushalte in DE erschlossen</a:t>
            </a:r>
            <a:endParaRPr lang="en-US" sz="1050" dirty="0"/>
          </a:p>
        </p:txBody>
      </p:sp>
      <p:sp>
        <p:nvSpPr>
          <p:cNvPr id="12" name="Shape 10"/>
          <p:cNvSpPr/>
          <p:nvPr/>
        </p:nvSpPr>
        <p:spPr>
          <a:xfrm>
            <a:off x="8458200" y="1124712"/>
            <a:ext cx="3200400" cy="3200400"/>
          </a:xfrm>
          <a:prstGeom prst="ellipse">
            <a:avLst/>
          </a:prstGeom>
          <a:ln w="20320">
            <a:solidFill>
              <a:srgbClr val="FFB43C"/>
            </a:solidFill>
            <a:prstDash val="solid"/>
          </a:ln>
        </p:spPr>
      </p:sp>
      <p:sp>
        <p:nvSpPr>
          <p:cNvPr id="13" name="Shape 11"/>
          <p:cNvSpPr/>
          <p:nvPr/>
        </p:nvSpPr>
        <p:spPr>
          <a:xfrm>
            <a:off x="8869680" y="1536192"/>
            <a:ext cx="2377440" cy="2377440"/>
          </a:xfrm>
          <a:prstGeom prst="ellipse">
            <a:avLst/>
          </a:prstGeom>
          <a:ln w="20320">
            <a:solidFill>
              <a:srgbClr val="FF4FB0"/>
            </a:solidFill>
            <a:prstDash val="solid"/>
          </a:ln>
        </p:spPr>
      </p:sp>
      <p:sp>
        <p:nvSpPr>
          <p:cNvPr id="14" name="Shape 12"/>
          <p:cNvSpPr/>
          <p:nvPr/>
        </p:nvSpPr>
        <p:spPr>
          <a:xfrm>
            <a:off x="9217152" y="1883664"/>
            <a:ext cx="1682496" cy="1682496"/>
          </a:xfrm>
          <a:prstGeom prst="ellipse">
            <a:avLst/>
          </a:prstGeom>
          <a:ln w="20320">
            <a:solidFill>
              <a:srgbClr val="8AA4FF"/>
            </a:solidFill>
            <a:prstDash val="solid"/>
          </a:ln>
        </p:spPr>
      </p:sp>
      <p:sp>
        <p:nvSpPr>
          <p:cNvPr id="15" name="Shape 13"/>
          <p:cNvSpPr/>
          <p:nvPr/>
        </p:nvSpPr>
        <p:spPr>
          <a:xfrm>
            <a:off x="9528048" y="2194560"/>
            <a:ext cx="1060704" cy="1060704"/>
          </a:xfrm>
          <a:prstGeom prst="ellipse">
            <a:avLst/>
          </a:prstGeom>
          <a:ln w="20320">
            <a:solidFill>
              <a:srgbClr val="BFEFFF"/>
            </a:solidFill>
            <a:prstDash val="solid"/>
          </a:ln>
        </p:spPr>
      </p:sp>
      <p:sp>
        <p:nvSpPr>
          <p:cNvPr id="16" name="Shape 14"/>
          <p:cNvSpPr/>
          <p:nvPr/>
        </p:nvSpPr>
        <p:spPr>
          <a:xfrm>
            <a:off x="9820656" y="2487168"/>
            <a:ext cx="475488" cy="475488"/>
          </a:xfrm>
          <a:prstGeom prst="ellipse">
            <a:avLst/>
          </a:prstGeom>
          <a:ln w="38100">
            <a:solidFill>
              <a:srgbClr val="2EE6FF"/>
            </a:solidFill>
            <a:prstDash val="solid"/>
          </a:ln>
        </p:spPr>
      </p:sp>
      <p:sp>
        <p:nvSpPr>
          <p:cNvPr id="17" name="Shape 15"/>
          <p:cNvSpPr/>
          <p:nvPr/>
        </p:nvSpPr>
        <p:spPr>
          <a:xfrm>
            <a:off x="9948672" y="2615184"/>
            <a:ext cx="219456" cy="219456"/>
          </a:xfrm>
          <a:prstGeom prst="ellipse">
            <a:avLst/>
          </a:prstGeom>
          <a:solidFill>
            <a:srgbClr val="2EE6FF"/>
          </a:solidFill>
          <a:ln w="12700">
            <a:solidFill>
              <a:srgbClr val="333333"/>
            </a:solidFill>
            <a:prstDash val="solid"/>
          </a:ln>
        </p:spPr>
      </p:sp>
      <p:sp>
        <p:nvSpPr>
          <p:cNvPr id="18" name="Text 16"/>
          <p:cNvSpPr txBox="1"/>
          <p:nvPr/>
        </p:nvSpPr>
        <p:spPr>
          <a:xfrm>
            <a:off x="8595360" y="4498848"/>
            <a:ext cx="2926080" cy="228600"/>
          </a:xfrm>
          <a:prstGeom prst="rect">
            <a:avLst/>
          </a:prstGeom>
          <a:noFill/>
          <a:ln/>
        </p:spPr>
        <p:txBody>
          <a:bodyPr wrap="square" lIns="0" tIns="0" rIns="0" bIns="0" rtlCol="0" anchor="ctr"/>
          <a:lstStyle/>
          <a:p>
            <a:pPr algn="ctr" indent="0" marL="0">
              <a:buNone/>
            </a:pPr>
            <a:r>
              <a:rPr lang="en-US" sz="800" spc="100" kern="0" dirty="0">
                <a:solidFill>
                  <a:srgbClr val="8E9BB8"/>
                </a:solidFill>
                <a:latin typeface="Courier New" pitchFamily="34" charset="0"/>
                <a:ea typeface="Courier New" pitchFamily="34" charset="-122"/>
                <a:cs typeface="Courier New" pitchFamily="34" charset="-120"/>
              </a:rPr>
              <a:t>QUERSCHNITT · NICHT MASSSTABSGETREU</a:t>
            </a:r>
            <a:endParaRPr lang="en-US" sz="800" dirty="0"/>
          </a:p>
        </p:txBody>
      </p:sp>
      <p:sp>
        <p:nvSpPr>
          <p:cNvPr id="19" name="Text 17"/>
          <p:cNvSpPr txBox="1"/>
          <p:nvPr/>
        </p:nvSpPr>
        <p:spPr>
          <a:xfrm>
            <a:off x="566928" y="6291072"/>
            <a:ext cx="7315200" cy="274320"/>
          </a:xfrm>
          <a:prstGeom prst="rect">
            <a:avLst/>
          </a:prstGeom>
          <a:noFill/>
          <a:ln/>
        </p:spPr>
        <p:txBody>
          <a:bodyPr wrap="square" lIns="0" tIns="0" rIns="0" bIns="0" rtlCol="0" anchor="ctr"/>
          <a:lstStyle/>
          <a:p>
            <a:pPr indent="0" marL="0">
              <a:buNone/>
            </a:pPr>
            <a:r>
              <a:rPr lang="en-US" sz="950" dirty="0">
                <a:solidFill>
                  <a:srgbClr val="6A7799"/>
                </a:solidFill>
                <a:latin typeface="Courier New" pitchFamily="34" charset="0"/>
                <a:ea typeface="Courier New" pitchFamily="34" charset="-122"/>
                <a:cs typeface="Courier New" pitchFamily="34" charset="-120"/>
              </a:rPr>
              <a:t>Modul WAN-Anbindung Teach:In · Stand 15.09.2026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01</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Die Übertragungsstrecke</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Vom Router im Teach:In bis zum Internet-Knoten liegt bei FTTH durchgehend Glas — kein einziges Stück Kupfer.</a:t>
            </a:r>
            <a:endParaRPr lang="en-US" sz="1350" dirty="0"/>
          </a:p>
        </p:txBody>
      </p:sp>
      <p:sp>
        <p:nvSpPr>
          <p:cNvPr id="5" name="Shape 3"/>
          <p:cNvSpPr/>
          <p:nvPr/>
        </p:nvSpPr>
        <p:spPr>
          <a:xfrm>
            <a:off x="1197864" y="2610612"/>
            <a:ext cx="9784080" cy="45720"/>
          </a:xfrm>
          <a:prstGeom prst="rect">
            <a:avLst/>
          </a:prstGeom>
          <a:solidFill>
            <a:srgbClr val="26406B"/>
          </a:solidFill>
          <a:ln w="12700">
            <a:solidFill>
              <a:srgbClr val="333333"/>
            </a:solidFill>
            <a:prstDash val="solid"/>
          </a:ln>
        </p:spPr>
      </p:sp>
      <p:sp>
        <p:nvSpPr>
          <p:cNvPr id="6" name="Shape 4"/>
          <p:cNvSpPr/>
          <p:nvPr/>
        </p:nvSpPr>
        <p:spPr>
          <a:xfrm>
            <a:off x="960120" y="2395728"/>
            <a:ext cx="475488" cy="475488"/>
          </a:xfrm>
          <a:prstGeom prst="ellipse">
            <a:avLst/>
          </a:prstGeom>
          <a:solidFill>
            <a:srgbClr val="111A36"/>
          </a:solidFill>
          <a:ln w="25400">
            <a:solidFill>
              <a:srgbClr val="2EE6FF"/>
            </a:solidFill>
            <a:prstDash val="solid"/>
          </a:ln>
        </p:spPr>
      </p:sp>
      <p:sp>
        <p:nvSpPr>
          <p:cNvPr id="7" name="Text 5"/>
          <p:cNvSpPr txBox="1"/>
          <p:nvPr/>
        </p:nvSpPr>
        <p:spPr>
          <a:xfrm>
            <a:off x="960120" y="2395728"/>
            <a:ext cx="475488" cy="475488"/>
          </a:xfrm>
          <a:prstGeom prst="rect">
            <a:avLst/>
          </a:prstGeom>
          <a:noFill/>
          <a:ln/>
        </p:spPr>
        <p:txBody>
          <a:bodyPr wrap="square" lIns="0" tIns="0" rIns="0" bIns="0" rtlCol="0" anchor="ctr"/>
          <a:lstStyle/>
          <a:p>
            <a:pPr algn="ctr" indent="0" marL="0">
              <a:buNone/>
            </a:pPr>
            <a:r>
              <a:rPr lang="en-US" sz="1100" b="1" dirty="0">
                <a:solidFill>
                  <a:srgbClr val="2EE6FF"/>
                </a:solidFill>
                <a:latin typeface="Courier New" pitchFamily="34" charset="0"/>
                <a:ea typeface="Courier New" pitchFamily="34" charset="-122"/>
                <a:cs typeface="Courier New" pitchFamily="34" charset="-120"/>
              </a:rPr>
              <a:t>1</a:t>
            </a:r>
            <a:endParaRPr lang="en-US" sz="1100" dirty="0"/>
          </a:p>
        </p:txBody>
      </p:sp>
      <p:sp>
        <p:nvSpPr>
          <p:cNvPr id="8" name="Text 6"/>
          <p:cNvSpPr txBox="1"/>
          <p:nvPr/>
        </p:nvSpPr>
        <p:spPr>
          <a:xfrm>
            <a:off x="489204" y="2999232"/>
            <a:ext cx="1417320" cy="25603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Router + ONT</a:t>
            </a:r>
            <a:endParaRPr lang="en-US" sz="1200" dirty="0"/>
          </a:p>
        </p:txBody>
      </p:sp>
      <p:sp>
        <p:nvSpPr>
          <p:cNvPr id="9" name="Text 7"/>
          <p:cNvSpPr txBox="1"/>
          <p:nvPr/>
        </p:nvSpPr>
        <p:spPr>
          <a:xfrm>
            <a:off x="489204" y="3255264"/>
            <a:ext cx="1417320" cy="219456"/>
          </a:xfrm>
          <a:prstGeom prst="rect">
            <a:avLst/>
          </a:prstGeom>
          <a:noFill/>
          <a:ln/>
        </p:spPr>
        <p:txBody>
          <a:bodyPr wrap="square" lIns="0" tIns="0" rIns="0" bIns="0" rtlCol="0" anchor="ctr"/>
          <a:lstStyle/>
          <a:p>
            <a:pPr algn="ctr" indent="0" marL="0">
              <a:buNone/>
            </a:pPr>
            <a:r>
              <a:rPr lang="en-US" sz="1000" dirty="0">
                <a:solidFill>
                  <a:srgbClr val="8E9BB8"/>
                </a:solidFill>
                <a:latin typeface="Calibri" pitchFamily="34" charset="0"/>
                <a:ea typeface="Calibri" pitchFamily="34" charset="-122"/>
                <a:cs typeface="Calibri" pitchFamily="34" charset="-120"/>
              </a:rPr>
              <a:t>Teach:In</a:t>
            </a:r>
            <a:endParaRPr lang="en-US" sz="1000" dirty="0"/>
          </a:p>
        </p:txBody>
      </p:sp>
      <p:sp>
        <p:nvSpPr>
          <p:cNvPr id="10" name="Text 8"/>
          <p:cNvSpPr txBox="1"/>
          <p:nvPr/>
        </p:nvSpPr>
        <p:spPr>
          <a:xfrm>
            <a:off x="489204" y="2084832"/>
            <a:ext cx="1417320" cy="219456"/>
          </a:xfrm>
          <a:prstGeom prst="rect">
            <a:avLst/>
          </a:prstGeom>
          <a:noFill/>
          <a:ln/>
        </p:spPr>
        <p:txBody>
          <a:bodyPr wrap="square" lIns="0" tIns="0" rIns="0" bIns="0" rtlCol="0" anchor="ctr"/>
          <a:lstStyle/>
          <a:p>
            <a:pPr algn="ctr" indent="0" marL="0">
              <a:buNone/>
            </a:pPr>
            <a:r>
              <a:rPr lang="en-US" sz="950" dirty="0">
                <a:solidFill>
                  <a:srgbClr val="2EE6FF"/>
                </a:solidFill>
                <a:latin typeface="Courier New" pitchFamily="34" charset="0"/>
                <a:ea typeface="Courier New" pitchFamily="34" charset="-122"/>
                <a:cs typeface="Courier New" pitchFamily="34" charset="-120"/>
              </a:rPr>
              <a:t>0 m</a:t>
            </a:r>
            <a:endParaRPr lang="en-US" sz="950" dirty="0"/>
          </a:p>
        </p:txBody>
      </p:sp>
      <p:sp>
        <p:nvSpPr>
          <p:cNvPr id="11" name="Shape 9"/>
          <p:cNvSpPr/>
          <p:nvPr/>
        </p:nvSpPr>
        <p:spPr>
          <a:xfrm>
            <a:off x="2916936" y="2395728"/>
            <a:ext cx="475488" cy="475488"/>
          </a:xfrm>
          <a:prstGeom prst="ellipse">
            <a:avLst/>
          </a:prstGeom>
          <a:solidFill>
            <a:srgbClr val="111A36"/>
          </a:solidFill>
          <a:ln w="25400">
            <a:solidFill>
              <a:srgbClr val="5CF2A6"/>
            </a:solidFill>
            <a:prstDash val="solid"/>
          </a:ln>
        </p:spPr>
      </p:sp>
      <p:sp>
        <p:nvSpPr>
          <p:cNvPr id="12" name="Text 10"/>
          <p:cNvSpPr txBox="1"/>
          <p:nvPr/>
        </p:nvSpPr>
        <p:spPr>
          <a:xfrm>
            <a:off x="2916936" y="2395728"/>
            <a:ext cx="475488" cy="475488"/>
          </a:xfrm>
          <a:prstGeom prst="rect">
            <a:avLst/>
          </a:prstGeom>
          <a:noFill/>
          <a:ln/>
        </p:spPr>
        <p:txBody>
          <a:bodyPr wrap="square" lIns="0" tIns="0" rIns="0" bIns="0" rtlCol="0" anchor="ctr"/>
          <a:lstStyle/>
          <a:p>
            <a:pPr algn="ctr" indent="0" marL="0">
              <a:buNone/>
            </a:pPr>
            <a:r>
              <a:rPr lang="en-US" sz="1100" b="1" dirty="0">
                <a:solidFill>
                  <a:srgbClr val="5CF2A6"/>
                </a:solidFill>
                <a:latin typeface="Courier New" pitchFamily="34" charset="0"/>
                <a:ea typeface="Courier New" pitchFamily="34" charset="-122"/>
                <a:cs typeface="Courier New" pitchFamily="34" charset="-120"/>
              </a:rPr>
              <a:t>2</a:t>
            </a:r>
            <a:endParaRPr lang="en-US" sz="1100" dirty="0"/>
          </a:p>
        </p:txBody>
      </p:sp>
      <p:sp>
        <p:nvSpPr>
          <p:cNvPr id="13" name="Text 11"/>
          <p:cNvSpPr txBox="1"/>
          <p:nvPr/>
        </p:nvSpPr>
        <p:spPr>
          <a:xfrm>
            <a:off x="2446020" y="2999232"/>
            <a:ext cx="1417320" cy="25603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Gf-AP</a:t>
            </a:r>
            <a:endParaRPr lang="en-US" sz="1200" dirty="0"/>
          </a:p>
        </p:txBody>
      </p:sp>
      <p:sp>
        <p:nvSpPr>
          <p:cNvPr id="14" name="Text 12"/>
          <p:cNvSpPr txBox="1"/>
          <p:nvPr/>
        </p:nvSpPr>
        <p:spPr>
          <a:xfrm>
            <a:off x="2446020" y="3255264"/>
            <a:ext cx="1417320" cy="219456"/>
          </a:xfrm>
          <a:prstGeom prst="rect">
            <a:avLst/>
          </a:prstGeom>
          <a:noFill/>
          <a:ln/>
        </p:spPr>
        <p:txBody>
          <a:bodyPr wrap="square" lIns="0" tIns="0" rIns="0" bIns="0" rtlCol="0" anchor="ctr"/>
          <a:lstStyle/>
          <a:p>
            <a:pPr algn="ctr" indent="0" marL="0">
              <a:buNone/>
            </a:pPr>
            <a:r>
              <a:rPr lang="en-US" sz="1000" dirty="0">
                <a:solidFill>
                  <a:srgbClr val="8E9BB8"/>
                </a:solidFill>
                <a:latin typeface="Calibri" pitchFamily="34" charset="0"/>
                <a:ea typeface="Calibri" pitchFamily="34" charset="-122"/>
                <a:cs typeface="Calibri" pitchFamily="34" charset="-120"/>
              </a:rPr>
              <a:t>Hausanschluss</a:t>
            </a:r>
            <a:endParaRPr lang="en-US" sz="1000" dirty="0"/>
          </a:p>
        </p:txBody>
      </p:sp>
      <p:sp>
        <p:nvSpPr>
          <p:cNvPr id="15" name="Text 13"/>
          <p:cNvSpPr txBox="1"/>
          <p:nvPr/>
        </p:nvSpPr>
        <p:spPr>
          <a:xfrm>
            <a:off x="2446020" y="2084832"/>
            <a:ext cx="1417320" cy="219456"/>
          </a:xfrm>
          <a:prstGeom prst="rect">
            <a:avLst/>
          </a:prstGeom>
          <a:noFill/>
          <a:ln/>
        </p:spPr>
        <p:txBody>
          <a:bodyPr wrap="square" lIns="0" tIns="0" rIns="0" bIns="0" rtlCol="0" anchor="ctr"/>
          <a:lstStyle/>
          <a:p>
            <a:pPr algn="ctr" indent="0" marL="0">
              <a:buNone/>
            </a:pPr>
            <a:r>
              <a:rPr lang="en-US" sz="950" dirty="0">
                <a:solidFill>
                  <a:srgbClr val="5CF2A6"/>
                </a:solidFill>
                <a:latin typeface="Courier New" pitchFamily="34" charset="0"/>
                <a:ea typeface="Courier New" pitchFamily="34" charset="-122"/>
                <a:cs typeface="Courier New" pitchFamily="34" charset="-120"/>
              </a:rPr>
              <a:t>20 m</a:t>
            </a:r>
            <a:endParaRPr lang="en-US" sz="950" dirty="0"/>
          </a:p>
        </p:txBody>
      </p:sp>
      <p:sp>
        <p:nvSpPr>
          <p:cNvPr id="16" name="Shape 14"/>
          <p:cNvSpPr/>
          <p:nvPr/>
        </p:nvSpPr>
        <p:spPr>
          <a:xfrm>
            <a:off x="4873752" y="2395728"/>
            <a:ext cx="475488" cy="475488"/>
          </a:xfrm>
          <a:prstGeom prst="ellipse">
            <a:avLst/>
          </a:prstGeom>
          <a:solidFill>
            <a:srgbClr val="111A36"/>
          </a:solidFill>
          <a:ln w="25400">
            <a:solidFill>
              <a:srgbClr val="8AA4FF"/>
            </a:solidFill>
            <a:prstDash val="solid"/>
          </a:ln>
        </p:spPr>
      </p:sp>
      <p:sp>
        <p:nvSpPr>
          <p:cNvPr id="17" name="Text 15"/>
          <p:cNvSpPr txBox="1"/>
          <p:nvPr/>
        </p:nvSpPr>
        <p:spPr>
          <a:xfrm>
            <a:off x="4873752" y="2395728"/>
            <a:ext cx="475488" cy="475488"/>
          </a:xfrm>
          <a:prstGeom prst="rect">
            <a:avLst/>
          </a:prstGeom>
          <a:noFill/>
          <a:ln/>
        </p:spPr>
        <p:txBody>
          <a:bodyPr wrap="square" lIns="0" tIns="0" rIns="0" bIns="0" rtlCol="0" anchor="ctr"/>
          <a:lstStyle/>
          <a:p>
            <a:pPr algn="ctr" indent="0" marL="0">
              <a:buNone/>
            </a:pPr>
            <a:r>
              <a:rPr lang="en-US" sz="1100" b="1" dirty="0">
                <a:solidFill>
                  <a:srgbClr val="8AA4FF"/>
                </a:solidFill>
                <a:latin typeface="Courier New" pitchFamily="34" charset="0"/>
                <a:ea typeface="Courier New" pitchFamily="34" charset="-122"/>
                <a:cs typeface="Courier New" pitchFamily="34" charset="-120"/>
              </a:rPr>
              <a:t>3</a:t>
            </a:r>
            <a:endParaRPr lang="en-US" sz="1100" dirty="0"/>
          </a:p>
        </p:txBody>
      </p:sp>
      <p:sp>
        <p:nvSpPr>
          <p:cNvPr id="18" name="Text 16"/>
          <p:cNvSpPr txBox="1"/>
          <p:nvPr/>
        </p:nvSpPr>
        <p:spPr>
          <a:xfrm>
            <a:off x="4402836" y="2999232"/>
            <a:ext cx="1417320" cy="25603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Netzverteiler</a:t>
            </a:r>
            <a:endParaRPr lang="en-US" sz="1200" dirty="0"/>
          </a:p>
        </p:txBody>
      </p:sp>
      <p:sp>
        <p:nvSpPr>
          <p:cNvPr id="19" name="Text 17"/>
          <p:cNvSpPr txBox="1"/>
          <p:nvPr/>
        </p:nvSpPr>
        <p:spPr>
          <a:xfrm>
            <a:off x="4402836" y="3255264"/>
            <a:ext cx="1417320" cy="219456"/>
          </a:xfrm>
          <a:prstGeom prst="rect">
            <a:avLst/>
          </a:prstGeom>
          <a:noFill/>
          <a:ln/>
        </p:spPr>
        <p:txBody>
          <a:bodyPr wrap="square" lIns="0" tIns="0" rIns="0" bIns="0" rtlCol="0" anchor="ctr"/>
          <a:lstStyle/>
          <a:p>
            <a:pPr algn="ctr" indent="0" marL="0">
              <a:buNone/>
            </a:pPr>
            <a:r>
              <a:rPr lang="en-US" sz="1000" dirty="0">
                <a:solidFill>
                  <a:srgbClr val="8E9BB8"/>
                </a:solidFill>
                <a:latin typeface="Calibri" pitchFamily="34" charset="0"/>
                <a:ea typeface="Calibri" pitchFamily="34" charset="-122"/>
                <a:cs typeface="Calibri" pitchFamily="34" charset="-120"/>
              </a:rPr>
              <a:t>Gehweg</a:t>
            </a:r>
            <a:endParaRPr lang="en-US" sz="1000" dirty="0"/>
          </a:p>
        </p:txBody>
      </p:sp>
      <p:sp>
        <p:nvSpPr>
          <p:cNvPr id="20" name="Text 18"/>
          <p:cNvSpPr txBox="1"/>
          <p:nvPr/>
        </p:nvSpPr>
        <p:spPr>
          <a:xfrm>
            <a:off x="4402836" y="2084832"/>
            <a:ext cx="1417320" cy="219456"/>
          </a:xfrm>
          <a:prstGeom prst="rect">
            <a:avLst/>
          </a:prstGeom>
          <a:noFill/>
          <a:ln/>
        </p:spPr>
        <p:txBody>
          <a:bodyPr wrap="square" lIns="0" tIns="0" rIns="0" bIns="0" rtlCol="0" anchor="ctr"/>
          <a:lstStyle/>
          <a:p>
            <a:pPr algn="ctr" indent="0" marL="0">
              <a:buNone/>
            </a:pPr>
            <a:r>
              <a:rPr lang="en-US" sz="950" dirty="0">
                <a:solidFill>
                  <a:srgbClr val="8AA4FF"/>
                </a:solidFill>
                <a:latin typeface="Courier New" pitchFamily="34" charset="0"/>
                <a:ea typeface="Courier New" pitchFamily="34" charset="-122"/>
                <a:cs typeface="Courier New" pitchFamily="34" charset="-120"/>
              </a:rPr>
              <a:t>300 m</a:t>
            </a:r>
            <a:endParaRPr lang="en-US" sz="950" dirty="0"/>
          </a:p>
        </p:txBody>
      </p:sp>
      <p:sp>
        <p:nvSpPr>
          <p:cNvPr id="21" name="Shape 19"/>
          <p:cNvSpPr/>
          <p:nvPr/>
        </p:nvSpPr>
        <p:spPr>
          <a:xfrm>
            <a:off x="6830568" y="2395728"/>
            <a:ext cx="475488" cy="475488"/>
          </a:xfrm>
          <a:prstGeom prst="ellipse">
            <a:avLst/>
          </a:prstGeom>
          <a:solidFill>
            <a:srgbClr val="111A36"/>
          </a:solidFill>
          <a:ln w="25400">
            <a:solidFill>
              <a:srgbClr val="FF4FB0"/>
            </a:solidFill>
            <a:prstDash val="solid"/>
          </a:ln>
        </p:spPr>
      </p:sp>
      <p:sp>
        <p:nvSpPr>
          <p:cNvPr id="22" name="Text 20"/>
          <p:cNvSpPr txBox="1"/>
          <p:nvPr/>
        </p:nvSpPr>
        <p:spPr>
          <a:xfrm>
            <a:off x="6830568" y="2395728"/>
            <a:ext cx="475488" cy="475488"/>
          </a:xfrm>
          <a:prstGeom prst="rect">
            <a:avLst/>
          </a:prstGeom>
          <a:noFill/>
          <a:ln/>
        </p:spPr>
        <p:txBody>
          <a:bodyPr wrap="square" lIns="0" tIns="0" rIns="0" bIns="0" rtlCol="0" anchor="ctr"/>
          <a:lstStyle/>
          <a:p>
            <a:pPr algn="ctr" indent="0" marL="0">
              <a:buNone/>
            </a:pPr>
            <a:r>
              <a:rPr lang="en-US" sz="1100" b="1" dirty="0">
                <a:solidFill>
                  <a:srgbClr val="FF4FB0"/>
                </a:solidFill>
                <a:latin typeface="Courier New" pitchFamily="34" charset="0"/>
                <a:ea typeface="Courier New" pitchFamily="34" charset="-122"/>
                <a:cs typeface="Courier New" pitchFamily="34" charset="-120"/>
              </a:rPr>
              <a:t>4</a:t>
            </a:r>
            <a:endParaRPr lang="en-US" sz="1100" dirty="0"/>
          </a:p>
        </p:txBody>
      </p:sp>
      <p:sp>
        <p:nvSpPr>
          <p:cNvPr id="23" name="Text 21"/>
          <p:cNvSpPr txBox="1"/>
          <p:nvPr/>
        </p:nvSpPr>
        <p:spPr>
          <a:xfrm>
            <a:off x="6359652" y="2999232"/>
            <a:ext cx="1417320" cy="25603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Splitter</a:t>
            </a:r>
            <a:endParaRPr lang="en-US" sz="1200" dirty="0"/>
          </a:p>
        </p:txBody>
      </p:sp>
      <p:sp>
        <p:nvSpPr>
          <p:cNvPr id="24" name="Text 22"/>
          <p:cNvSpPr txBox="1"/>
          <p:nvPr/>
        </p:nvSpPr>
        <p:spPr>
          <a:xfrm>
            <a:off x="6359652" y="3255264"/>
            <a:ext cx="1417320" cy="219456"/>
          </a:xfrm>
          <a:prstGeom prst="rect">
            <a:avLst/>
          </a:prstGeom>
          <a:noFill/>
          <a:ln/>
        </p:spPr>
        <p:txBody>
          <a:bodyPr wrap="square" lIns="0" tIns="0" rIns="0" bIns="0" rtlCol="0" anchor="ctr"/>
          <a:lstStyle/>
          <a:p>
            <a:pPr algn="ctr" indent="0" marL="0">
              <a:buNone/>
            </a:pPr>
            <a:r>
              <a:rPr lang="en-US" sz="1000" dirty="0">
                <a:solidFill>
                  <a:srgbClr val="8E9BB8"/>
                </a:solidFill>
                <a:latin typeface="Calibri" pitchFamily="34" charset="0"/>
                <a:ea typeface="Calibri" pitchFamily="34" charset="-122"/>
                <a:cs typeface="Calibri" pitchFamily="34" charset="-120"/>
              </a:rPr>
              <a:t>passiv 1:32</a:t>
            </a:r>
            <a:endParaRPr lang="en-US" sz="1000" dirty="0"/>
          </a:p>
        </p:txBody>
      </p:sp>
      <p:sp>
        <p:nvSpPr>
          <p:cNvPr id="25" name="Text 23"/>
          <p:cNvSpPr txBox="1"/>
          <p:nvPr/>
        </p:nvSpPr>
        <p:spPr>
          <a:xfrm>
            <a:off x="6359652" y="2084832"/>
            <a:ext cx="1417320" cy="219456"/>
          </a:xfrm>
          <a:prstGeom prst="rect">
            <a:avLst/>
          </a:prstGeom>
          <a:noFill/>
          <a:ln/>
        </p:spPr>
        <p:txBody>
          <a:bodyPr wrap="square" lIns="0" tIns="0" rIns="0" bIns="0" rtlCol="0" anchor="ctr"/>
          <a:lstStyle/>
          <a:p>
            <a:pPr algn="ctr" indent="0" marL="0">
              <a:buNone/>
            </a:pPr>
            <a:r>
              <a:rPr lang="en-US" sz="950" dirty="0">
                <a:solidFill>
                  <a:srgbClr val="FF4FB0"/>
                </a:solidFill>
                <a:latin typeface="Courier New" pitchFamily="34" charset="0"/>
                <a:ea typeface="Courier New" pitchFamily="34" charset="-122"/>
                <a:cs typeface="Courier New" pitchFamily="34" charset="-120"/>
              </a:rPr>
              <a:t>2 km</a:t>
            </a:r>
            <a:endParaRPr lang="en-US" sz="950" dirty="0"/>
          </a:p>
        </p:txBody>
      </p:sp>
      <p:sp>
        <p:nvSpPr>
          <p:cNvPr id="26" name="Shape 24"/>
          <p:cNvSpPr/>
          <p:nvPr/>
        </p:nvSpPr>
        <p:spPr>
          <a:xfrm>
            <a:off x="8787384" y="2395728"/>
            <a:ext cx="475488" cy="475488"/>
          </a:xfrm>
          <a:prstGeom prst="ellipse">
            <a:avLst/>
          </a:prstGeom>
          <a:solidFill>
            <a:srgbClr val="111A36"/>
          </a:solidFill>
          <a:ln w="25400">
            <a:solidFill>
              <a:srgbClr val="FFB43C"/>
            </a:solidFill>
            <a:prstDash val="solid"/>
          </a:ln>
        </p:spPr>
      </p:sp>
      <p:sp>
        <p:nvSpPr>
          <p:cNvPr id="27" name="Text 25"/>
          <p:cNvSpPr txBox="1"/>
          <p:nvPr/>
        </p:nvSpPr>
        <p:spPr>
          <a:xfrm>
            <a:off x="8787384" y="2395728"/>
            <a:ext cx="475488" cy="475488"/>
          </a:xfrm>
          <a:prstGeom prst="rect">
            <a:avLst/>
          </a:prstGeom>
          <a:noFill/>
          <a:ln/>
        </p:spPr>
        <p:txBody>
          <a:bodyPr wrap="square" lIns="0" tIns="0" rIns="0" bIns="0" rtlCol="0" anchor="ctr"/>
          <a:lstStyle/>
          <a:p>
            <a:pPr algn="ctr" indent="0" marL="0">
              <a:buNone/>
            </a:pPr>
            <a:r>
              <a:rPr lang="en-US" sz="1100" b="1" dirty="0">
                <a:solidFill>
                  <a:srgbClr val="FFB43C"/>
                </a:solidFill>
                <a:latin typeface="Courier New" pitchFamily="34" charset="0"/>
                <a:ea typeface="Courier New" pitchFamily="34" charset="-122"/>
                <a:cs typeface="Courier New" pitchFamily="34" charset="-120"/>
              </a:rPr>
              <a:t>5</a:t>
            </a:r>
            <a:endParaRPr lang="en-US" sz="1100" dirty="0"/>
          </a:p>
        </p:txBody>
      </p:sp>
      <p:sp>
        <p:nvSpPr>
          <p:cNvPr id="28" name="Text 26"/>
          <p:cNvSpPr txBox="1"/>
          <p:nvPr/>
        </p:nvSpPr>
        <p:spPr>
          <a:xfrm>
            <a:off x="8316468" y="2999232"/>
            <a:ext cx="1417320" cy="25603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PoP mit OLT</a:t>
            </a:r>
            <a:endParaRPr lang="en-US" sz="1200" dirty="0"/>
          </a:p>
        </p:txBody>
      </p:sp>
      <p:sp>
        <p:nvSpPr>
          <p:cNvPr id="29" name="Text 27"/>
          <p:cNvSpPr txBox="1"/>
          <p:nvPr/>
        </p:nvSpPr>
        <p:spPr>
          <a:xfrm>
            <a:off x="8316468" y="3255264"/>
            <a:ext cx="1417320" cy="219456"/>
          </a:xfrm>
          <a:prstGeom prst="rect">
            <a:avLst/>
          </a:prstGeom>
          <a:noFill/>
          <a:ln/>
        </p:spPr>
        <p:txBody>
          <a:bodyPr wrap="square" lIns="0" tIns="0" rIns="0" bIns="0" rtlCol="0" anchor="ctr"/>
          <a:lstStyle/>
          <a:p>
            <a:pPr algn="ctr" indent="0" marL="0">
              <a:buNone/>
            </a:pPr>
            <a:r>
              <a:rPr lang="en-US" sz="1000" dirty="0">
                <a:solidFill>
                  <a:srgbClr val="8E9BB8"/>
                </a:solidFill>
                <a:latin typeface="Calibri" pitchFamily="34" charset="0"/>
                <a:ea typeface="Calibri" pitchFamily="34" charset="-122"/>
                <a:cs typeface="Calibri" pitchFamily="34" charset="-120"/>
              </a:rPr>
              <a:t>Vermittlung</a:t>
            </a:r>
            <a:endParaRPr lang="en-US" sz="1000" dirty="0"/>
          </a:p>
        </p:txBody>
      </p:sp>
      <p:sp>
        <p:nvSpPr>
          <p:cNvPr id="30" name="Text 28"/>
          <p:cNvSpPr txBox="1"/>
          <p:nvPr/>
        </p:nvSpPr>
        <p:spPr>
          <a:xfrm>
            <a:off x="8316468" y="2084832"/>
            <a:ext cx="1417320" cy="219456"/>
          </a:xfrm>
          <a:prstGeom prst="rect">
            <a:avLst/>
          </a:prstGeom>
          <a:noFill/>
          <a:ln/>
        </p:spPr>
        <p:txBody>
          <a:bodyPr wrap="square" lIns="0" tIns="0" rIns="0" bIns="0" rtlCol="0" anchor="ctr"/>
          <a:lstStyle/>
          <a:p>
            <a:pPr algn="ctr" indent="0" marL="0">
              <a:buNone/>
            </a:pPr>
            <a:r>
              <a:rPr lang="en-US" sz="950" dirty="0">
                <a:solidFill>
                  <a:srgbClr val="FFB43C"/>
                </a:solidFill>
                <a:latin typeface="Courier New" pitchFamily="34" charset="0"/>
                <a:ea typeface="Courier New" pitchFamily="34" charset="-122"/>
                <a:cs typeface="Courier New" pitchFamily="34" charset="-120"/>
              </a:rPr>
              <a:t>12 km</a:t>
            </a:r>
            <a:endParaRPr lang="en-US" sz="950" dirty="0"/>
          </a:p>
        </p:txBody>
      </p:sp>
      <p:sp>
        <p:nvSpPr>
          <p:cNvPr id="31" name="Shape 29"/>
          <p:cNvSpPr/>
          <p:nvPr/>
        </p:nvSpPr>
        <p:spPr>
          <a:xfrm>
            <a:off x="10744200" y="2395728"/>
            <a:ext cx="475488" cy="475488"/>
          </a:xfrm>
          <a:prstGeom prst="ellipse">
            <a:avLst/>
          </a:prstGeom>
          <a:solidFill>
            <a:srgbClr val="111A36"/>
          </a:solidFill>
          <a:ln w="25400">
            <a:solidFill>
              <a:srgbClr val="FF7A59"/>
            </a:solidFill>
            <a:prstDash val="solid"/>
          </a:ln>
        </p:spPr>
      </p:sp>
      <p:sp>
        <p:nvSpPr>
          <p:cNvPr id="32" name="Text 30"/>
          <p:cNvSpPr txBox="1"/>
          <p:nvPr/>
        </p:nvSpPr>
        <p:spPr>
          <a:xfrm>
            <a:off x="10744200" y="2395728"/>
            <a:ext cx="475488" cy="475488"/>
          </a:xfrm>
          <a:prstGeom prst="rect">
            <a:avLst/>
          </a:prstGeom>
          <a:noFill/>
          <a:ln/>
        </p:spPr>
        <p:txBody>
          <a:bodyPr wrap="square" lIns="0" tIns="0" rIns="0" bIns="0" rtlCol="0" anchor="ctr"/>
          <a:lstStyle/>
          <a:p>
            <a:pPr algn="ctr" indent="0" marL="0">
              <a:buNone/>
            </a:pPr>
            <a:r>
              <a:rPr lang="en-US" sz="1100" b="1" dirty="0">
                <a:solidFill>
                  <a:srgbClr val="FF7A59"/>
                </a:solidFill>
                <a:latin typeface="Courier New" pitchFamily="34" charset="0"/>
                <a:ea typeface="Courier New" pitchFamily="34" charset="-122"/>
                <a:cs typeface="Courier New" pitchFamily="34" charset="-120"/>
              </a:rPr>
              <a:t>6</a:t>
            </a:r>
            <a:endParaRPr lang="en-US" sz="1100" dirty="0"/>
          </a:p>
        </p:txBody>
      </p:sp>
      <p:sp>
        <p:nvSpPr>
          <p:cNvPr id="33" name="Text 31"/>
          <p:cNvSpPr txBox="1"/>
          <p:nvPr/>
        </p:nvSpPr>
        <p:spPr>
          <a:xfrm>
            <a:off x="10273284" y="2999232"/>
            <a:ext cx="1417320" cy="25603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Backbone</a:t>
            </a:r>
            <a:endParaRPr lang="en-US" sz="1200" dirty="0"/>
          </a:p>
        </p:txBody>
      </p:sp>
      <p:sp>
        <p:nvSpPr>
          <p:cNvPr id="34" name="Text 32"/>
          <p:cNvSpPr txBox="1"/>
          <p:nvPr/>
        </p:nvSpPr>
        <p:spPr>
          <a:xfrm>
            <a:off x="10273284" y="3255264"/>
            <a:ext cx="1417320" cy="219456"/>
          </a:xfrm>
          <a:prstGeom prst="rect">
            <a:avLst/>
          </a:prstGeom>
          <a:noFill/>
          <a:ln/>
        </p:spPr>
        <p:txBody>
          <a:bodyPr wrap="square" lIns="0" tIns="0" rIns="0" bIns="0" rtlCol="0" anchor="ctr"/>
          <a:lstStyle/>
          <a:p>
            <a:pPr algn="ctr" indent="0" marL="0">
              <a:buNone/>
            </a:pPr>
            <a:r>
              <a:rPr lang="en-US" sz="1000" dirty="0">
                <a:solidFill>
                  <a:srgbClr val="8E9BB8"/>
                </a:solidFill>
                <a:latin typeface="Calibri" pitchFamily="34" charset="0"/>
                <a:ea typeface="Calibri" pitchFamily="34" charset="-122"/>
                <a:cs typeface="Calibri" pitchFamily="34" charset="-120"/>
              </a:rPr>
              <a:t>DE-CIX</a:t>
            </a:r>
            <a:endParaRPr lang="en-US" sz="1000" dirty="0"/>
          </a:p>
        </p:txBody>
      </p:sp>
      <p:sp>
        <p:nvSpPr>
          <p:cNvPr id="35" name="Text 33"/>
          <p:cNvSpPr txBox="1"/>
          <p:nvPr/>
        </p:nvSpPr>
        <p:spPr>
          <a:xfrm>
            <a:off x="10273284" y="2084832"/>
            <a:ext cx="1417320" cy="219456"/>
          </a:xfrm>
          <a:prstGeom prst="rect">
            <a:avLst/>
          </a:prstGeom>
          <a:noFill/>
          <a:ln/>
        </p:spPr>
        <p:txBody>
          <a:bodyPr wrap="square" lIns="0" tIns="0" rIns="0" bIns="0" rtlCol="0" anchor="ctr"/>
          <a:lstStyle/>
          <a:p>
            <a:pPr algn="ctr" indent="0" marL="0">
              <a:buNone/>
            </a:pPr>
            <a:r>
              <a:rPr lang="en-US" sz="950" dirty="0">
                <a:solidFill>
                  <a:srgbClr val="FF7A59"/>
                </a:solidFill>
                <a:latin typeface="Courier New" pitchFamily="34" charset="0"/>
                <a:ea typeface="Courier New" pitchFamily="34" charset="-122"/>
                <a:cs typeface="Courier New" pitchFamily="34" charset="-120"/>
              </a:rPr>
              <a:t>20 km+</a:t>
            </a:r>
            <a:endParaRPr lang="en-US" sz="950" dirty="0"/>
          </a:p>
        </p:txBody>
      </p:sp>
      <p:sp>
        <p:nvSpPr>
          <p:cNvPr id="36" name="Shape 34"/>
          <p:cNvSpPr/>
          <p:nvPr/>
        </p:nvSpPr>
        <p:spPr>
          <a:xfrm>
            <a:off x="566928" y="3749040"/>
            <a:ext cx="5346040" cy="2212848"/>
          </a:xfrm>
          <a:prstGeom prst="roundRect">
            <a:avLst>
              <a:gd name="adj" fmla="val 4132"/>
            </a:avLst>
          </a:prstGeom>
          <a:solidFill>
            <a:srgbClr val="111A36"/>
          </a:solidFill>
          <a:ln w="9525">
            <a:solidFill>
              <a:srgbClr val="26335C"/>
            </a:solidFill>
            <a:prstDash val="solid"/>
          </a:ln>
        </p:spPr>
      </p:sp>
      <p:sp>
        <p:nvSpPr>
          <p:cNvPr id="37" name="Shape 35"/>
          <p:cNvSpPr/>
          <p:nvPr/>
        </p:nvSpPr>
        <p:spPr>
          <a:xfrm>
            <a:off x="6278728" y="3749040"/>
            <a:ext cx="5346040" cy="2212848"/>
          </a:xfrm>
          <a:prstGeom prst="roundRect">
            <a:avLst>
              <a:gd name="adj" fmla="val 4132"/>
            </a:avLst>
          </a:prstGeom>
          <a:solidFill>
            <a:srgbClr val="111A36"/>
          </a:solidFill>
          <a:ln w="9525">
            <a:solidFill>
              <a:srgbClr val="26335C"/>
            </a:solidFill>
            <a:prstDash val="solid"/>
          </a:ln>
        </p:spPr>
      </p:sp>
      <p:sp>
        <p:nvSpPr>
          <p:cNvPr id="38" name="Shape 36"/>
          <p:cNvSpPr/>
          <p:nvPr/>
        </p:nvSpPr>
        <p:spPr>
          <a:xfrm>
            <a:off x="841248" y="4032504"/>
            <a:ext cx="274320" cy="274320"/>
          </a:xfrm>
          <a:prstGeom prst="ellipse">
            <a:avLst/>
          </a:prstGeom>
          <a:solidFill>
            <a:srgbClr val="2EE6FF"/>
          </a:solidFill>
          <a:ln w="12700">
            <a:solidFill>
              <a:srgbClr val="2EE6FF"/>
            </a:solidFill>
            <a:prstDash val="solid"/>
          </a:ln>
        </p:spPr>
      </p:sp>
      <p:sp>
        <p:nvSpPr>
          <p:cNvPr id="39" name="Text 37"/>
          <p:cNvSpPr txBox="1"/>
          <p:nvPr/>
        </p:nvSpPr>
        <p:spPr>
          <a:xfrm>
            <a:off x="841248" y="4032504"/>
            <a:ext cx="274320" cy="274320"/>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1</a:t>
            </a:r>
            <a:endParaRPr lang="en-US" sz="1100" dirty="0"/>
          </a:p>
        </p:txBody>
      </p:sp>
      <p:sp>
        <p:nvSpPr>
          <p:cNvPr id="40" name="Text 38"/>
          <p:cNvSpPr txBox="1"/>
          <p:nvPr/>
        </p:nvSpPr>
        <p:spPr>
          <a:xfrm>
            <a:off x="1261872" y="4005072"/>
            <a:ext cx="4376776" cy="603504"/>
          </a:xfrm>
          <a:prstGeom prst="rect">
            <a:avLst/>
          </a:prstGeom>
          <a:noFill/>
          <a:ln/>
        </p:spPr>
        <p:txBody>
          <a:bodyPr wrap="square" lIns="0" tIns="0" rIns="0" bIns="0" rtlCol="0" anchor="t"/>
          <a:lstStyle/>
          <a:p>
            <a:pPr indent="0" marL="0">
              <a:lnSpc>
                <a:spcPct val="106000"/>
              </a:lnSpc>
              <a:buNone/>
            </a:pPr>
            <a:r>
              <a:rPr lang="en-US" sz="1300" b="1" dirty="0">
                <a:solidFill>
                  <a:srgbClr val="E9EFFA"/>
                </a:solidFill>
                <a:latin typeface="Calibri" pitchFamily="34" charset="0"/>
                <a:ea typeface="Calibri" pitchFamily="34" charset="-122"/>
                <a:cs typeface="Calibri" pitchFamily="34" charset="-120"/>
              </a:rPr>
              <a:t>Router und ONT.</a:t>
            </a:r>
            <a:endParaRPr lang="en-US" sz="1300" dirty="0"/>
          </a:p>
          <a:p>
            <a:pPr indent="0" marL="0">
              <a:lnSpc>
                <a:spcPct val="106000"/>
              </a:lnSpc>
              <a:buNone/>
            </a:pPr>
            <a:r>
              <a:rPr lang="en-US" sz="1150" dirty="0">
                <a:solidFill>
                  <a:srgbClr val="8E9BB8"/>
                </a:solidFill>
                <a:latin typeface="Calibri" pitchFamily="34" charset="0"/>
                <a:ea typeface="Calibri" pitchFamily="34" charset="-122"/>
                <a:cs typeface="Calibri" pitchFamily="34" charset="-120"/>
              </a:rPr>
              <a:t>Der ONT wandelt Ethernet-Frames in Lichtpulse. Ab hier ist die Strecke Glas.</a:t>
            </a:r>
            <a:endParaRPr lang="en-US" sz="1300" dirty="0"/>
          </a:p>
        </p:txBody>
      </p:sp>
      <p:sp>
        <p:nvSpPr>
          <p:cNvPr id="41" name="Shape 39"/>
          <p:cNvSpPr/>
          <p:nvPr/>
        </p:nvSpPr>
        <p:spPr>
          <a:xfrm>
            <a:off x="841248" y="4690872"/>
            <a:ext cx="274320" cy="274320"/>
          </a:xfrm>
          <a:prstGeom prst="ellipse">
            <a:avLst/>
          </a:prstGeom>
          <a:solidFill>
            <a:srgbClr val="5CF2A6"/>
          </a:solidFill>
          <a:ln w="12700">
            <a:solidFill>
              <a:srgbClr val="5CF2A6"/>
            </a:solidFill>
            <a:prstDash val="solid"/>
          </a:ln>
        </p:spPr>
      </p:sp>
      <p:sp>
        <p:nvSpPr>
          <p:cNvPr id="42" name="Text 40"/>
          <p:cNvSpPr txBox="1"/>
          <p:nvPr/>
        </p:nvSpPr>
        <p:spPr>
          <a:xfrm>
            <a:off x="841248" y="4690872"/>
            <a:ext cx="274320" cy="274320"/>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2</a:t>
            </a:r>
            <a:endParaRPr lang="en-US" sz="1100" dirty="0"/>
          </a:p>
        </p:txBody>
      </p:sp>
      <p:sp>
        <p:nvSpPr>
          <p:cNvPr id="43" name="Text 41"/>
          <p:cNvSpPr txBox="1"/>
          <p:nvPr/>
        </p:nvSpPr>
        <p:spPr>
          <a:xfrm>
            <a:off x="1261872" y="4663440"/>
            <a:ext cx="4376776" cy="603504"/>
          </a:xfrm>
          <a:prstGeom prst="rect">
            <a:avLst/>
          </a:prstGeom>
          <a:noFill/>
          <a:ln/>
        </p:spPr>
        <p:txBody>
          <a:bodyPr wrap="square" lIns="0" tIns="0" rIns="0" bIns="0" rtlCol="0" anchor="t"/>
          <a:lstStyle/>
          <a:p>
            <a:pPr indent="0" marL="0">
              <a:lnSpc>
                <a:spcPct val="106000"/>
              </a:lnSpc>
              <a:buNone/>
            </a:pPr>
            <a:r>
              <a:rPr lang="en-US" sz="1300" b="1" dirty="0">
                <a:solidFill>
                  <a:srgbClr val="E9EFFA"/>
                </a:solidFill>
                <a:latin typeface="Calibri" pitchFamily="34" charset="0"/>
                <a:ea typeface="Calibri" pitchFamily="34" charset="-122"/>
                <a:cs typeface="Calibri" pitchFamily="34" charset="-120"/>
              </a:rPr>
              <a:t>Gf-AP im Keller.</a:t>
            </a:r>
            <a:endParaRPr lang="en-US" sz="1300" dirty="0"/>
          </a:p>
          <a:p>
            <a:pPr indent="0" marL="0">
              <a:lnSpc>
                <a:spcPct val="106000"/>
              </a:lnSpc>
              <a:buNone/>
            </a:pPr>
            <a:r>
              <a:rPr lang="en-US" sz="1150" dirty="0">
                <a:solidFill>
                  <a:srgbClr val="8E9BB8"/>
                </a:solidFill>
                <a:latin typeface="Calibri" pitchFamily="34" charset="0"/>
                <a:ea typeface="Calibri" pitchFamily="34" charset="-122"/>
                <a:cs typeface="Calibri" pitchFamily="34" charset="-120"/>
              </a:rPr>
              <a:t>Übergabepunkt zwischen Anbieternetz und Inhouse-Verkabelung.</a:t>
            </a:r>
            <a:endParaRPr lang="en-US" sz="1300" dirty="0"/>
          </a:p>
        </p:txBody>
      </p:sp>
      <p:sp>
        <p:nvSpPr>
          <p:cNvPr id="44" name="Shape 42"/>
          <p:cNvSpPr/>
          <p:nvPr/>
        </p:nvSpPr>
        <p:spPr>
          <a:xfrm>
            <a:off x="841248" y="5349240"/>
            <a:ext cx="274320" cy="274320"/>
          </a:xfrm>
          <a:prstGeom prst="ellipse">
            <a:avLst/>
          </a:prstGeom>
          <a:solidFill>
            <a:srgbClr val="8AA4FF"/>
          </a:solidFill>
          <a:ln w="12700">
            <a:solidFill>
              <a:srgbClr val="8AA4FF"/>
            </a:solidFill>
            <a:prstDash val="solid"/>
          </a:ln>
        </p:spPr>
      </p:sp>
      <p:sp>
        <p:nvSpPr>
          <p:cNvPr id="45" name="Text 43"/>
          <p:cNvSpPr txBox="1"/>
          <p:nvPr/>
        </p:nvSpPr>
        <p:spPr>
          <a:xfrm>
            <a:off x="841248" y="5349240"/>
            <a:ext cx="274320" cy="274320"/>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3</a:t>
            </a:r>
            <a:endParaRPr lang="en-US" sz="1100" dirty="0"/>
          </a:p>
        </p:txBody>
      </p:sp>
      <p:sp>
        <p:nvSpPr>
          <p:cNvPr id="46" name="Text 44"/>
          <p:cNvSpPr txBox="1"/>
          <p:nvPr/>
        </p:nvSpPr>
        <p:spPr>
          <a:xfrm>
            <a:off x="1261872" y="5321808"/>
            <a:ext cx="4376776" cy="603504"/>
          </a:xfrm>
          <a:prstGeom prst="rect">
            <a:avLst/>
          </a:prstGeom>
          <a:noFill/>
          <a:ln/>
        </p:spPr>
        <p:txBody>
          <a:bodyPr wrap="square" lIns="0" tIns="0" rIns="0" bIns="0" rtlCol="0" anchor="t"/>
          <a:lstStyle/>
          <a:p>
            <a:pPr indent="0" marL="0">
              <a:lnSpc>
                <a:spcPct val="106000"/>
              </a:lnSpc>
              <a:buNone/>
            </a:pPr>
            <a:r>
              <a:rPr lang="en-US" sz="1300" b="1" dirty="0">
                <a:solidFill>
                  <a:srgbClr val="E9EFFA"/>
                </a:solidFill>
                <a:latin typeface="Calibri" pitchFamily="34" charset="0"/>
                <a:ea typeface="Calibri" pitchFamily="34" charset="-122"/>
                <a:cs typeface="Calibri" pitchFamily="34" charset="-120"/>
              </a:rPr>
              <a:t>Netzverteiler.</a:t>
            </a:r>
            <a:endParaRPr lang="en-US" sz="1300" dirty="0"/>
          </a:p>
          <a:p>
            <a:pPr indent="0" marL="0">
              <a:lnSpc>
                <a:spcPct val="106000"/>
              </a:lnSpc>
              <a:buNone/>
            </a:pPr>
            <a:r>
              <a:rPr lang="en-US" sz="1150" dirty="0">
                <a:solidFill>
                  <a:srgbClr val="8E9BB8"/>
                </a:solidFill>
                <a:latin typeface="Calibri" pitchFamily="34" charset="0"/>
                <a:ea typeface="Calibri" pitchFamily="34" charset="-122"/>
                <a:cs typeface="Calibri" pitchFamily="34" charset="-120"/>
              </a:rPr>
              <a:t>Grauer Kasten am Gehweg, hier werden hunderte Fasern gespleißt.</a:t>
            </a:r>
            <a:endParaRPr lang="en-US" sz="1300" dirty="0"/>
          </a:p>
        </p:txBody>
      </p:sp>
      <p:sp>
        <p:nvSpPr>
          <p:cNvPr id="47" name="Shape 45"/>
          <p:cNvSpPr/>
          <p:nvPr/>
        </p:nvSpPr>
        <p:spPr>
          <a:xfrm>
            <a:off x="6553048" y="4032504"/>
            <a:ext cx="274320" cy="274320"/>
          </a:xfrm>
          <a:prstGeom prst="ellipse">
            <a:avLst/>
          </a:prstGeom>
          <a:solidFill>
            <a:srgbClr val="FF4FB0"/>
          </a:solidFill>
          <a:ln w="12700">
            <a:solidFill>
              <a:srgbClr val="FF4FB0"/>
            </a:solidFill>
            <a:prstDash val="solid"/>
          </a:ln>
        </p:spPr>
      </p:sp>
      <p:sp>
        <p:nvSpPr>
          <p:cNvPr id="48" name="Text 46"/>
          <p:cNvSpPr txBox="1"/>
          <p:nvPr/>
        </p:nvSpPr>
        <p:spPr>
          <a:xfrm>
            <a:off x="6553048" y="4032504"/>
            <a:ext cx="274320" cy="274320"/>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4</a:t>
            </a:r>
            <a:endParaRPr lang="en-US" sz="1100" dirty="0"/>
          </a:p>
        </p:txBody>
      </p:sp>
      <p:sp>
        <p:nvSpPr>
          <p:cNvPr id="49" name="Text 47"/>
          <p:cNvSpPr txBox="1"/>
          <p:nvPr/>
        </p:nvSpPr>
        <p:spPr>
          <a:xfrm>
            <a:off x="6973672" y="4005072"/>
            <a:ext cx="4376776" cy="603504"/>
          </a:xfrm>
          <a:prstGeom prst="rect">
            <a:avLst/>
          </a:prstGeom>
          <a:noFill/>
          <a:ln/>
        </p:spPr>
        <p:txBody>
          <a:bodyPr wrap="square" lIns="0" tIns="0" rIns="0" bIns="0" rtlCol="0" anchor="t"/>
          <a:lstStyle/>
          <a:p>
            <a:pPr indent="0" marL="0">
              <a:lnSpc>
                <a:spcPct val="106000"/>
              </a:lnSpc>
              <a:buNone/>
            </a:pPr>
            <a:r>
              <a:rPr lang="en-US" sz="1300" b="1" dirty="0">
                <a:solidFill>
                  <a:srgbClr val="E9EFFA"/>
                </a:solidFill>
                <a:latin typeface="Calibri" pitchFamily="34" charset="0"/>
                <a:ea typeface="Calibri" pitchFamily="34" charset="-122"/>
                <a:cs typeface="Calibri" pitchFamily="34" charset="-120"/>
              </a:rPr>
              <a:t>Passiver Splitter.</a:t>
            </a:r>
            <a:endParaRPr lang="en-US" sz="1300" dirty="0"/>
          </a:p>
          <a:p>
            <a:pPr indent="0" marL="0">
              <a:lnSpc>
                <a:spcPct val="106000"/>
              </a:lnSpc>
              <a:buNone/>
            </a:pPr>
            <a:r>
              <a:rPr lang="en-US" sz="1150" dirty="0">
                <a:solidFill>
                  <a:srgbClr val="8E9BB8"/>
                </a:solidFill>
                <a:latin typeface="Calibri" pitchFamily="34" charset="0"/>
                <a:ea typeface="Calibri" pitchFamily="34" charset="-122"/>
                <a:cs typeface="Calibri" pitchFamily="34" charset="-120"/>
              </a:rPr>
              <a:t>Teilt eine Faser stromlos auf 32 bis 128 Teilnehmer auf.</a:t>
            </a:r>
            <a:endParaRPr lang="en-US" sz="1300" dirty="0"/>
          </a:p>
        </p:txBody>
      </p:sp>
      <p:sp>
        <p:nvSpPr>
          <p:cNvPr id="50" name="Shape 48"/>
          <p:cNvSpPr/>
          <p:nvPr/>
        </p:nvSpPr>
        <p:spPr>
          <a:xfrm>
            <a:off x="6553048" y="4690872"/>
            <a:ext cx="274320" cy="274320"/>
          </a:xfrm>
          <a:prstGeom prst="ellipse">
            <a:avLst/>
          </a:prstGeom>
          <a:solidFill>
            <a:srgbClr val="FFB43C"/>
          </a:solidFill>
          <a:ln w="12700">
            <a:solidFill>
              <a:srgbClr val="FFB43C"/>
            </a:solidFill>
            <a:prstDash val="solid"/>
          </a:ln>
        </p:spPr>
      </p:sp>
      <p:sp>
        <p:nvSpPr>
          <p:cNvPr id="51" name="Text 49"/>
          <p:cNvSpPr txBox="1"/>
          <p:nvPr/>
        </p:nvSpPr>
        <p:spPr>
          <a:xfrm>
            <a:off x="6553048" y="4690872"/>
            <a:ext cx="274320" cy="274320"/>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5</a:t>
            </a:r>
            <a:endParaRPr lang="en-US" sz="1100" dirty="0"/>
          </a:p>
        </p:txBody>
      </p:sp>
      <p:sp>
        <p:nvSpPr>
          <p:cNvPr id="52" name="Text 50"/>
          <p:cNvSpPr txBox="1"/>
          <p:nvPr/>
        </p:nvSpPr>
        <p:spPr>
          <a:xfrm>
            <a:off x="6973672" y="4663440"/>
            <a:ext cx="4376776" cy="603504"/>
          </a:xfrm>
          <a:prstGeom prst="rect">
            <a:avLst/>
          </a:prstGeom>
          <a:noFill/>
          <a:ln/>
        </p:spPr>
        <p:txBody>
          <a:bodyPr wrap="square" lIns="0" tIns="0" rIns="0" bIns="0" rtlCol="0" anchor="t"/>
          <a:lstStyle/>
          <a:p>
            <a:pPr indent="0" marL="0">
              <a:lnSpc>
                <a:spcPct val="106000"/>
              </a:lnSpc>
              <a:buNone/>
            </a:pPr>
            <a:r>
              <a:rPr lang="en-US" sz="1300" b="1" dirty="0">
                <a:solidFill>
                  <a:srgbClr val="E9EFFA"/>
                </a:solidFill>
                <a:latin typeface="Calibri" pitchFamily="34" charset="0"/>
                <a:ea typeface="Calibri" pitchFamily="34" charset="-122"/>
                <a:cs typeface="Calibri" pitchFamily="34" charset="-120"/>
              </a:rPr>
              <a:t>PoP mit OLT.</a:t>
            </a:r>
            <a:endParaRPr lang="en-US" sz="1300" dirty="0"/>
          </a:p>
          <a:p>
            <a:pPr indent="0" marL="0">
              <a:lnSpc>
                <a:spcPct val="106000"/>
              </a:lnSpc>
              <a:buNone/>
            </a:pPr>
            <a:r>
              <a:rPr lang="en-US" sz="1150" dirty="0">
                <a:solidFill>
                  <a:srgbClr val="8E9BB8"/>
                </a:solidFill>
                <a:latin typeface="Calibri" pitchFamily="34" charset="0"/>
                <a:ea typeface="Calibri" pitchFamily="34" charset="-122"/>
                <a:cs typeface="Calibri" pitchFamily="34" charset="-120"/>
              </a:rPr>
              <a:t>Gegenstück zum ONT, bündelt alle Teilnehmer und übergibt ans Kernnetz.</a:t>
            </a:r>
            <a:endParaRPr lang="en-US" sz="1300" dirty="0"/>
          </a:p>
        </p:txBody>
      </p:sp>
      <p:sp>
        <p:nvSpPr>
          <p:cNvPr id="53" name="Shape 51"/>
          <p:cNvSpPr/>
          <p:nvPr/>
        </p:nvSpPr>
        <p:spPr>
          <a:xfrm>
            <a:off x="6553048" y="5349240"/>
            <a:ext cx="274320" cy="274320"/>
          </a:xfrm>
          <a:prstGeom prst="ellipse">
            <a:avLst/>
          </a:prstGeom>
          <a:solidFill>
            <a:srgbClr val="FF7A59"/>
          </a:solidFill>
          <a:ln w="12700">
            <a:solidFill>
              <a:srgbClr val="FF7A59"/>
            </a:solidFill>
            <a:prstDash val="solid"/>
          </a:ln>
        </p:spPr>
      </p:sp>
      <p:sp>
        <p:nvSpPr>
          <p:cNvPr id="54" name="Text 52"/>
          <p:cNvSpPr txBox="1"/>
          <p:nvPr/>
        </p:nvSpPr>
        <p:spPr>
          <a:xfrm>
            <a:off x="6553048" y="5349240"/>
            <a:ext cx="274320" cy="274320"/>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6</a:t>
            </a:r>
            <a:endParaRPr lang="en-US" sz="1100" dirty="0"/>
          </a:p>
        </p:txBody>
      </p:sp>
      <p:sp>
        <p:nvSpPr>
          <p:cNvPr id="55" name="Text 53"/>
          <p:cNvSpPr txBox="1"/>
          <p:nvPr/>
        </p:nvSpPr>
        <p:spPr>
          <a:xfrm>
            <a:off x="6973672" y="5321808"/>
            <a:ext cx="4376776" cy="603504"/>
          </a:xfrm>
          <a:prstGeom prst="rect">
            <a:avLst/>
          </a:prstGeom>
          <a:noFill/>
          <a:ln/>
        </p:spPr>
        <p:txBody>
          <a:bodyPr wrap="square" lIns="0" tIns="0" rIns="0" bIns="0" rtlCol="0" anchor="t"/>
          <a:lstStyle/>
          <a:p>
            <a:pPr indent="0" marL="0">
              <a:lnSpc>
                <a:spcPct val="106000"/>
              </a:lnSpc>
              <a:buNone/>
            </a:pPr>
            <a:r>
              <a:rPr lang="en-US" sz="1300" b="1" dirty="0">
                <a:solidFill>
                  <a:srgbClr val="E9EFFA"/>
                </a:solidFill>
                <a:latin typeface="Calibri" pitchFamily="34" charset="0"/>
                <a:ea typeface="Calibri" pitchFamily="34" charset="-122"/>
                <a:cs typeface="Calibri" pitchFamily="34" charset="-120"/>
              </a:rPr>
              <a:t>Backbone.</a:t>
            </a:r>
            <a:endParaRPr lang="en-US" sz="1300" dirty="0"/>
          </a:p>
          <a:p>
            <a:pPr indent="0" marL="0">
              <a:lnSpc>
                <a:spcPct val="106000"/>
              </a:lnSpc>
              <a:buNone/>
            </a:pPr>
            <a:r>
              <a:rPr lang="en-US" sz="1150" dirty="0">
                <a:solidFill>
                  <a:srgbClr val="8E9BB8"/>
                </a:solidFill>
                <a:latin typeface="Calibri" pitchFamily="34" charset="0"/>
                <a:ea typeface="Calibri" pitchFamily="34" charset="-122"/>
                <a:cs typeface="Calibri" pitchFamily="34" charset="-120"/>
              </a:rPr>
              <a:t>Über DWDM mit vielen Wellenlängen pro Faser bis zum Internet-Knoten.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02</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Das Medium: ein Haar aus Glas</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Der eigentliche Lichtleiter ist dünner als ein zehntel Haar. Alles darum herum ist Schutz.</a:t>
            </a:r>
            <a:endParaRPr lang="en-US" sz="1350" dirty="0"/>
          </a:p>
        </p:txBody>
      </p:sp>
      <p:sp>
        <p:nvSpPr>
          <p:cNvPr id="5" name="Shape 3"/>
          <p:cNvSpPr/>
          <p:nvPr/>
        </p:nvSpPr>
        <p:spPr>
          <a:xfrm>
            <a:off x="1307592" y="2404872"/>
            <a:ext cx="2962656" cy="2962656"/>
          </a:xfrm>
          <a:prstGeom prst="ellipse">
            <a:avLst/>
          </a:prstGeom>
          <a:ln w="22860">
            <a:solidFill>
              <a:srgbClr val="FFB43C"/>
            </a:solidFill>
            <a:prstDash val="solid"/>
          </a:ln>
        </p:spPr>
      </p:sp>
      <p:sp>
        <p:nvSpPr>
          <p:cNvPr id="6" name="Shape 4"/>
          <p:cNvSpPr/>
          <p:nvPr/>
        </p:nvSpPr>
        <p:spPr>
          <a:xfrm>
            <a:off x="1655064" y="2752344"/>
            <a:ext cx="2267712" cy="2267712"/>
          </a:xfrm>
          <a:prstGeom prst="ellipse">
            <a:avLst/>
          </a:prstGeom>
          <a:ln w="22860">
            <a:solidFill>
              <a:srgbClr val="FF4FB0"/>
            </a:solidFill>
            <a:prstDash val="solid"/>
          </a:ln>
        </p:spPr>
      </p:sp>
      <p:sp>
        <p:nvSpPr>
          <p:cNvPr id="7" name="Shape 5"/>
          <p:cNvSpPr/>
          <p:nvPr/>
        </p:nvSpPr>
        <p:spPr>
          <a:xfrm>
            <a:off x="1965960" y="3063240"/>
            <a:ext cx="1645920" cy="1645920"/>
          </a:xfrm>
          <a:prstGeom prst="ellipse">
            <a:avLst/>
          </a:prstGeom>
          <a:ln w="22860">
            <a:solidFill>
              <a:srgbClr val="8AA4FF"/>
            </a:solidFill>
            <a:prstDash val="solid"/>
          </a:ln>
        </p:spPr>
      </p:sp>
      <p:sp>
        <p:nvSpPr>
          <p:cNvPr id="8" name="Shape 6"/>
          <p:cNvSpPr/>
          <p:nvPr/>
        </p:nvSpPr>
        <p:spPr>
          <a:xfrm>
            <a:off x="2258568" y="3355848"/>
            <a:ext cx="1060704" cy="1060704"/>
          </a:xfrm>
          <a:prstGeom prst="ellipse">
            <a:avLst/>
          </a:prstGeom>
          <a:ln w="22860">
            <a:solidFill>
              <a:srgbClr val="BFEFFF"/>
            </a:solidFill>
            <a:prstDash val="solid"/>
          </a:ln>
        </p:spPr>
      </p:sp>
      <p:sp>
        <p:nvSpPr>
          <p:cNvPr id="9" name="Shape 7"/>
          <p:cNvSpPr/>
          <p:nvPr/>
        </p:nvSpPr>
        <p:spPr>
          <a:xfrm>
            <a:off x="2551176" y="3648456"/>
            <a:ext cx="475488" cy="475488"/>
          </a:xfrm>
          <a:prstGeom prst="ellipse">
            <a:avLst/>
          </a:prstGeom>
          <a:ln w="44450">
            <a:solidFill>
              <a:srgbClr val="2EE6FF"/>
            </a:solidFill>
            <a:prstDash val="solid"/>
          </a:ln>
        </p:spPr>
      </p:sp>
      <p:sp>
        <p:nvSpPr>
          <p:cNvPr id="10" name="Shape 8"/>
          <p:cNvSpPr/>
          <p:nvPr/>
        </p:nvSpPr>
        <p:spPr>
          <a:xfrm>
            <a:off x="2670048" y="3767328"/>
            <a:ext cx="237744" cy="237744"/>
          </a:xfrm>
          <a:prstGeom prst="ellipse">
            <a:avLst/>
          </a:prstGeom>
          <a:solidFill>
            <a:srgbClr val="2EE6FF"/>
          </a:solidFill>
          <a:ln w="12700">
            <a:solidFill>
              <a:srgbClr val="333333"/>
            </a:solidFill>
            <a:prstDash val="solid"/>
          </a:ln>
        </p:spPr>
      </p:sp>
      <p:sp>
        <p:nvSpPr>
          <p:cNvPr id="11" name="Text 9"/>
          <p:cNvSpPr txBox="1"/>
          <p:nvPr/>
        </p:nvSpPr>
        <p:spPr>
          <a:xfrm>
            <a:off x="1051560" y="5513832"/>
            <a:ext cx="3474720" cy="219456"/>
          </a:xfrm>
          <a:prstGeom prst="rect">
            <a:avLst/>
          </a:prstGeom>
          <a:noFill/>
          <a:ln/>
        </p:spPr>
        <p:txBody>
          <a:bodyPr wrap="square" lIns="0" tIns="0" rIns="0" bIns="0" rtlCol="0" anchor="ctr"/>
          <a:lstStyle/>
          <a:p>
            <a:pPr algn="ctr" indent="0" marL="0">
              <a:buNone/>
            </a:pPr>
            <a:r>
              <a:rPr lang="en-US" sz="800" spc="100" kern="0" dirty="0">
                <a:solidFill>
                  <a:srgbClr val="8E9BB8"/>
                </a:solidFill>
                <a:latin typeface="Courier New" pitchFamily="34" charset="0"/>
                <a:ea typeface="Courier New" pitchFamily="34" charset="-122"/>
                <a:cs typeface="Courier New" pitchFamily="34" charset="-120"/>
              </a:rPr>
              <a:t>QUERSCHNITT · NICHT MASSSTABSGETREU</a:t>
            </a:r>
            <a:endParaRPr lang="en-US" sz="800" dirty="0"/>
          </a:p>
        </p:txBody>
      </p:sp>
      <p:sp>
        <p:nvSpPr>
          <p:cNvPr id="12" name="Text 10"/>
          <p:cNvSpPr txBox="1"/>
          <p:nvPr/>
        </p:nvSpPr>
        <p:spPr>
          <a:xfrm>
            <a:off x="4892040" y="1938528"/>
            <a:ext cx="3200400" cy="219456"/>
          </a:xfrm>
          <a:prstGeom prst="rect">
            <a:avLst/>
          </a:prstGeom>
          <a:noFill/>
          <a:ln/>
        </p:spPr>
        <p:txBody>
          <a:bodyPr wrap="square" lIns="0" tIns="0" rIns="0" bIns="0" rtlCol="0" anchor="ctr"/>
          <a:lstStyle/>
          <a:p>
            <a:pPr indent="0" marL="0">
              <a:buNone/>
            </a:pPr>
            <a:r>
              <a:rPr lang="en-US" sz="850" spc="100" kern="0" dirty="0">
                <a:solidFill>
                  <a:srgbClr val="2EE6FF"/>
                </a:solidFill>
                <a:latin typeface="Courier New" pitchFamily="34" charset="0"/>
                <a:ea typeface="Courier New" pitchFamily="34" charset="-122"/>
                <a:cs typeface="Courier New" pitchFamily="34" charset="-120"/>
              </a:rPr>
              <a:t>SCHICHTEN VON AUSSEN NACH INNEN</a:t>
            </a:r>
            <a:endParaRPr lang="en-US" sz="850" dirty="0"/>
          </a:p>
        </p:txBody>
      </p:sp>
      <p:sp>
        <p:nvSpPr>
          <p:cNvPr id="13" name="Shape 11"/>
          <p:cNvSpPr/>
          <p:nvPr/>
        </p:nvSpPr>
        <p:spPr>
          <a:xfrm>
            <a:off x="4892040" y="2276856"/>
            <a:ext cx="201168" cy="201168"/>
          </a:xfrm>
          <a:prstGeom prst="ellipse">
            <a:avLst/>
          </a:prstGeom>
          <a:solidFill>
            <a:srgbClr val="FFB43C"/>
          </a:solidFill>
          <a:ln w="12700">
            <a:solidFill>
              <a:srgbClr val="FFB43C"/>
            </a:solidFill>
            <a:prstDash val="solid"/>
          </a:ln>
        </p:spPr>
      </p:sp>
      <p:sp>
        <p:nvSpPr>
          <p:cNvPr id="14" name="Text 12"/>
          <p:cNvSpPr txBox="1"/>
          <p:nvPr/>
        </p:nvSpPr>
        <p:spPr>
          <a:xfrm>
            <a:off x="5239512" y="2249424"/>
            <a:ext cx="2852928" cy="548640"/>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Außenmantel</a:t>
            </a:r>
            <a:endParaRPr lang="en-US" sz="1200" dirty="0"/>
          </a:p>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2–3 mm · PE oder LSZH, Schutz</a:t>
            </a:r>
            <a:endParaRPr lang="en-US" sz="1200" dirty="0"/>
          </a:p>
        </p:txBody>
      </p:sp>
      <p:sp>
        <p:nvSpPr>
          <p:cNvPr id="15" name="Shape 13"/>
          <p:cNvSpPr/>
          <p:nvPr/>
        </p:nvSpPr>
        <p:spPr>
          <a:xfrm>
            <a:off x="4892040" y="2880360"/>
            <a:ext cx="201168" cy="201168"/>
          </a:xfrm>
          <a:prstGeom prst="ellipse">
            <a:avLst/>
          </a:prstGeom>
          <a:solidFill>
            <a:srgbClr val="FF4FB0"/>
          </a:solidFill>
          <a:ln w="12700">
            <a:solidFill>
              <a:srgbClr val="FF4FB0"/>
            </a:solidFill>
            <a:prstDash val="solid"/>
          </a:ln>
        </p:spPr>
      </p:sp>
      <p:sp>
        <p:nvSpPr>
          <p:cNvPr id="16" name="Text 14"/>
          <p:cNvSpPr txBox="1"/>
          <p:nvPr/>
        </p:nvSpPr>
        <p:spPr>
          <a:xfrm>
            <a:off x="5239512" y="2852928"/>
            <a:ext cx="2852928" cy="548640"/>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Buffer + Aramid</a:t>
            </a:r>
            <a:endParaRPr lang="en-US" sz="1200" dirty="0"/>
          </a:p>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900 µm · Zugentlastung aus Aramid</a:t>
            </a:r>
            <a:endParaRPr lang="en-US" sz="1200" dirty="0"/>
          </a:p>
        </p:txBody>
      </p:sp>
      <p:sp>
        <p:nvSpPr>
          <p:cNvPr id="17" name="Shape 15"/>
          <p:cNvSpPr/>
          <p:nvPr/>
        </p:nvSpPr>
        <p:spPr>
          <a:xfrm>
            <a:off x="4892040" y="3483864"/>
            <a:ext cx="201168" cy="201168"/>
          </a:xfrm>
          <a:prstGeom prst="ellipse">
            <a:avLst/>
          </a:prstGeom>
          <a:solidFill>
            <a:srgbClr val="8AA4FF"/>
          </a:solidFill>
          <a:ln w="12700">
            <a:solidFill>
              <a:srgbClr val="8AA4FF"/>
            </a:solidFill>
            <a:prstDash val="solid"/>
          </a:ln>
        </p:spPr>
      </p:sp>
      <p:sp>
        <p:nvSpPr>
          <p:cNvPr id="18" name="Text 16"/>
          <p:cNvSpPr txBox="1"/>
          <p:nvPr/>
        </p:nvSpPr>
        <p:spPr>
          <a:xfrm>
            <a:off x="5239512" y="3456432"/>
            <a:ext cx="2852928" cy="548640"/>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Coating</a:t>
            </a:r>
            <a:endParaRPr lang="en-US" sz="1200" dirty="0"/>
          </a:p>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250 µm · Acrylat gegen Mikrorisse</a:t>
            </a:r>
            <a:endParaRPr lang="en-US" sz="1200" dirty="0"/>
          </a:p>
        </p:txBody>
      </p:sp>
      <p:sp>
        <p:nvSpPr>
          <p:cNvPr id="19" name="Shape 17"/>
          <p:cNvSpPr/>
          <p:nvPr/>
        </p:nvSpPr>
        <p:spPr>
          <a:xfrm>
            <a:off x="4892040" y="4087368"/>
            <a:ext cx="201168" cy="201168"/>
          </a:xfrm>
          <a:prstGeom prst="ellipse">
            <a:avLst/>
          </a:prstGeom>
          <a:solidFill>
            <a:srgbClr val="BFEFFF"/>
          </a:solidFill>
          <a:ln w="12700">
            <a:solidFill>
              <a:srgbClr val="BFEFFF"/>
            </a:solidFill>
            <a:prstDash val="solid"/>
          </a:ln>
        </p:spPr>
      </p:sp>
      <p:sp>
        <p:nvSpPr>
          <p:cNvPr id="20" name="Text 18"/>
          <p:cNvSpPr txBox="1"/>
          <p:nvPr/>
        </p:nvSpPr>
        <p:spPr>
          <a:xfrm>
            <a:off x="5239512" y="4059936"/>
            <a:ext cx="2852928" cy="548640"/>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Mantel</a:t>
            </a:r>
            <a:endParaRPr lang="en-US" sz="1200" dirty="0"/>
          </a:p>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125 µm · Quarzglas, n ≈ 1,46</a:t>
            </a:r>
            <a:endParaRPr lang="en-US" sz="1200" dirty="0"/>
          </a:p>
        </p:txBody>
      </p:sp>
      <p:sp>
        <p:nvSpPr>
          <p:cNvPr id="21" name="Shape 19"/>
          <p:cNvSpPr/>
          <p:nvPr/>
        </p:nvSpPr>
        <p:spPr>
          <a:xfrm>
            <a:off x="4892040" y="4690872"/>
            <a:ext cx="201168" cy="201168"/>
          </a:xfrm>
          <a:prstGeom prst="ellipse">
            <a:avLst/>
          </a:prstGeom>
          <a:solidFill>
            <a:srgbClr val="2EE6FF"/>
          </a:solidFill>
          <a:ln w="12700">
            <a:solidFill>
              <a:srgbClr val="2EE6FF"/>
            </a:solidFill>
            <a:prstDash val="solid"/>
          </a:ln>
        </p:spPr>
      </p:sp>
      <p:sp>
        <p:nvSpPr>
          <p:cNvPr id="22" name="Text 20"/>
          <p:cNvSpPr txBox="1"/>
          <p:nvPr/>
        </p:nvSpPr>
        <p:spPr>
          <a:xfrm>
            <a:off x="5239512" y="4663440"/>
            <a:ext cx="2852928" cy="548640"/>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Kern</a:t>
            </a:r>
            <a:endParaRPr lang="en-US" sz="1200" dirty="0"/>
          </a:p>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9 µm · dotiertes Quarzglas, n ≈ 1,48</a:t>
            </a:r>
            <a:endParaRPr lang="en-US" sz="1200" dirty="0"/>
          </a:p>
        </p:txBody>
      </p:sp>
      <p:sp>
        <p:nvSpPr>
          <p:cNvPr id="23" name="Shape 21"/>
          <p:cNvSpPr/>
          <p:nvPr/>
        </p:nvSpPr>
        <p:spPr>
          <a:xfrm>
            <a:off x="8412480" y="1874520"/>
            <a:ext cx="3212287" cy="2331720"/>
          </a:xfrm>
          <a:prstGeom prst="roundRect">
            <a:avLst>
              <a:gd name="adj" fmla="val 3922"/>
            </a:avLst>
          </a:prstGeom>
          <a:solidFill>
            <a:srgbClr val="111A36"/>
          </a:solidFill>
          <a:ln w="9525">
            <a:solidFill>
              <a:srgbClr val="26335C"/>
            </a:solidFill>
            <a:prstDash val="solid"/>
          </a:ln>
        </p:spPr>
      </p:sp>
      <p:sp>
        <p:nvSpPr>
          <p:cNvPr id="24" name="Text 22"/>
          <p:cNvSpPr txBox="1"/>
          <p:nvPr/>
        </p:nvSpPr>
        <p:spPr>
          <a:xfrm>
            <a:off x="8668512" y="2066544"/>
            <a:ext cx="2700223" cy="219456"/>
          </a:xfrm>
          <a:prstGeom prst="rect">
            <a:avLst/>
          </a:prstGeom>
          <a:noFill/>
          <a:ln/>
        </p:spPr>
        <p:txBody>
          <a:bodyPr wrap="square" lIns="0" tIns="0" rIns="0" bIns="0" rtlCol="0" anchor="ctr"/>
          <a:lstStyle/>
          <a:p>
            <a:pPr indent="0" marL="0">
              <a:buNone/>
            </a:pPr>
            <a:r>
              <a:rPr lang="en-US" sz="850" spc="100" kern="0" dirty="0">
                <a:solidFill>
                  <a:srgbClr val="2EE6FF"/>
                </a:solidFill>
                <a:latin typeface="Courier New" pitchFamily="34" charset="0"/>
                <a:ea typeface="Courier New" pitchFamily="34" charset="-122"/>
                <a:cs typeface="Courier New" pitchFamily="34" charset="-120"/>
              </a:rPr>
              <a:t>EIGENSCHAFTEN</a:t>
            </a:r>
            <a:endParaRPr lang="en-US" sz="850" dirty="0"/>
          </a:p>
        </p:txBody>
      </p:sp>
      <p:sp>
        <p:nvSpPr>
          <p:cNvPr id="25" name="Text 23"/>
          <p:cNvSpPr txBox="1"/>
          <p:nvPr/>
        </p:nvSpPr>
        <p:spPr>
          <a:xfrm>
            <a:off x="8668512" y="2340864"/>
            <a:ext cx="2700223" cy="347472"/>
          </a:xfrm>
          <a:prstGeom prst="rect">
            <a:avLst/>
          </a:prstGeom>
          <a:noFill/>
          <a:ln/>
        </p:spPr>
        <p:txBody>
          <a:bodyPr wrap="square" lIns="0" tIns="0" rIns="0" bIns="0" rtlCol="0" anchor="ctr"/>
          <a:lstStyle/>
          <a:p>
            <a:pPr indent="0" marL="0">
              <a:lnSpc>
                <a:spcPct val="100000"/>
              </a:lnSpc>
              <a:buNone/>
            </a:pPr>
            <a:r>
              <a:rPr lang="en-US" sz="900" dirty="0">
                <a:solidFill>
                  <a:srgbClr val="8E9BB8"/>
                </a:solidFill>
                <a:latin typeface="Courier New" pitchFamily="34" charset="0"/>
                <a:ea typeface="Courier New" pitchFamily="34" charset="-122"/>
                <a:cs typeface="Courier New" pitchFamily="34" charset="-120"/>
              </a:rPr>
              <a:t>Material</a:t>
            </a:r>
            <a:endParaRPr lang="en-US" sz="90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Quarzglas, dielektrisch — kein Metall</a:t>
            </a:r>
            <a:endParaRPr lang="en-US" sz="900" dirty="0"/>
          </a:p>
        </p:txBody>
      </p:sp>
      <p:sp>
        <p:nvSpPr>
          <p:cNvPr id="26" name="Text 24"/>
          <p:cNvSpPr txBox="1"/>
          <p:nvPr/>
        </p:nvSpPr>
        <p:spPr>
          <a:xfrm>
            <a:off x="8668512" y="2706624"/>
            <a:ext cx="2700223" cy="347472"/>
          </a:xfrm>
          <a:prstGeom prst="rect">
            <a:avLst/>
          </a:prstGeom>
          <a:noFill/>
          <a:ln/>
        </p:spPr>
        <p:txBody>
          <a:bodyPr wrap="square" lIns="0" tIns="0" rIns="0" bIns="0" rtlCol="0" anchor="ctr"/>
          <a:lstStyle/>
          <a:p>
            <a:pPr indent="0" marL="0">
              <a:lnSpc>
                <a:spcPct val="100000"/>
              </a:lnSpc>
              <a:buNone/>
            </a:pPr>
            <a:r>
              <a:rPr lang="en-US" sz="900" dirty="0">
                <a:solidFill>
                  <a:srgbClr val="8E9BB8"/>
                </a:solidFill>
                <a:latin typeface="Courier New" pitchFamily="34" charset="0"/>
                <a:ea typeface="Courier New" pitchFamily="34" charset="-122"/>
                <a:cs typeface="Courier New" pitchFamily="34" charset="-120"/>
              </a:rPr>
              <a:t>Dämpfung</a:t>
            </a:r>
            <a:endParaRPr lang="en-US" sz="90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0,35 dB/km @ 1310 nm · 0,2 dB/km @ 1550 nm</a:t>
            </a:r>
            <a:endParaRPr lang="en-US" sz="900" dirty="0"/>
          </a:p>
        </p:txBody>
      </p:sp>
      <p:sp>
        <p:nvSpPr>
          <p:cNvPr id="27" name="Text 25"/>
          <p:cNvSpPr txBox="1"/>
          <p:nvPr/>
        </p:nvSpPr>
        <p:spPr>
          <a:xfrm>
            <a:off x="8668512" y="3072384"/>
            <a:ext cx="2700223" cy="347472"/>
          </a:xfrm>
          <a:prstGeom prst="rect">
            <a:avLst/>
          </a:prstGeom>
          <a:noFill/>
          <a:ln/>
        </p:spPr>
        <p:txBody>
          <a:bodyPr wrap="square" lIns="0" tIns="0" rIns="0" bIns="0" rtlCol="0" anchor="ctr"/>
          <a:lstStyle/>
          <a:p>
            <a:pPr indent="0" marL="0">
              <a:lnSpc>
                <a:spcPct val="100000"/>
              </a:lnSpc>
              <a:buNone/>
            </a:pPr>
            <a:r>
              <a:rPr lang="en-US" sz="900" dirty="0">
                <a:solidFill>
                  <a:srgbClr val="8E9BB8"/>
                </a:solidFill>
                <a:latin typeface="Courier New" pitchFamily="34" charset="0"/>
                <a:ea typeface="Courier New" pitchFamily="34" charset="-122"/>
                <a:cs typeface="Courier New" pitchFamily="34" charset="-120"/>
              </a:rPr>
              <a:t>Ausbreitung</a:t>
            </a:r>
            <a:endParaRPr lang="en-US" sz="90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rund 200 000 km/s im Glas</a:t>
            </a:r>
            <a:endParaRPr lang="en-US" sz="900" dirty="0"/>
          </a:p>
        </p:txBody>
      </p:sp>
      <p:sp>
        <p:nvSpPr>
          <p:cNvPr id="28" name="Text 26"/>
          <p:cNvSpPr txBox="1"/>
          <p:nvPr/>
        </p:nvSpPr>
        <p:spPr>
          <a:xfrm>
            <a:off x="8668512" y="3438144"/>
            <a:ext cx="2700223" cy="347472"/>
          </a:xfrm>
          <a:prstGeom prst="rect">
            <a:avLst/>
          </a:prstGeom>
          <a:noFill/>
          <a:ln/>
        </p:spPr>
        <p:txBody>
          <a:bodyPr wrap="square" lIns="0" tIns="0" rIns="0" bIns="0" rtlCol="0" anchor="ctr"/>
          <a:lstStyle/>
          <a:p>
            <a:pPr indent="0" marL="0">
              <a:lnSpc>
                <a:spcPct val="100000"/>
              </a:lnSpc>
              <a:buNone/>
            </a:pPr>
            <a:r>
              <a:rPr lang="en-US" sz="900" dirty="0">
                <a:solidFill>
                  <a:srgbClr val="8E9BB8"/>
                </a:solidFill>
                <a:latin typeface="Courier New" pitchFamily="34" charset="0"/>
                <a:ea typeface="Courier New" pitchFamily="34" charset="-122"/>
                <a:cs typeface="Courier New" pitchFamily="34" charset="-120"/>
              </a:rPr>
              <a:t>Störfestigkeit</a:t>
            </a:r>
            <a:endParaRPr lang="en-US" sz="90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immun gegen EMV, kein Übersprechen</a:t>
            </a:r>
            <a:endParaRPr lang="en-US" sz="900" dirty="0"/>
          </a:p>
        </p:txBody>
      </p:sp>
      <p:sp>
        <p:nvSpPr>
          <p:cNvPr id="29" name="Text 27"/>
          <p:cNvSpPr txBox="1"/>
          <p:nvPr/>
        </p:nvSpPr>
        <p:spPr>
          <a:xfrm>
            <a:off x="8668512" y="3803904"/>
            <a:ext cx="2700223" cy="347472"/>
          </a:xfrm>
          <a:prstGeom prst="rect">
            <a:avLst/>
          </a:prstGeom>
          <a:noFill/>
          <a:ln/>
        </p:spPr>
        <p:txBody>
          <a:bodyPr wrap="square" lIns="0" tIns="0" rIns="0" bIns="0" rtlCol="0" anchor="ctr"/>
          <a:lstStyle/>
          <a:p>
            <a:pPr indent="0" marL="0">
              <a:lnSpc>
                <a:spcPct val="100000"/>
              </a:lnSpc>
              <a:buNone/>
            </a:pPr>
            <a:r>
              <a:rPr lang="en-US" sz="900" dirty="0">
                <a:solidFill>
                  <a:srgbClr val="8E9BB8"/>
                </a:solidFill>
                <a:latin typeface="Courier New" pitchFamily="34" charset="0"/>
                <a:ea typeface="Courier New" pitchFamily="34" charset="-122"/>
                <a:cs typeface="Courier New" pitchFamily="34" charset="-120"/>
              </a:rPr>
              <a:t>Grenze</a:t>
            </a:r>
            <a:endParaRPr lang="en-US" sz="90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Biegeradius ab 30 mm, Staub am Stecker</a:t>
            </a:r>
            <a:endParaRPr lang="en-US" sz="900" dirty="0"/>
          </a:p>
        </p:txBody>
      </p:sp>
      <p:sp>
        <p:nvSpPr>
          <p:cNvPr id="30" name="Shape 28"/>
          <p:cNvSpPr/>
          <p:nvPr/>
        </p:nvSpPr>
        <p:spPr>
          <a:xfrm>
            <a:off x="8412480" y="4370832"/>
            <a:ext cx="3212287" cy="749808"/>
          </a:xfrm>
          <a:prstGeom prst="roundRect">
            <a:avLst>
              <a:gd name="adj" fmla="val 12195"/>
            </a:avLst>
          </a:prstGeom>
          <a:solidFill>
            <a:srgbClr val="16224A"/>
          </a:solidFill>
          <a:ln w="9525">
            <a:solidFill>
              <a:srgbClr val="2EE6FF"/>
            </a:solidFill>
            <a:prstDash val="solid"/>
          </a:ln>
        </p:spPr>
      </p:sp>
      <p:sp>
        <p:nvSpPr>
          <p:cNvPr id="31" name="Text 29"/>
          <p:cNvSpPr txBox="1"/>
          <p:nvPr/>
        </p:nvSpPr>
        <p:spPr>
          <a:xfrm>
            <a:off x="8668512" y="4480560"/>
            <a:ext cx="2700223" cy="237744"/>
          </a:xfrm>
          <a:prstGeom prst="rect">
            <a:avLst/>
          </a:prstGeom>
          <a:noFill/>
          <a:ln/>
        </p:spPr>
        <p:txBody>
          <a:bodyPr wrap="square" lIns="0" tIns="0" rIns="0" bIns="0" rtlCol="0" anchor="ctr"/>
          <a:lstStyle/>
          <a:p>
            <a:pPr indent="0" marL="0">
              <a:buNone/>
            </a:pPr>
            <a:r>
              <a:rPr lang="en-US" sz="1200" b="1" dirty="0">
                <a:solidFill>
                  <a:srgbClr val="2EE6FF"/>
                </a:solidFill>
                <a:latin typeface="Calibri" pitchFamily="34" charset="0"/>
                <a:ea typeface="Calibri" pitchFamily="34" charset="-122"/>
                <a:cs typeface="Calibri" pitchFamily="34" charset="-120"/>
              </a:rPr>
              <a:t>Singlemode OS2</a:t>
            </a:r>
            <a:endParaRPr lang="en-US" sz="1200" dirty="0"/>
          </a:p>
        </p:txBody>
      </p:sp>
      <p:sp>
        <p:nvSpPr>
          <p:cNvPr id="32" name="Text 30"/>
          <p:cNvSpPr txBox="1"/>
          <p:nvPr/>
        </p:nvSpPr>
        <p:spPr>
          <a:xfrm>
            <a:off x="8668512" y="4718304"/>
            <a:ext cx="2700223" cy="365760"/>
          </a:xfrm>
          <a:prstGeom prst="rect">
            <a:avLst/>
          </a:prstGeom>
          <a:noFill/>
          <a:ln/>
        </p:spPr>
        <p:txBody>
          <a:bodyPr wrap="square" lIns="0" tIns="0" rIns="0" bIns="0" rtlCol="0" anchor="ctr"/>
          <a:lstStyle/>
          <a:p>
            <a:pPr indent="0" marL="0">
              <a:lnSpc>
                <a:spcPct val="105000"/>
              </a:lnSpc>
              <a:buNone/>
            </a:pPr>
            <a:r>
              <a:rPr lang="en-US" sz="1000" dirty="0">
                <a:solidFill>
                  <a:srgbClr val="8E9BB8"/>
                </a:solidFill>
                <a:latin typeface="Calibri" pitchFamily="34" charset="0"/>
                <a:ea typeface="Calibri" pitchFamily="34" charset="-122"/>
                <a:cs typeface="Calibri" pitchFamily="34" charset="-120"/>
              </a:rPr>
              <a:t>9 µm Kern · ein Lichtweg · Laser · bis 80 km · Standard für FTTH</a:t>
            </a:r>
            <a:endParaRPr lang="en-US" sz="1000" dirty="0"/>
          </a:p>
        </p:txBody>
      </p:sp>
      <p:sp>
        <p:nvSpPr>
          <p:cNvPr id="33" name="Shape 31"/>
          <p:cNvSpPr/>
          <p:nvPr/>
        </p:nvSpPr>
        <p:spPr>
          <a:xfrm>
            <a:off x="8412480" y="5239512"/>
            <a:ext cx="3212287" cy="749808"/>
          </a:xfrm>
          <a:prstGeom prst="roundRect">
            <a:avLst>
              <a:gd name="adj" fmla="val 12195"/>
            </a:avLst>
          </a:prstGeom>
          <a:solidFill>
            <a:srgbClr val="111A36"/>
          </a:solidFill>
          <a:ln w="9525">
            <a:solidFill>
              <a:srgbClr val="26335C"/>
            </a:solidFill>
            <a:prstDash val="solid"/>
          </a:ln>
        </p:spPr>
      </p:sp>
      <p:sp>
        <p:nvSpPr>
          <p:cNvPr id="34" name="Text 32"/>
          <p:cNvSpPr txBox="1"/>
          <p:nvPr/>
        </p:nvSpPr>
        <p:spPr>
          <a:xfrm>
            <a:off x="8668512" y="5349240"/>
            <a:ext cx="2700223"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Multimode OM3–OM5</a:t>
            </a:r>
            <a:endParaRPr lang="en-US" sz="1200" dirty="0"/>
          </a:p>
        </p:txBody>
      </p:sp>
      <p:sp>
        <p:nvSpPr>
          <p:cNvPr id="35" name="Text 33"/>
          <p:cNvSpPr txBox="1"/>
          <p:nvPr/>
        </p:nvSpPr>
        <p:spPr>
          <a:xfrm>
            <a:off x="8668512" y="5586984"/>
            <a:ext cx="2700223" cy="365760"/>
          </a:xfrm>
          <a:prstGeom prst="rect">
            <a:avLst/>
          </a:prstGeom>
          <a:noFill/>
          <a:ln/>
        </p:spPr>
        <p:txBody>
          <a:bodyPr wrap="square" lIns="0" tIns="0" rIns="0" bIns="0" rtlCol="0" anchor="ctr"/>
          <a:lstStyle/>
          <a:p>
            <a:pPr indent="0" marL="0">
              <a:lnSpc>
                <a:spcPct val="105000"/>
              </a:lnSpc>
              <a:buNone/>
            </a:pPr>
            <a:r>
              <a:rPr lang="en-US" sz="1000" dirty="0">
                <a:solidFill>
                  <a:srgbClr val="8E9BB8"/>
                </a:solidFill>
                <a:latin typeface="Calibri" pitchFamily="34" charset="0"/>
                <a:ea typeface="Calibri" pitchFamily="34" charset="-122"/>
                <a:cs typeface="Calibri" pitchFamily="34" charset="-120"/>
              </a:rPr>
              <a:t>50 µm Kern · viele Lichtwege · LED/VCSEL · bis 550 m · Gebäude-LAN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03</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Wie weit reicht das Glas?</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FTTx sagt, wo die Glasfaser endet und ab wo wieder Kupfer übernimmt. Je näher am Endgerät, desto höher die mögliche Rate.</a:t>
            </a:r>
            <a:endParaRPr lang="en-US" sz="1350" dirty="0"/>
          </a:p>
        </p:txBody>
      </p:sp>
      <p:sp>
        <p:nvSpPr>
          <p:cNvPr id="5" name="Text 3"/>
          <p:cNvSpPr txBox="1"/>
          <p:nvPr/>
        </p:nvSpPr>
        <p:spPr>
          <a:xfrm>
            <a:off x="1801368" y="1737360"/>
            <a:ext cx="1280160" cy="201168"/>
          </a:xfrm>
          <a:prstGeom prst="rect">
            <a:avLst/>
          </a:prstGeom>
          <a:noFill/>
          <a:ln/>
        </p:spPr>
        <p:txBody>
          <a:bodyPr wrap="square" lIns="0" tIns="0" rIns="0" bIns="0" rtlCol="0" anchor="ctr"/>
          <a:lstStyle/>
          <a:p>
            <a:pPr algn="ctr" indent="0" marL="0">
              <a:buNone/>
            </a:pPr>
            <a:r>
              <a:rPr lang="en-US" sz="800" dirty="0">
                <a:solidFill>
                  <a:srgbClr val="8E9BB8"/>
                </a:solidFill>
                <a:latin typeface="Courier New" pitchFamily="34" charset="0"/>
                <a:ea typeface="Courier New" pitchFamily="34" charset="-122"/>
                <a:cs typeface="Courier New" pitchFamily="34" charset="-120"/>
              </a:rPr>
              <a:t>PoP</a:t>
            </a:r>
            <a:endParaRPr lang="en-US" sz="800" dirty="0"/>
          </a:p>
        </p:txBody>
      </p:sp>
      <p:sp>
        <p:nvSpPr>
          <p:cNvPr id="6" name="Text 4"/>
          <p:cNvSpPr txBox="1"/>
          <p:nvPr/>
        </p:nvSpPr>
        <p:spPr>
          <a:xfrm>
            <a:off x="3371088" y="1737360"/>
            <a:ext cx="1280160" cy="201168"/>
          </a:xfrm>
          <a:prstGeom prst="rect">
            <a:avLst/>
          </a:prstGeom>
          <a:noFill/>
          <a:ln/>
        </p:spPr>
        <p:txBody>
          <a:bodyPr wrap="square" lIns="0" tIns="0" rIns="0" bIns="0" rtlCol="0" anchor="ctr"/>
          <a:lstStyle/>
          <a:p>
            <a:pPr algn="ctr" indent="0" marL="0">
              <a:buNone/>
            </a:pPr>
            <a:r>
              <a:rPr lang="en-US" sz="800" dirty="0">
                <a:solidFill>
                  <a:srgbClr val="8E9BB8"/>
                </a:solidFill>
                <a:latin typeface="Courier New" pitchFamily="34" charset="0"/>
                <a:ea typeface="Courier New" pitchFamily="34" charset="-122"/>
                <a:cs typeface="Courier New" pitchFamily="34" charset="-120"/>
              </a:rPr>
              <a:t>Kabelverzweiger</a:t>
            </a:r>
            <a:endParaRPr lang="en-US" sz="800" dirty="0"/>
          </a:p>
        </p:txBody>
      </p:sp>
      <p:sp>
        <p:nvSpPr>
          <p:cNvPr id="7" name="Text 5"/>
          <p:cNvSpPr txBox="1"/>
          <p:nvPr/>
        </p:nvSpPr>
        <p:spPr>
          <a:xfrm>
            <a:off x="4940808" y="1737360"/>
            <a:ext cx="1280160" cy="201168"/>
          </a:xfrm>
          <a:prstGeom prst="rect">
            <a:avLst/>
          </a:prstGeom>
          <a:noFill/>
          <a:ln/>
        </p:spPr>
        <p:txBody>
          <a:bodyPr wrap="square" lIns="0" tIns="0" rIns="0" bIns="0" rtlCol="0" anchor="ctr"/>
          <a:lstStyle/>
          <a:p>
            <a:pPr algn="ctr" indent="0" marL="0">
              <a:buNone/>
            </a:pPr>
            <a:r>
              <a:rPr lang="en-US" sz="800" dirty="0">
                <a:solidFill>
                  <a:srgbClr val="8E9BB8"/>
                </a:solidFill>
                <a:latin typeface="Courier New" pitchFamily="34" charset="0"/>
                <a:ea typeface="Courier New" pitchFamily="34" charset="-122"/>
                <a:cs typeface="Courier New" pitchFamily="34" charset="-120"/>
              </a:rPr>
              <a:t>Keller</a:t>
            </a:r>
            <a:endParaRPr lang="en-US" sz="800" dirty="0"/>
          </a:p>
        </p:txBody>
      </p:sp>
      <p:sp>
        <p:nvSpPr>
          <p:cNvPr id="8" name="Text 6"/>
          <p:cNvSpPr txBox="1"/>
          <p:nvPr/>
        </p:nvSpPr>
        <p:spPr>
          <a:xfrm>
            <a:off x="6510528" y="1737360"/>
            <a:ext cx="1280160" cy="201168"/>
          </a:xfrm>
          <a:prstGeom prst="rect">
            <a:avLst/>
          </a:prstGeom>
          <a:noFill/>
          <a:ln/>
        </p:spPr>
        <p:txBody>
          <a:bodyPr wrap="square" lIns="0" tIns="0" rIns="0" bIns="0" rtlCol="0" anchor="ctr"/>
          <a:lstStyle/>
          <a:p>
            <a:pPr algn="ctr" indent="0" marL="0">
              <a:buNone/>
            </a:pPr>
            <a:r>
              <a:rPr lang="en-US" sz="800" dirty="0">
                <a:solidFill>
                  <a:srgbClr val="8E9BB8"/>
                </a:solidFill>
                <a:latin typeface="Courier New" pitchFamily="34" charset="0"/>
                <a:ea typeface="Courier New" pitchFamily="34" charset="-122"/>
                <a:cs typeface="Courier New" pitchFamily="34" charset="-120"/>
              </a:rPr>
              <a:t>Büro</a:t>
            </a:r>
            <a:endParaRPr lang="en-US" sz="800" dirty="0"/>
          </a:p>
        </p:txBody>
      </p:sp>
      <p:sp>
        <p:nvSpPr>
          <p:cNvPr id="9" name="Text 7"/>
          <p:cNvSpPr txBox="1"/>
          <p:nvPr/>
        </p:nvSpPr>
        <p:spPr>
          <a:xfrm>
            <a:off x="566928" y="2029968"/>
            <a:ext cx="1737360" cy="237744"/>
          </a:xfrm>
          <a:prstGeom prst="rect">
            <a:avLst/>
          </a:prstGeom>
          <a:noFill/>
          <a:ln/>
        </p:spPr>
        <p:txBody>
          <a:bodyPr wrap="square" lIns="0" tIns="0" rIns="0" bIns="0" rtlCol="0" anchor="ctr"/>
          <a:lstStyle/>
          <a:p>
            <a:pPr indent="0" marL="0">
              <a:buNone/>
            </a:pPr>
            <a:r>
              <a:rPr lang="en-US" sz="1500" b="1" dirty="0">
                <a:solidFill>
                  <a:srgbClr val="E9EFFA"/>
                </a:solidFill>
                <a:latin typeface="Calibri" pitchFamily="34" charset="0"/>
                <a:ea typeface="Calibri" pitchFamily="34" charset="-122"/>
                <a:cs typeface="Calibri" pitchFamily="34" charset="-120"/>
              </a:rPr>
              <a:t>FTTC</a:t>
            </a:r>
            <a:endParaRPr lang="en-US" sz="1500" dirty="0"/>
          </a:p>
        </p:txBody>
      </p:sp>
      <p:sp>
        <p:nvSpPr>
          <p:cNvPr id="10" name="Text 8"/>
          <p:cNvSpPr txBox="1"/>
          <p:nvPr/>
        </p:nvSpPr>
        <p:spPr>
          <a:xfrm>
            <a:off x="566928" y="2267712"/>
            <a:ext cx="1737360" cy="201168"/>
          </a:xfrm>
          <a:prstGeom prst="rect">
            <a:avLst/>
          </a:prstGeom>
          <a:noFill/>
          <a:ln/>
        </p:spPr>
        <p:txBody>
          <a:bodyPr wrap="square" lIns="0" tIns="0" rIns="0" bIns="0" rtlCol="0" anchor="ctr"/>
          <a:lstStyle/>
          <a:p>
            <a:pPr indent="0" marL="0">
              <a:buNone/>
            </a:pPr>
            <a:r>
              <a:rPr lang="en-US" sz="900" dirty="0">
                <a:solidFill>
                  <a:srgbClr val="8E9BB8"/>
                </a:solidFill>
                <a:latin typeface="Calibri" pitchFamily="34" charset="0"/>
                <a:ea typeface="Calibri" pitchFamily="34" charset="-122"/>
                <a:cs typeface="Calibri" pitchFamily="34" charset="-120"/>
              </a:rPr>
              <a:t>Fiber to the Curb</a:t>
            </a:r>
            <a:endParaRPr lang="en-US" sz="900" dirty="0"/>
          </a:p>
        </p:txBody>
      </p:sp>
      <p:sp>
        <p:nvSpPr>
          <p:cNvPr id="11" name="Shape 9"/>
          <p:cNvSpPr/>
          <p:nvPr/>
        </p:nvSpPr>
        <p:spPr>
          <a:xfrm>
            <a:off x="2441448" y="2103120"/>
            <a:ext cx="1177290" cy="182880"/>
          </a:xfrm>
          <a:prstGeom prst="roundRect">
            <a:avLst>
              <a:gd name="adj" fmla="val 50000"/>
            </a:avLst>
          </a:prstGeom>
          <a:solidFill>
            <a:srgbClr val="1FA8C4"/>
          </a:solidFill>
          <a:ln w="12700">
            <a:solidFill>
              <a:srgbClr val="333333"/>
            </a:solidFill>
            <a:prstDash val="solid"/>
          </a:ln>
        </p:spPr>
      </p:sp>
      <p:sp>
        <p:nvSpPr>
          <p:cNvPr id="12" name="Shape 10"/>
          <p:cNvSpPr/>
          <p:nvPr/>
        </p:nvSpPr>
        <p:spPr>
          <a:xfrm>
            <a:off x="3618738" y="2103120"/>
            <a:ext cx="3531870" cy="182880"/>
          </a:xfrm>
          <a:prstGeom prst="roundRect">
            <a:avLst>
              <a:gd name="adj" fmla="val 50000"/>
            </a:avLst>
          </a:prstGeom>
          <a:solidFill>
            <a:srgbClr val="C97B3A"/>
          </a:solidFill>
          <a:ln w="12700">
            <a:solidFill>
              <a:srgbClr val="333333"/>
            </a:solidFill>
            <a:prstDash val="solid"/>
          </a:ln>
        </p:spPr>
      </p:sp>
      <p:sp>
        <p:nvSpPr>
          <p:cNvPr id="13" name="Text 11"/>
          <p:cNvSpPr txBox="1"/>
          <p:nvPr/>
        </p:nvSpPr>
        <p:spPr>
          <a:xfrm>
            <a:off x="7315200" y="2084832"/>
            <a:ext cx="1143000" cy="219456"/>
          </a:xfrm>
          <a:prstGeom prst="rect">
            <a:avLst/>
          </a:prstGeom>
          <a:noFill/>
          <a:ln/>
        </p:spPr>
        <p:txBody>
          <a:bodyPr wrap="square" lIns="0" tIns="0" rIns="0" bIns="0" rtlCol="0" anchor="ctr"/>
          <a:lstStyle/>
          <a:p>
            <a:pPr indent="0" marL="0">
              <a:buNone/>
            </a:pPr>
            <a:r>
              <a:rPr lang="en-US" sz="1000" dirty="0">
                <a:solidFill>
                  <a:srgbClr val="8E9BB8"/>
                </a:solidFill>
                <a:latin typeface="Courier New" pitchFamily="34" charset="0"/>
                <a:ea typeface="Courier New" pitchFamily="34" charset="-122"/>
                <a:cs typeface="Courier New" pitchFamily="34" charset="-120"/>
              </a:rPr>
              <a:t>bis 250 Mbit/s</a:t>
            </a:r>
            <a:endParaRPr lang="en-US" sz="1000" dirty="0"/>
          </a:p>
        </p:txBody>
      </p:sp>
      <p:sp>
        <p:nvSpPr>
          <p:cNvPr id="14" name="Text 12"/>
          <p:cNvSpPr txBox="1"/>
          <p:nvPr/>
        </p:nvSpPr>
        <p:spPr>
          <a:xfrm>
            <a:off x="2441448" y="2304288"/>
            <a:ext cx="4709160" cy="201168"/>
          </a:xfrm>
          <a:prstGeom prst="rect">
            <a:avLst/>
          </a:prstGeom>
          <a:noFill/>
          <a:ln/>
        </p:spPr>
        <p:txBody>
          <a:bodyPr wrap="square" lIns="0" tIns="0" rIns="0" bIns="0" rtlCol="0" anchor="ctr"/>
          <a:lstStyle/>
          <a:p>
            <a:pPr indent="0" marL="0">
              <a:buNone/>
            </a:pPr>
            <a:r>
              <a:rPr lang="en-US" sz="950" dirty="0">
                <a:solidFill>
                  <a:srgbClr val="8E9BB8"/>
                </a:solidFill>
                <a:latin typeface="Calibri" pitchFamily="34" charset="0"/>
                <a:ea typeface="Calibri" pitchFamily="34" charset="-122"/>
                <a:cs typeface="Calibri" pitchFamily="34" charset="-120"/>
              </a:rPr>
              <a:t>Glas bis zum Kabelverzweiger, dann VDSL</a:t>
            </a:r>
            <a:endParaRPr lang="en-US" sz="950" dirty="0"/>
          </a:p>
        </p:txBody>
      </p:sp>
      <p:sp>
        <p:nvSpPr>
          <p:cNvPr id="15" name="Text 13"/>
          <p:cNvSpPr txBox="1"/>
          <p:nvPr/>
        </p:nvSpPr>
        <p:spPr>
          <a:xfrm>
            <a:off x="566928" y="2560320"/>
            <a:ext cx="1737360" cy="237744"/>
          </a:xfrm>
          <a:prstGeom prst="rect">
            <a:avLst/>
          </a:prstGeom>
          <a:noFill/>
          <a:ln/>
        </p:spPr>
        <p:txBody>
          <a:bodyPr wrap="square" lIns="0" tIns="0" rIns="0" bIns="0" rtlCol="0" anchor="ctr"/>
          <a:lstStyle/>
          <a:p>
            <a:pPr indent="0" marL="0">
              <a:buNone/>
            </a:pPr>
            <a:r>
              <a:rPr lang="en-US" sz="1500" b="1" dirty="0">
                <a:solidFill>
                  <a:srgbClr val="E9EFFA"/>
                </a:solidFill>
                <a:latin typeface="Calibri" pitchFamily="34" charset="0"/>
                <a:ea typeface="Calibri" pitchFamily="34" charset="-122"/>
                <a:cs typeface="Calibri" pitchFamily="34" charset="-120"/>
              </a:rPr>
              <a:t>FTTdp</a:t>
            </a:r>
            <a:endParaRPr lang="en-US" sz="1500" dirty="0"/>
          </a:p>
        </p:txBody>
      </p:sp>
      <p:sp>
        <p:nvSpPr>
          <p:cNvPr id="16" name="Text 14"/>
          <p:cNvSpPr txBox="1"/>
          <p:nvPr/>
        </p:nvSpPr>
        <p:spPr>
          <a:xfrm>
            <a:off x="566928" y="2798064"/>
            <a:ext cx="1737360" cy="201168"/>
          </a:xfrm>
          <a:prstGeom prst="rect">
            <a:avLst/>
          </a:prstGeom>
          <a:noFill/>
          <a:ln/>
        </p:spPr>
        <p:txBody>
          <a:bodyPr wrap="square" lIns="0" tIns="0" rIns="0" bIns="0" rtlCol="0" anchor="ctr"/>
          <a:lstStyle/>
          <a:p>
            <a:pPr indent="0" marL="0">
              <a:buNone/>
            </a:pPr>
            <a:r>
              <a:rPr lang="en-US" sz="900" dirty="0">
                <a:solidFill>
                  <a:srgbClr val="8E9BB8"/>
                </a:solidFill>
                <a:latin typeface="Calibri" pitchFamily="34" charset="0"/>
                <a:ea typeface="Calibri" pitchFamily="34" charset="-122"/>
                <a:cs typeface="Calibri" pitchFamily="34" charset="-120"/>
              </a:rPr>
              <a:t>to the distribution point</a:t>
            </a:r>
            <a:endParaRPr lang="en-US" sz="900" dirty="0"/>
          </a:p>
        </p:txBody>
      </p:sp>
      <p:sp>
        <p:nvSpPr>
          <p:cNvPr id="17" name="Shape 15"/>
          <p:cNvSpPr/>
          <p:nvPr/>
        </p:nvSpPr>
        <p:spPr>
          <a:xfrm>
            <a:off x="2441448" y="2633472"/>
            <a:ext cx="2354580" cy="182880"/>
          </a:xfrm>
          <a:prstGeom prst="roundRect">
            <a:avLst>
              <a:gd name="adj" fmla="val 50000"/>
            </a:avLst>
          </a:prstGeom>
          <a:solidFill>
            <a:srgbClr val="1FA8C4"/>
          </a:solidFill>
          <a:ln w="12700">
            <a:solidFill>
              <a:srgbClr val="333333"/>
            </a:solidFill>
            <a:prstDash val="solid"/>
          </a:ln>
        </p:spPr>
      </p:sp>
      <p:sp>
        <p:nvSpPr>
          <p:cNvPr id="18" name="Shape 16"/>
          <p:cNvSpPr/>
          <p:nvPr/>
        </p:nvSpPr>
        <p:spPr>
          <a:xfrm>
            <a:off x="4796028" y="2633472"/>
            <a:ext cx="2354580" cy="182880"/>
          </a:xfrm>
          <a:prstGeom prst="roundRect">
            <a:avLst>
              <a:gd name="adj" fmla="val 50000"/>
            </a:avLst>
          </a:prstGeom>
          <a:solidFill>
            <a:srgbClr val="C97B3A"/>
          </a:solidFill>
          <a:ln w="12700">
            <a:solidFill>
              <a:srgbClr val="333333"/>
            </a:solidFill>
            <a:prstDash val="solid"/>
          </a:ln>
        </p:spPr>
      </p:sp>
      <p:sp>
        <p:nvSpPr>
          <p:cNvPr id="19" name="Text 17"/>
          <p:cNvSpPr txBox="1"/>
          <p:nvPr/>
        </p:nvSpPr>
        <p:spPr>
          <a:xfrm>
            <a:off x="7315200" y="2615184"/>
            <a:ext cx="1143000" cy="219456"/>
          </a:xfrm>
          <a:prstGeom prst="rect">
            <a:avLst/>
          </a:prstGeom>
          <a:noFill/>
          <a:ln/>
        </p:spPr>
        <p:txBody>
          <a:bodyPr wrap="square" lIns="0" tIns="0" rIns="0" bIns="0" rtlCol="0" anchor="ctr"/>
          <a:lstStyle/>
          <a:p>
            <a:pPr indent="0" marL="0">
              <a:buNone/>
            </a:pPr>
            <a:r>
              <a:rPr lang="en-US" sz="1000" dirty="0">
                <a:solidFill>
                  <a:srgbClr val="8E9BB8"/>
                </a:solidFill>
                <a:latin typeface="Courier New" pitchFamily="34" charset="0"/>
                <a:ea typeface="Courier New" pitchFamily="34" charset="-122"/>
                <a:cs typeface="Courier New" pitchFamily="34" charset="-120"/>
              </a:rPr>
              <a:t>bis 500 Mbit/s</a:t>
            </a:r>
            <a:endParaRPr lang="en-US" sz="1000" dirty="0"/>
          </a:p>
        </p:txBody>
      </p:sp>
      <p:sp>
        <p:nvSpPr>
          <p:cNvPr id="20" name="Text 18"/>
          <p:cNvSpPr txBox="1"/>
          <p:nvPr/>
        </p:nvSpPr>
        <p:spPr>
          <a:xfrm>
            <a:off x="2441448" y="2834640"/>
            <a:ext cx="4709160" cy="201168"/>
          </a:xfrm>
          <a:prstGeom prst="rect">
            <a:avLst/>
          </a:prstGeom>
          <a:noFill/>
          <a:ln/>
        </p:spPr>
        <p:txBody>
          <a:bodyPr wrap="square" lIns="0" tIns="0" rIns="0" bIns="0" rtlCol="0" anchor="ctr"/>
          <a:lstStyle/>
          <a:p>
            <a:pPr indent="0" marL="0">
              <a:buNone/>
            </a:pPr>
            <a:r>
              <a:rPr lang="en-US" sz="950" dirty="0">
                <a:solidFill>
                  <a:srgbClr val="8E9BB8"/>
                </a:solidFill>
                <a:latin typeface="Calibri" pitchFamily="34" charset="0"/>
                <a:ea typeface="Calibri" pitchFamily="34" charset="-122"/>
                <a:cs typeface="Calibri" pitchFamily="34" charset="-120"/>
              </a:rPr>
              <a:t>Glas bis kurz vors Haus, letzte Meter G.fast</a:t>
            </a:r>
            <a:endParaRPr lang="en-US" sz="950" dirty="0"/>
          </a:p>
        </p:txBody>
      </p:sp>
      <p:sp>
        <p:nvSpPr>
          <p:cNvPr id="21" name="Text 19"/>
          <p:cNvSpPr txBox="1"/>
          <p:nvPr/>
        </p:nvSpPr>
        <p:spPr>
          <a:xfrm>
            <a:off x="566928" y="3090672"/>
            <a:ext cx="1737360" cy="237744"/>
          </a:xfrm>
          <a:prstGeom prst="rect">
            <a:avLst/>
          </a:prstGeom>
          <a:noFill/>
          <a:ln/>
        </p:spPr>
        <p:txBody>
          <a:bodyPr wrap="square" lIns="0" tIns="0" rIns="0" bIns="0" rtlCol="0" anchor="ctr"/>
          <a:lstStyle/>
          <a:p>
            <a:pPr indent="0" marL="0">
              <a:buNone/>
            </a:pPr>
            <a:r>
              <a:rPr lang="en-US" sz="1500" b="1" dirty="0">
                <a:solidFill>
                  <a:srgbClr val="E9EFFA"/>
                </a:solidFill>
                <a:latin typeface="Calibri" pitchFamily="34" charset="0"/>
                <a:ea typeface="Calibri" pitchFamily="34" charset="-122"/>
                <a:cs typeface="Calibri" pitchFamily="34" charset="-120"/>
              </a:rPr>
              <a:t>FTTB</a:t>
            </a:r>
            <a:endParaRPr lang="en-US" sz="1500" dirty="0"/>
          </a:p>
        </p:txBody>
      </p:sp>
      <p:sp>
        <p:nvSpPr>
          <p:cNvPr id="22" name="Text 20"/>
          <p:cNvSpPr txBox="1"/>
          <p:nvPr/>
        </p:nvSpPr>
        <p:spPr>
          <a:xfrm>
            <a:off x="566928" y="3328416"/>
            <a:ext cx="1737360" cy="201168"/>
          </a:xfrm>
          <a:prstGeom prst="rect">
            <a:avLst/>
          </a:prstGeom>
          <a:noFill/>
          <a:ln/>
        </p:spPr>
        <p:txBody>
          <a:bodyPr wrap="square" lIns="0" tIns="0" rIns="0" bIns="0" rtlCol="0" anchor="ctr"/>
          <a:lstStyle/>
          <a:p>
            <a:pPr indent="0" marL="0">
              <a:buNone/>
            </a:pPr>
            <a:r>
              <a:rPr lang="en-US" sz="900" dirty="0">
                <a:solidFill>
                  <a:srgbClr val="8E9BB8"/>
                </a:solidFill>
                <a:latin typeface="Calibri" pitchFamily="34" charset="0"/>
                <a:ea typeface="Calibri" pitchFamily="34" charset="-122"/>
                <a:cs typeface="Calibri" pitchFamily="34" charset="-120"/>
              </a:rPr>
              <a:t>Fiber to the Building</a:t>
            </a:r>
            <a:endParaRPr lang="en-US" sz="900" dirty="0"/>
          </a:p>
        </p:txBody>
      </p:sp>
      <p:sp>
        <p:nvSpPr>
          <p:cNvPr id="23" name="Shape 21"/>
          <p:cNvSpPr/>
          <p:nvPr/>
        </p:nvSpPr>
        <p:spPr>
          <a:xfrm>
            <a:off x="2441448" y="3163824"/>
            <a:ext cx="3673145" cy="182880"/>
          </a:xfrm>
          <a:prstGeom prst="roundRect">
            <a:avLst>
              <a:gd name="adj" fmla="val 50000"/>
            </a:avLst>
          </a:prstGeom>
          <a:solidFill>
            <a:srgbClr val="1FA8C4"/>
          </a:solidFill>
          <a:ln w="12700">
            <a:solidFill>
              <a:srgbClr val="333333"/>
            </a:solidFill>
            <a:prstDash val="solid"/>
          </a:ln>
        </p:spPr>
      </p:sp>
      <p:sp>
        <p:nvSpPr>
          <p:cNvPr id="24" name="Shape 22"/>
          <p:cNvSpPr/>
          <p:nvPr/>
        </p:nvSpPr>
        <p:spPr>
          <a:xfrm>
            <a:off x="6114593" y="3163824"/>
            <a:ext cx="1036015" cy="182880"/>
          </a:xfrm>
          <a:prstGeom prst="roundRect">
            <a:avLst>
              <a:gd name="adj" fmla="val 50000"/>
            </a:avLst>
          </a:prstGeom>
          <a:solidFill>
            <a:srgbClr val="C97B3A"/>
          </a:solidFill>
          <a:ln w="12700">
            <a:solidFill>
              <a:srgbClr val="333333"/>
            </a:solidFill>
            <a:prstDash val="solid"/>
          </a:ln>
        </p:spPr>
      </p:sp>
      <p:sp>
        <p:nvSpPr>
          <p:cNvPr id="25" name="Text 23"/>
          <p:cNvSpPr txBox="1"/>
          <p:nvPr/>
        </p:nvSpPr>
        <p:spPr>
          <a:xfrm>
            <a:off x="7315200" y="3145536"/>
            <a:ext cx="1143000" cy="219456"/>
          </a:xfrm>
          <a:prstGeom prst="rect">
            <a:avLst/>
          </a:prstGeom>
          <a:noFill/>
          <a:ln/>
        </p:spPr>
        <p:txBody>
          <a:bodyPr wrap="square" lIns="0" tIns="0" rIns="0" bIns="0" rtlCol="0" anchor="ctr"/>
          <a:lstStyle/>
          <a:p>
            <a:pPr indent="0" marL="0">
              <a:buNone/>
            </a:pPr>
            <a:r>
              <a:rPr lang="en-US" sz="1000" dirty="0">
                <a:solidFill>
                  <a:srgbClr val="8E9BB8"/>
                </a:solidFill>
                <a:latin typeface="Courier New" pitchFamily="34" charset="0"/>
                <a:ea typeface="Courier New" pitchFamily="34" charset="-122"/>
                <a:cs typeface="Courier New" pitchFamily="34" charset="-120"/>
              </a:rPr>
              <a:t>bis 1 Gbit/s</a:t>
            </a:r>
            <a:endParaRPr lang="en-US" sz="1000" dirty="0"/>
          </a:p>
        </p:txBody>
      </p:sp>
      <p:sp>
        <p:nvSpPr>
          <p:cNvPr id="26" name="Text 24"/>
          <p:cNvSpPr txBox="1"/>
          <p:nvPr/>
        </p:nvSpPr>
        <p:spPr>
          <a:xfrm>
            <a:off x="2441448" y="3364992"/>
            <a:ext cx="4709160" cy="201168"/>
          </a:xfrm>
          <a:prstGeom prst="rect">
            <a:avLst/>
          </a:prstGeom>
          <a:noFill/>
          <a:ln/>
        </p:spPr>
        <p:txBody>
          <a:bodyPr wrap="square" lIns="0" tIns="0" rIns="0" bIns="0" rtlCol="0" anchor="ctr"/>
          <a:lstStyle/>
          <a:p>
            <a:pPr indent="0" marL="0">
              <a:buNone/>
            </a:pPr>
            <a:r>
              <a:rPr lang="en-US" sz="950" dirty="0">
                <a:solidFill>
                  <a:srgbClr val="8E9BB8"/>
                </a:solidFill>
                <a:latin typeface="Calibri" pitchFamily="34" charset="0"/>
                <a:ea typeface="Calibri" pitchFamily="34" charset="-122"/>
                <a:cs typeface="Calibri" pitchFamily="34" charset="-120"/>
              </a:rPr>
              <a:t>Glas bis in den Keller, im Haus Kupfer</a:t>
            </a:r>
            <a:endParaRPr lang="en-US" sz="950" dirty="0"/>
          </a:p>
        </p:txBody>
      </p:sp>
      <p:sp>
        <p:nvSpPr>
          <p:cNvPr id="27" name="Text 25"/>
          <p:cNvSpPr txBox="1"/>
          <p:nvPr/>
        </p:nvSpPr>
        <p:spPr>
          <a:xfrm>
            <a:off x="566928" y="3621024"/>
            <a:ext cx="1737360" cy="237744"/>
          </a:xfrm>
          <a:prstGeom prst="rect">
            <a:avLst/>
          </a:prstGeom>
          <a:noFill/>
          <a:ln/>
        </p:spPr>
        <p:txBody>
          <a:bodyPr wrap="square" lIns="0" tIns="0" rIns="0" bIns="0" rtlCol="0" anchor="ctr"/>
          <a:lstStyle/>
          <a:p>
            <a:pPr indent="0" marL="0">
              <a:buNone/>
            </a:pPr>
            <a:r>
              <a:rPr lang="en-US" sz="1500" b="1" dirty="0">
                <a:solidFill>
                  <a:srgbClr val="2EE6FF"/>
                </a:solidFill>
                <a:latin typeface="Calibri" pitchFamily="34" charset="0"/>
                <a:ea typeface="Calibri" pitchFamily="34" charset="-122"/>
                <a:cs typeface="Calibri" pitchFamily="34" charset="-120"/>
              </a:rPr>
              <a:t>FTTH</a:t>
            </a:r>
            <a:endParaRPr lang="en-US" sz="1500" dirty="0"/>
          </a:p>
        </p:txBody>
      </p:sp>
      <p:sp>
        <p:nvSpPr>
          <p:cNvPr id="28" name="Text 26"/>
          <p:cNvSpPr txBox="1"/>
          <p:nvPr/>
        </p:nvSpPr>
        <p:spPr>
          <a:xfrm>
            <a:off x="566928" y="3858768"/>
            <a:ext cx="1737360" cy="201168"/>
          </a:xfrm>
          <a:prstGeom prst="rect">
            <a:avLst/>
          </a:prstGeom>
          <a:noFill/>
          <a:ln/>
        </p:spPr>
        <p:txBody>
          <a:bodyPr wrap="square" lIns="0" tIns="0" rIns="0" bIns="0" rtlCol="0" anchor="ctr"/>
          <a:lstStyle/>
          <a:p>
            <a:pPr indent="0" marL="0">
              <a:buNone/>
            </a:pPr>
            <a:r>
              <a:rPr lang="en-US" sz="900" dirty="0">
                <a:solidFill>
                  <a:srgbClr val="8E9BB8"/>
                </a:solidFill>
                <a:latin typeface="Calibri" pitchFamily="34" charset="0"/>
                <a:ea typeface="Calibri" pitchFamily="34" charset="-122"/>
                <a:cs typeface="Calibri" pitchFamily="34" charset="-120"/>
              </a:rPr>
              <a:t>Fiber to the Home</a:t>
            </a:r>
            <a:endParaRPr lang="en-US" sz="900" dirty="0"/>
          </a:p>
        </p:txBody>
      </p:sp>
      <p:sp>
        <p:nvSpPr>
          <p:cNvPr id="29" name="Shape 27"/>
          <p:cNvSpPr/>
          <p:nvPr/>
        </p:nvSpPr>
        <p:spPr>
          <a:xfrm>
            <a:off x="2441448" y="3694176"/>
            <a:ext cx="4709160" cy="182880"/>
          </a:xfrm>
          <a:prstGeom prst="roundRect">
            <a:avLst>
              <a:gd name="adj" fmla="val 50000"/>
            </a:avLst>
          </a:prstGeom>
          <a:solidFill>
            <a:srgbClr val="2EE6FF"/>
          </a:solidFill>
          <a:ln w="12700">
            <a:solidFill>
              <a:srgbClr val="333333"/>
            </a:solidFill>
            <a:prstDash val="solid"/>
          </a:ln>
        </p:spPr>
      </p:sp>
      <p:sp>
        <p:nvSpPr>
          <p:cNvPr id="30" name="Text 28"/>
          <p:cNvSpPr txBox="1"/>
          <p:nvPr/>
        </p:nvSpPr>
        <p:spPr>
          <a:xfrm>
            <a:off x="7315200" y="3675888"/>
            <a:ext cx="114300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10 Gbit/s</a:t>
            </a:r>
            <a:endParaRPr lang="en-US" sz="1000" dirty="0"/>
          </a:p>
        </p:txBody>
      </p:sp>
      <p:sp>
        <p:nvSpPr>
          <p:cNvPr id="31" name="Text 29"/>
          <p:cNvSpPr txBox="1"/>
          <p:nvPr/>
        </p:nvSpPr>
        <p:spPr>
          <a:xfrm>
            <a:off x="2441448" y="3895344"/>
            <a:ext cx="4709160" cy="201168"/>
          </a:xfrm>
          <a:prstGeom prst="rect">
            <a:avLst/>
          </a:prstGeom>
          <a:noFill/>
          <a:ln/>
        </p:spPr>
        <p:txBody>
          <a:bodyPr wrap="square" lIns="0" tIns="0" rIns="0" bIns="0" rtlCol="0" anchor="ctr"/>
          <a:lstStyle/>
          <a:p>
            <a:pPr indent="0" marL="0">
              <a:buNone/>
            </a:pPr>
            <a:r>
              <a:rPr lang="en-US" sz="950" dirty="0">
                <a:solidFill>
                  <a:srgbClr val="8E9BB8"/>
                </a:solidFill>
                <a:latin typeface="Calibri" pitchFamily="34" charset="0"/>
                <a:ea typeface="Calibri" pitchFamily="34" charset="-122"/>
                <a:cs typeface="Calibri" pitchFamily="34" charset="-120"/>
              </a:rPr>
              <a:t>Glas bis ins Büro — Ziel für Teach:In</a:t>
            </a:r>
            <a:endParaRPr lang="en-US" sz="950" dirty="0"/>
          </a:p>
        </p:txBody>
      </p:sp>
      <p:sp>
        <p:nvSpPr>
          <p:cNvPr id="32" name="Shape 30"/>
          <p:cNvSpPr/>
          <p:nvPr/>
        </p:nvSpPr>
        <p:spPr>
          <a:xfrm>
            <a:off x="566928" y="4242816"/>
            <a:ext cx="201168" cy="109728"/>
          </a:xfrm>
          <a:prstGeom prst="rect">
            <a:avLst/>
          </a:prstGeom>
          <a:solidFill>
            <a:srgbClr val="2EE6FF"/>
          </a:solidFill>
          <a:ln w="12700">
            <a:solidFill>
              <a:srgbClr val="333333"/>
            </a:solidFill>
            <a:prstDash val="solid"/>
          </a:ln>
        </p:spPr>
      </p:sp>
      <p:sp>
        <p:nvSpPr>
          <p:cNvPr id="33" name="Text 31"/>
          <p:cNvSpPr txBox="1"/>
          <p:nvPr/>
        </p:nvSpPr>
        <p:spPr>
          <a:xfrm>
            <a:off x="841248" y="4169664"/>
            <a:ext cx="914400" cy="219456"/>
          </a:xfrm>
          <a:prstGeom prst="rect">
            <a:avLst/>
          </a:prstGeom>
          <a:noFill/>
          <a:ln/>
        </p:spPr>
        <p:txBody>
          <a:bodyPr wrap="square" lIns="0" tIns="0" rIns="0" bIns="0" rtlCol="0" anchor="ctr"/>
          <a:lstStyle/>
          <a:p>
            <a:pPr indent="0" marL="0">
              <a:buNone/>
            </a:pPr>
            <a:r>
              <a:rPr lang="en-US" sz="900" dirty="0">
                <a:solidFill>
                  <a:srgbClr val="8E9BB8"/>
                </a:solidFill>
                <a:latin typeface="Courier New" pitchFamily="34" charset="0"/>
                <a:ea typeface="Courier New" pitchFamily="34" charset="-122"/>
                <a:cs typeface="Courier New" pitchFamily="34" charset="-120"/>
              </a:rPr>
              <a:t>Glasfaser</a:t>
            </a:r>
            <a:endParaRPr lang="en-US" sz="900" dirty="0"/>
          </a:p>
        </p:txBody>
      </p:sp>
      <p:sp>
        <p:nvSpPr>
          <p:cNvPr id="34" name="Shape 32"/>
          <p:cNvSpPr/>
          <p:nvPr/>
        </p:nvSpPr>
        <p:spPr>
          <a:xfrm>
            <a:off x="1755648" y="4242816"/>
            <a:ext cx="201168" cy="109728"/>
          </a:xfrm>
          <a:prstGeom prst="rect">
            <a:avLst/>
          </a:prstGeom>
          <a:solidFill>
            <a:srgbClr val="C97B3A"/>
          </a:solidFill>
          <a:ln w="12700">
            <a:solidFill>
              <a:srgbClr val="333333"/>
            </a:solidFill>
            <a:prstDash val="solid"/>
          </a:ln>
        </p:spPr>
      </p:sp>
      <p:sp>
        <p:nvSpPr>
          <p:cNvPr id="35" name="Text 33"/>
          <p:cNvSpPr txBox="1"/>
          <p:nvPr/>
        </p:nvSpPr>
        <p:spPr>
          <a:xfrm>
            <a:off x="2029968" y="4169664"/>
            <a:ext cx="914400" cy="219456"/>
          </a:xfrm>
          <a:prstGeom prst="rect">
            <a:avLst/>
          </a:prstGeom>
          <a:noFill/>
          <a:ln/>
        </p:spPr>
        <p:txBody>
          <a:bodyPr wrap="square" lIns="0" tIns="0" rIns="0" bIns="0" rtlCol="0" anchor="ctr"/>
          <a:lstStyle/>
          <a:p>
            <a:pPr indent="0" marL="0">
              <a:buNone/>
            </a:pPr>
            <a:r>
              <a:rPr lang="en-US" sz="900" dirty="0">
                <a:solidFill>
                  <a:srgbClr val="8E9BB8"/>
                </a:solidFill>
                <a:latin typeface="Courier New" pitchFamily="34" charset="0"/>
                <a:ea typeface="Courier New" pitchFamily="34" charset="-122"/>
                <a:cs typeface="Courier New" pitchFamily="34" charset="-120"/>
              </a:rPr>
              <a:t>Kupfer</a:t>
            </a:r>
            <a:endParaRPr lang="en-US" sz="900" dirty="0"/>
          </a:p>
        </p:txBody>
      </p:sp>
      <p:sp>
        <p:nvSpPr>
          <p:cNvPr id="36" name="Shape 34"/>
          <p:cNvSpPr/>
          <p:nvPr/>
        </p:nvSpPr>
        <p:spPr>
          <a:xfrm>
            <a:off x="566928" y="4434840"/>
            <a:ext cx="5346040" cy="1965960"/>
          </a:xfrm>
          <a:prstGeom prst="roundRect">
            <a:avLst>
              <a:gd name="adj" fmla="val 4651"/>
            </a:avLst>
          </a:prstGeom>
          <a:solidFill>
            <a:srgbClr val="111A36"/>
          </a:solidFill>
          <a:ln w="9525">
            <a:solidFill>
              <a:srgbClr val="26335C"/>
            </a:solidFill>
            <a:prstDash val="solid"/>
          </a:ln>
        </p:spPr>
      </p:sp>
      <p:sp>
        <p:nvSpPr>
          <p:cNvPr id="37" name="Text 35"/>
          <p:cNvSpPr txBox="1"/>
          <p:nvPr/>
        </p:nvSpPr>
        <p:spPr>
          <a:xfrm>
            <a:off x="841248" y="4617720"/>
            <a:ext cx="4797400" cy="256032"/>
          </a:xfrm>
          <a:prstGeom prst="rect">
            <a:avLst/>
          </a:prstGeom>
          <a:noFill/>
          <a:ln/>
        </p:spPr>
        <p:txBody>
          <a:bodyPr wrap="square" lIns="0" tIns="0" rIns="0" bIns="0" rtlCol="0" anchor="ctr"/>
          <a:lstStyle/>
          <a:p>
            <a:pPr indent="0" marL="0">
              <a:buNone/>
            </a:pPr>
            <a:r>
              <a:rPr lang="en-US" sz="1400" b="1" dirty="0">
                <a:solidFill>
                  <a:srgbClr val="2EE6FF"/>
                </a:solidFill>
                <a:latin typeface="Calibri" pitchFamily="34" charset="0"/>
                <a:ea typeface="Calibri" pitchFamily="34" charset="-122"/>
                <a:cs typeface="Calibri" pitchFamily="34" charset="-120"/>
              </a:rPr>
              <a:t>PON — geteilt und passiv</a:t>
            </a:r>
            <a:endParaRPr lang="en-US" sz="1400" dirty="0"/>
          </a:p>
        </p:txBody>
      </p:sp>
      <p:sp>
        <p:nvSpPr>
          <p:cNvPr id="38" name="Text 36"/>
          <p:cNvSpPr txBox="1"/>
          <p:nvPr/>
        </p:nvSpPr>
        <p:spPr>
          <a:xfrm>
            <a:off x="841248" y="4892040"/>
            <a:ext cx="4797400" cy="457200"/>
          </a:xfrm>
          <a:prstGeom prst="rect">
            <a:avLst/>
          </a:prstGeom>
          <a:noFill/>
          <a:ln/>
        </p:spPr>
        <p:txBody>
          <a:bodyPr wrap="square" lIns="0" tIns="0" rIns="0" bIns="0" rtlCol="0" anchor="ctr"/>
          <a:lstStyle/>
          <a:p>
            <a:pPr indent="0" marL="0">
              <a:lnSpc>
                <a:spcPct val="108000"/>
              </a:lnSpc>
              <a:buNone/>
            </a:pPr>
            <a:r>
              <a:rPr lang="en-US" sz="1050" dirty="0">
                <a:solidFill>
                  <a:srgbClr val="8E9BB8"/>
                </a:solidFill>
                <a:latin typeface="Calibri" pitchFamily="34" charset="0"/>
                <a:ea typeface="Calibri" pitchFamily="34" charset="-122"/>
                <a:cs typeface="Calibri" pitchFamily="34" charset="-120"/>
              </a:rPr>
              <a:t>Eine Faser vom OLT, per Splitter auf viele Teilnehmer verteilt. Günstig und stromlos im Feld, deshalb Standard im Massenausbau.</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41248" y="5349240"/>
          <a:ext cx="4797400" cy="914400"/>
        </p:xfrm>
        <a:graphic>
          <a:graphicData uri="http://schemas.openxmlformats.org/drawingml/2006/table">
            <a:tbl>
              <a:tblPr/>
              <a:tblGrid>
                <a:gridCol w="1143000"/>
                <a:gridCol w="777240"/>
                <a:gridCol w="777240"/>
                <a:gridCol w="2103120"/>
              </a:tblGrid>
              <a:tr h="201168">
                <a:tc>
                  <a:txBody>
                    <a:bodyPr/>
                    <a:lstStyle/>
                    <a:p>
                      <a:pPr indent="0" marL="0">
                        <a:buNone/>
                      </a:pPr>
                      <a:r>
                        <a:rPr lang="en-US" sz="950" dirty="0">
                          <a:solidFill>
                            <a:srgbClr val="8E9BB8"/>
                          </a:solidFill>
                          <a:latin typeface="Courier New" pitchFamily="34" charset="0"/>
                          <a:ea typeface="Courier New" pitchFamily="34" charset="-122"/>
                          <a:cs typeface="Courier New" pitchFamily="34" charset="-120"/>
                        </a:rPr>
                        <a:t>Standard</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8E9BB8"/>
                          </a:solidFill>
                          <a:latin typeface="Courier New" pitchFamily="34" charset="0"/>
                          <a:ea typeface="Courier New" pitchFamily="34" charset="-122"/>
                          <a:cs typeface="Courier New" pitchFamily="34" charset="-120"/>
                        </a:rPr>
                        <a:t>Down</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8E9BB8"/>
                          </a:solidFill>
                          <a:latin typeface="Courier New" pitchFamily="34" charset="0"/>
                          <a:ea typeface="Courier New" pitchFamily="34" charset="-122"/>
                          <a:cs typeface="Courier New" pitchFamily="34" charset="-120"/>
                        </a:rPr>
                        <a:t>Up</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8E9BB8"/>
                          </a:solidFill>
                          <a:latin typeface="Courier New" pitchFamily="34" charset="0"/>
                          <a:ea typeface="Courier New" pitchFamily="34" charset="-122"/>
                          <a:cs typeface="Courier New" pitchFamily="34" charset="-120"/>
                        </a:rPr>
                        <a:t>Wellenlängen</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r>
              <a:tr h="201168">
                <a:tc>
                  <a:txBody>
                    <a:bodyPr/>
                    <a:lstStyle/>
                    <a:p>
                      <a:pPr indent="0" marL="0">
                        <a:buNone/>
                      </a:pPr>
                      <a:r>
                        <a:rPr lang="en-US" sz="950" dirty="0">
                          <a:solidFill>
                            <a:srgbClr val="E9EFFA"/>
                          </a:solidFill>
                          <a:latin typeface="Courier New" pitchFamily="34" charset="0"/>
                          <a:ea typeface="Courier New" pitchFamily="34" charset="-122"/>
                          <a:cs typeface="Courier New" pitchFamily="34" charset="-120"/>
                        </a:rPr>
                        <a:t>GPON</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C9D4E8"/>
                          </a:solidFill>
                          <a:latin typeface="Courier New" pitchFamily="34" charset="0"/>
                          <a:ea typeface="Courier New" pitchFamily="34" charset="-122"/>
                          <a:cs typeface="Courier New" pitchFamily="34" charset="-120"/>
                        </a:rPr>
                        <a:t>2,5 G</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C9D4E8"/>
                          </a:solidFill>
                          <a:latin typeface="Courier New" pitchFamily="34" charset="0"/>
                          <a:ea typeface="Courier New" pitchFamily="34" charset="-122"/>
                          <a:cs typeface="Courier New" pitchFamily="34" charset="-120"/>
                        </a:rPr>
                        <a:t>1,25 G</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C9D4E8"/>
                          </a:solidFill>
                          <a:latin typeface="Courier New" pitchFamily="34" charset="0"/>
                          <a:ea typeface="Courier New" pitchFamily="34" charset="-122"/>
                          <a:cs typeface="Courier New" pitchFamily="34" charset="-120"/>
                        </a:rPr>
                        <a:t>1490 / 1310 nm</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r>
              <a:tr h="201168">
                <a:tc>
                  <a:txBody>
                    <a:bodyPr/>
                    <a:lstStyle/>
                    <a:p>
                      <a:pPr indent="0" marL="0">
                        <a:buNone/>
                      </a:pPr>
                      <a:r>
                        <a:rPr lang="en-US" sz="950" dirty="0">
                          <a:solidFill>
                            <a:srgbClr val="E9EFFA"/>
                          </a:solidFill>
                          <a:latin typeface="Courier New" pitchFamily="34" charset="0"/>
                          <a:ea typeface="Courier New" pitchFamily="34" charset="-122"/>
                          <a:cs typeface="Courier New" pitchFamily="34" charset="-120"/>
                        </a:rPr>
                        <a:t>XGS-PON</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2EE6FF"/>
                          </a:solidFill>
                          <a:latin typeface="Courier New" pitchFamily="34" charset="0"/>
                          <a:ea typeface="Courier New" pitchFamily="34" charset="-122"/>
                          <a:cs typeface="Courier New" pitchFamily="34" charset="-120"/>
                        </a:rPr>
                        <a:t>10 G</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2EE6FF"/>
                          </a:solidFill>
                          <a:latin typeface="Courier New" pitchFamily="34" charset="0"/>
                          <a:ea typeface="Courier New" pitchFamily="34" charset="-122"/>
                          <a:cs typeface="Courier New" pitchFamily="34" charset="-120"/>
                        </a:rPr>
                        <a:t>10 G</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2EE6FF"/>
                          </a:solidFill>
                          <a:latin typeface="Courier New" pitchFamily="34" charset="0"/>
                          <a:ea typeface="Courier New" pitchFamily="34" charset="-122"/>
                          <a:cs typeface="Courier New" pitchFamily="34" charset="-120"/>
                        </a:rPr>
                        <a:t>1577 / 1270 nm</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r>
              <a:tr h="201168">
                <a:tc>
                  <a:txBody>
                    <a:bodyPr/>
                    <a:lstStyle/>
                    <a:p>
                      <a:pPr indent="0" marL="0">
                        <a:buNone/>
                      </a:pPr>
                      <a:r>
                        <a:rPr lang="en-US" sz="950" dirty="0">
                          <a:solidFill>
                            <a:srgbClr val="E9EFFA"/>
                          </a:solidFill>
                          <a:latin typeface="Courier New" pitchFamily="34" charset="0"/>
                          <a:ea typeface="Courier New" pitchFamily="34" charset="-122"/>
                          <a:cs typeface="Courier New" pitchFamily="34" charset="-120"/>
                        </a:rPr>
                        <a:t>50G-PON</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C9D4E8"/>
                          </a:solidFill>
                          <a:latin typeface="Courier New" pitchFamily="34" charset="0"/>
                          <a:ea typeface="Courier New" pitchFamily="34" charset="-122"/>
                          <a:cs typeface="Courier New" pitchFamily="34" charset="-120"/>
                        </a:rPr>
                        <a:t>50 G</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C9D4E8"/>
                          </a:solidFill>
                          <a:latin typeface="Courier New" pitchFamily="34" charset="0"/>
                          <a:ea typeface="Courier New" pitchFamily="34" charset="-122"/>
                          <a:cs typeface="Courier New" pitchFamily="34" charset="-120"/>
                        </a:rPr>
                        <a:t>25 G</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c>
                  <a:txBody>
                    <a:bodyPr/>
                    <a:lstStyle/>
                    <a:p>
                      <a:pPr indent="0" marL="0">
                        <a:buNone/>
                      </a:pPr>
                      <a:r>
                        <a:rPr lang="en-US" sz="950" dirty="0">
                          <a:solidFill>
                            <a:srgbClr val="C9D4E8"/>
                          </a:solidFill>
                          <a:latin typeface="Courier New" pitchFamily="34" charset="0"/>
                          <a:ea typeface="Courier New" pitchFamily="34" charset="-122"/>
                          <a:cs typeface="Courier New" pitchFamily="34" charset="-120"/>
                        </a:rPr>
                        <a:t>1342 / 1286 nm</a:t>
                      </a:r>
                      <a:endParaRPr lang="en-US" sz="950" dirty="0">
                        <a:latin typeface="Courier New" charset="0"/>
                        <a:ea typeface="Courier New" charset="0"/>
                        <a:cs typeface="Courier New" charset="0"/>
                      </a:endParaRPr>
                    </a:p>
                  </a:txBody>
                  <a:tcPr marL="91440" marR="91440" marT="45720" marB="45720" anchor="ctr">
                    <a:lnL w="6350" cap="flat" cmpd="sng" algn="ctr">
                      <a:solidFill>
                        <a:srgbClr val="26335C"/>
                      </a:solidFill>
                      <a:prstDash val="solid"/>
                      <a:round/>
                      <a:headEnd type="none" w="med" len="med"/>
                      <a:tailEnd type="none" w="med" len="med"/>
                    </a:lnL>
                    <a:lnR w="6350" cap="flat" cmpd="sng" algn="ctr">
                      <a:solidFill>
                        <a:srgbClr val="26335C"/>
                      </a:solidFill>
                      <a:prstDash val="solid"/>
                      <a:round/>
                      <a:headEnd type="none" w="med" len="med"/>
                      <a:tailEnd type="none" w="med" len="med"/>
                    </a:lnR>
                    <a:lnT w="6350" cap="flat" cmpd="sng" algn="ctr">
                      <a:solidFill>
                        <a:srgbClr val="26335C"/>
                      </a:solidFill>
                      <a:prstDash val="solid"/>
                      <a:round/>
                      <a:headEnd type="none" w="med" len="med"/>
                      <a:tailEnd type="none" w="med" len="med"/>
                    </a:lnT>
                    <a:lnB w="6350" cap="flat" cmpd="sng" algn="ctr">
                      <a:solidFill>
                        <a:srgbClr val="26335C"/>
                      </a:solidFill>
                      <a:prstDash val="solid"/>
                      <a:round/>
                      <a:headEnd type="none" w="med" len="med"/>
                      <a:tailEnd type="none" w="med" len="med"/>
                    </a:lnB>
                    <a:solidFill>
                      <a:srgbClr val="111A36"/>
                    </a:solidFill>
                  </a:tcPr>
                </a:tc>
              </a:tr>
            </a:tbl>
          </a:graphicData>
        </a:graphic>
      </p:graphicFrame>
      <p:sp>
        <p:nvSpPr>
          <p:cNvPr id="40" name="Shape 37"/>
          <p:cNvSpPr/>
          <p:nvPr/>
        </p:nvSpPr>
        <p:spPr>
          <a:xfrm>
            <a:off x="6278728" y="4434840"/>
            <a:ext cx="5346040" cy="1965960"/>
          </a:xfrm>
          <a:prstGeom prst="roundRect">
            <a:avLst>
              <a:gd name="adj" fmla="val 4651"/>
            </a:avLst>
          </a:prstGeom>
          <a:solidFill>
            <a:srgbClr val="111A36"/>
          </a:solidFill>
          <a:ln w="9525">
            <a:solidFill>
              <a:srgbClr val="26335C"/>
            </a:solidFill>
            <a:prstDash val="solid"/>
          </a:ln>
        </p:spPr>
      </p:sp>
      <p:sp>
        <p:nvSpPr>
          <p:cNvPr id="41" name="Text 38"/>
          <p:cNvSpPr txBox="1"/>
          <p:nvPr/>
        </p:nvSpPr>
        <p:spPr>
          <a:xfrm>
            <a:off x="6553048" y="4617720"/>
            <a:ext cx="4797400" cy="256032"/>
          </a:xfrm>
          <a:prstGeom prst="rect">
            <a:avLst/>
          </a:prstGeom>
          <a:noFill/>
          <a:ln/>
        </p:spPr>
        <p:txBody>
          <a:bodyPr wrap="square" lIns="0" tIns="0" rIns="0" bIns="0" rtlCol="0" anchor="ctr"/>
          <a:lstStyle/>
          <a:p>
            <a:pPr indent="0" marL="0">
              <a:buNone/>
            </a:pPr>
            <a:r>
              <a:rPr lang="en-US" sz="1400" b="1" dirty="0">
                <a:solidFill>
                  <a:srgbClr val="FF4FB0"/>
                </a:solidFill>
                <a:latin typeface="Calibri" pitchFamily="34" charset="0"/>
                <a:ea typeface="Calibri" pitchFamily="34" charset="-122"/>
                <a:cs typeface="Calibri" pitchFamily="34" charset="-120"/>
              </a:rPr>
              <a:t>P2P — exklusiv und aktiv</a:t>
            </a:r>
            <a:endParaRPr lang="en-US" sz="1400" dirty="0"/>
          </a:p>
        </p:txBody>
      </p:sp>
      <p:sp>
        <p:nvSpPr>
          <p:cNvPr id="42" name="Text 39"/>
          <p:cNvSpPr txBox="1"/>
          <p:nvPr/>
        </p:nvSpPr>
        <p:spPr>
          <a:xfrm>
            <a:off x="6553048" y="4892040"/>
            <a:ext cx="4797400" cy="868680"/>
          </a:xfrm>
          <a:prstGeom prst="rect">
            <a:avLst/>
          </a:prstGeom>
          <a:noFill/>
          <a:ln/>
        </p:spPr>
        <p:txBody>
          <a:bodyPr wrap="square" lIns="0" tIns="0" rIns="0" bIns="0" rtlCol="0" anchor="ctr"/>
          <a:lstStyle/>
          <a:p>
            <a:pPr indent="0" marL="0">
              <a:lnSpc>
                <a:spcPct val="110000"/>
              </a:lnSpc>
              <a:buNone/>
            </a:pPr>
            <a:r>
              <a:rPr lang="en-US" sz="1050" dirty="0">
                <a:solidFill>
                  <a:srgbClr val="8E9BB8"/>
                </a:solidFill>
                <a:latin typeface="Calibri" pitchFamily="34" charset="0"/>
                <a:ea typeface="Calibri" pitchFamily="34" charset="-122"/>
                <a:cs typeface="Calibri" pitchFamily="34" charset="-120"/>
              </a:rPr>
              <a:t>Eigene Faser bis zum PoP. Garantierte symmetrische Bandbreite, beliebig aufrüstbar von 1 bis 100 GbE. Typisch für Geschäftskunden mit Service-Level-Vereinbarung — und die Option, wenn Teach:In feste Zusagen braucht.</a:t>
            </a:r>
            <a:endParaRPr lang="en-US" sz="1050" dirty="0"/>
          </a:p>
        </p:txBody>
      </p:sp>
      <p:sp>
        <p:nvSpPr>
          <p:cNvPr id="43" name="Shape 40"/>
          <p:cNvSpPr/>
          <p:nvPr/>
        </p:nvSpPr>
        <p:spPr>
          <a:xfrm>
            <a:off x="6553048" y="5879592"/>
            <a:ext cx="1572768" cy="274320"/>
          </a:xfrm>
          <a:prstGeom prst="roundRect">
            <a:avLst>
              <a:gd name="adj" fmla="val 50000"/>
            </a:avLst>
          </a:prstGeom>
          <a:ln w="9525">
            <a:solidFill>
              <a:srgbClr val="3A4A78"/>
            </a:solidFill>
            <a:prstDash val="solid"/>
          </a:ln>
        </p:spPr>
      </p:sp>
      <p:sp>
        <p:nvSpPr>
          <p:cNvPr id="44" name="Text 41"/>
          <p:cNvSpPr txBox="1"/>
          <p:nvPr/>
        </p:nvSpPr>
        <p:spPr>
          <a:xfrm>
            <a:off x="6553048" y="5879592"/>
            <a:ext cx="1572768" cy="274320"/>
          </a:xfrm>
          <a:prstGeom prst="rect">
            <a:avLst/>
          </a:prstGeom>
          <a:noFill/>
          <a:ln/>
        </p:spPr>
        <p:txBody>
          <a:bodyPr wrap="square" lIns="0" tIns="0" rIns="0" bIns="0" rtlCol="0" anchor="ctr"/>
          <a:lstStyle/>
          <a:p>
            <a:pPr algn="ctr" indent="0" marL="0">
              <a:buNone/>
            </a:pPr>
            <a:r>
              <a:rPr lang="en-US" sz="850" dirty="0">
                <a:solidFill>
                  <a:srgbClr val="8E9BB8"/>
                </a:solidFill>
                <a:latin typeface="Courier New" pitchFamily="34" charset="0"/>
                <a:ea typeface="Courier New" pitchFamily="34" charset="-122"/>
                <a:cs typeface="Courier New" pitchFamily="34" charset="-120"/>
              </a:rPr>
              <a:t>Dark Fiber</a:t>
            </a:r>
            <a:endParaRPr lang="en-US" sz="850" dirty="0"/>
          </a:p>
        </p:txBody>
      </p:sp>
      <p:sp>
        <p:nvSpPr>
          <p:cNvPr id="45" name="Shape 42"/>
          <p:cNvSpPr/>
          <p:nvPr/>
        </p:nvSpPr>
        <p:spPr>
          <a:xfrm>
            <a:off x="8217256" y="5879592"/>
            <a:ext cx="1572768" cy="274320"/>
          </a:xfrm>
          <a:prstGeom prst="roundRect">
            <a:avLst>
              <a:gd name="adj" fmla="val 50000"/>
            </a:avLst>
          </a:prstGeom>
          <a:ln w="9525">
            <a:solidFill>
              <a:srgbClr val="3A4A78"/>
            </a:solidFill>
            <a:prstDash val="solid"/>
          </a:ln>
        </p:spPr>
      </p:sp>
      <p:sp>
        <p:nvSpPr>
          <p:cNvPr id="46" name="Text 43"/>
          <p:cNvSpPr txBox="1"/>
          <p:nvPr/>
        </p:nvSpPr>
        <p:spPr>
          <a:xfrm>
            <a:off x="8217256" y="5879592"/>
            <a:ext cx="1572768" cy="274320"/>
          </a:xfrm>
          <a:prstGeom prst="rect">
            <a:avLst/>
          </a:prstGeom>
          <a:noFill/>
          <a:ln/>
        </p:spPr>
        <p:txBody>
          <a:bodyPr wrap="square" lIns="0" tIns="0" rIns="0" bIns="0" rtlCol="0" anchor="ctr"/>
          <a:lstStyle/>
          <a:p>
            <a:pPr algn="ctr" indent="0" marL="0">
              <a:buNone/>
            </a:pPr>
            <a:r>
              <a:rPr lang="en-US" sz="850" dirty="0">
                <a:solidFill>
                  <a:srgbClr val="8E9BB8"/>
                </a:solidFill>
                <a:latin typeface="Courier New" pitchFamily="34" charset="0"/>
                <a:ea typeface="Courier New" pitchFamily="34" charset="-122"/>
                <a:cs typeface="Courier New" pitchFamily="34" charset="-120"/>
              </a:rPr>
              <a:t>Ethernet-Standleitung</a:t>
            </a:r>
            <a:endParaRPr lang="en-US" sz="850" dirty="0"/>
          </a:p>
        </p:txBody>
      </p:sp>
      <p:sp>
        <p:nvSpPr>
          <p:cNvPr id="47" name="Shape 44"/>
          <p:cNvSpPr/>
          <p:nvPr/>
        </p:nvSpPr>
        <p:spPr>
          <a:xfrm>
            <a:off x="9881464" y="5879592"/>
            <a:ext cx="1572768" cy="274320"/>
          </a:xfrm>
          <a:prstGeom prst="roundRect">
            <a:avLst>
              <a:gd name="adj" fmla="val 50000"/>
            </a:avLst>
          </a:prstGeom>
          <a:ln w="9525">
            <a:solidFill>
              <a:srgbClr val="3A4A78"/>
            </a:solidFill>
            <a:prstDash val="solid"/>
          </a:ln>
        </p:spPr>
      </p:sp>
      <p:sp>
        <p:nvSpPr>
          <p:cNvPr id="48" name="Text 45"/>
          <p:cNvSpPr txBox="1"/>
          <p:nvPr/>
        </p:nvSpPr>
        <p:spPr>
          <a:xfrm>
            <a:off x="9881464" y="5879592"/>
            <a:ext cx="1572768" cy="274320"/>
          </a:xfrm>
          <a:prstGeom prst="rect">
            <a:avLst/>
          </a:prstGeom>
          <a:noFill/>
          <a:ln/>
        </p:spPr>
        <p:txBody>
          <a:bodyPr wrap="square" lIns="0" tIns="0" rIns="0" bIns="0" rtlCol="0" anchor="ctr"/>
          <a:lstStyle/>
          <a:p>
            <a:pPr algn="ctr" indent="0" marL="0">
              <a:buNone/>
            </a:pPr>
            <a:r>
              <a:rPr lang="en-US" sz="850" dirty="0">
                <a:solidFill>
                  <a:srgbClr val="8E9BB8"/>
                </a:solidFill>
                <a:latin typeface="Courier New" pitchFamily="34" charset="0"/>
                <a:ea typeface="Courier New" pitchFamily="34" charset="-122"/>
                <a:cs typeface="Courier New" pitchFamily="34" charset="-120"/>
              </a:rPr>
              <a:t>SLA 99,9 %</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04</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Licht, das nicht entkommt</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Ein Laser schaltet Licht ein und aus, Milliarden Mal pro Sekunde. Der dichtere Kern hält es durch Totalreflexion gefangen.</a:t>
            </a:r>
            <a:endParaRPr lang="en-US" sz="1350" dirty="0"/>
          </a:p>
        </p:txBody>
      </p:sp>
      <p:sp>
        <p:nvSpPr>
          <p:cNvPr id="5" name="Shape 3"/>
          <p:cNvSpPr/>
          <p:nvPr/>
        </p:nvSpPr>
        <p:spPr>
          <a:xfrm>
            <a:off x="566928" y="1965960"/>
            <a:ext cx="5577840" cy="1783080"/>
          </a:xfrm>
          <a:prstGeom prst="roundRect">
            <a:avLst>
              <a:gd name="adj" fmla="val 5128"/>
            </a:avLst>
          </a:prstGeom>
          <a:solidFill>
            <a:srgbClr val="111A36"/>
          </a:solidFill>
          <a:ln w="9525">
            <a:solidFill>
              <a:srgbClr val="26335C"/>
            </a:solidFill>
            <a:prstDash val="solid"/>
          </a:ln>
        </p:spPr>
      </p:sp>
      <p:sp>
        <p:nvSpPr>
          <p:cNvPr id="6" name="Text 4"/>
          <p:cNvSpPr txBox="1"/>
          <p:nvPr/>
        </p:nvSpPr>
        <p:spPr>
          <a:xfrm>
            <a:off x="822960" y="2130552"/>
            <a:ext cx="5065776" cy="219456"/>
          </a:xfrm>
          <a:prstGeom prst="rect">
            <a:avLst/>
          </a:prstGeom>
          <a:noFill/>
          <a:ln/>
        </p:spPr>
        <p:txBody>
          <a:bodyPr wrap="square" lIns="0" tIns="0" rIns="0" bIns="0" rtlCol="0" anchor="ctr"/>
          <a:lstStyle/>
          <a:p>
            <a:pPr indent="0" marL="0">
              <a:buNone/>
            </a:pPr>
            <a:r>
              <a:rPr lang="en-US" sz="850" spc="100" kern="0" dirty="0">
                <a:solidFill>
                  <a:srgbClr val="2EE6FF"/>
                </a:solidFill>
                <a:latin typeface="Courier New" pitchFamily="34" charset="0"/>
                <a:ea typeface="Courier New" pitchFamily="34" charset="-122"/>
                <a:cs typeface="Courier New" pitchFamily="34" charset="-120"/>
              </a:rPr>
              <a:t>TOTALREFLEXION</a:t>
            </a:r>
            <a:endParaRPr lang="en-US" sz="850" dirty="0"/>
          </a:p>
        </p:txBody>
      </p:sp>
      <p:sp>
        <p:nvSpPr>
          <p:cNvPr id="7" name="Shape 5"/>
          <p:cNvSpPr/>
          <p:nvPr/>
        </p:nvSpPr>
        <p:spPr>
          <a:xfrm>
            <a:off x="886968" y="2660904"/>
            <a:ext cx="4937760" cy="658368"/>
          </a:xfrm>
          <a:prstGeom prst="rect">
            <a:avLst/>
          </a:prstGeom>
          <a:solidFill>
            <a:srgbClr val="0C2044"/>
          </a:solidFill>
          <a:ln w="12700">
            <a:solidFill>
              <a:srgbClr val="333333"/>
            </a:solidFill>
            <a:prstDash val="solid"/>
          </a:ln>
        </p:spPr>
      </p:sp>
      <p:sp>
        <p:nvSpPr>
          <p:cNvPr id="8" name="Shape 6"/>
          <p:cNvSpPr/>
          <p:nvPr/>
        </p:nvSpPr>
        <p:spPr>
          <a:xfrm>
            <a:off x="886968" y="2642616"/>
            <a:ext cx="4937760" cy="27432"/>
          </a:xfrm>
          <a:prstGeom prst="rect">
            <a:avLst/>
          </a:prstGeom>
          <a:solidFill>
            <a:srgbClr val="BFEFFF"/>
          </a:solidFill>
          <a:ln w="12700">
            <a:solidFill>
              <a:srgbClr val="333333"/>
            </a:solidFill>
            <a:prstDash val="solid"/>
          </a:ln>
        </p:spPr>
      </p:sp>
      <p:sp>
        <p:nvSpPr>
          <p:cNvPr id="9" name="Shape 7"/>
          <p:cNvSpPr/>
          <p:nvPr/>
        </p:nvSpPr>
        <p:spPr>
          <a:xfrm>
            <a:off x="886968" y="3319272"/>
            <a:ext cx="4937760" cy="27432"/>
          </a:xfrm>
          <a:prstGeom prst="rect">
            <a:avLst/>
          </a:prstGeom>
          <a:solidFill>
            <a:srgbClr val="BFEFFF"/>
          </a:solidFill>
          <a:ln w="12700">
            <a:solidFill>
              <a:srgbClr val="333333"/>
            </a:solidFill>
            <a:prstDash val="solid"/>
          </a:ln>
        </p:spPr>
      </p:sp>
      <p:sp>
        <p:nvSpPr>
          <p:cNvPr id="10" name="Shape 8"/>
          <p:cNvSpPr/>
          <p:nvPr/>
        </p:nvSpPr>
        <p:spPr>
          <a:xfrm>
            <a:off x="886968" y="3319272"/>
            <a:ext cx="1234440" cy="658368"/>
          </a:xfrm>
          <a:prstGeom prst="line">
            <a:avLst/>
          </a:prstGeom>
          <a:noFill/>
          <a:ln w="25400">
            <a:solidFill>
              <a:srgbClr val="2EE6FF"/>
            </a:solidFill>
            <a:prstDash val="solid"/>
            <a:tailEnd type="none"/>
          </a:ln>
        </p:spPr>
      </p:sp>
      <p:sp>
        <p:nvSpPr>
          <p:cNvPr id="11" name="Shape 9"/>
          <p:cNvSpPr/>
          <p:nvPr/>
        </p:nvSpPr>
        <p:spPr>
          <a:xfrm flipV="1">
            <a:off x="2121408" y="2660904"/>
            <a:ext cx="1234440" cy="658368"/>
          </a:xfrm>
          <a:prstGeom prst="line">
            <a:avLst/>
          </a:prstGeom>
          <a:noFill/>
          <a:ln w="25400">
            <a:solidFill>
              <a:srgbClr val="2EE6FF"/>
            </a:solidFill>
            <a:prstDash val="solid"/>
            <a:tailEnd type="none"/>
          </a:ln>
        </p:spPr>
      </p:sp>
      <p:sp>
        <p:nvSpPr>
          <p:cNvPr id="12" name="Shape 10"/>
          <p:cNvSpPr/>
          <p:nvPr/>
        </p:nvSpPr>
        <p:spPr>
          <a:xfrm>
            <a:off x="3355848" y="3319272"/>
            <a:ext cx="1234440" cy="658368"/>
          </a:xfrm>
          <a:prstGeom prst="line">
            <a:avLst/>
          </a:prstGeom>
          <a:noFill/>
          <a:ln w="25400">
            <a:solidFill>
              <a:srgbClr val="2EE6FF"/>
            </a:solidFill>
            <a:prstDash val="solid"/>
            <a:tailEnd type="none"/>
          </a:ln>
        </p:spPr>
      </p:sp>
      <p:sp>
        <p:nvSpPr>
          <p:cNvPr id="13" name="Shape 11"/>
          <p:cNvSpPr/>
          <p:nvPr/>
        </p:nvSpPr>
        <p:spPr>
          <a:xfrm flipV="1">
            <a:off x="4590288" y="2660904"/>
            <a:ext cx="1234440" cy="658368"/>
          </a:xfrm>
          <a:prstGeom prst="line">
            <a:avLst/>
          </a:prstGeom>
          <a:noFill/>
          <a:ln w="25400">
            <a:solidFill>
              <a:srgbClr val="2EE6FF"/>
            </a:solidFill>
            <a:prstDash val="solid"/>
            <a:tailEnd type="triangle"/>
          </a:ln>
        </p:spPr>
      </p:sp>
      <p:sp>
        <p:nvSpPr>
          <p:cNvPr id="14" name="Text 12"/>
          <p:cNvSpPr txBox="1"/>
          <p:nvPr/>
        </p:nvSpPr>
        <p:spPr>
          <a:xfrm>
            <a:off x="960120" y="2423160"/>
            <a:ext cx="2011680" cy="201168"/>
          </a:xfrm>
          <a:prstGeom prst="rect">
            <a:avLst/>
          </a:prstGeom>
          <a:noFill/>
          <a:ln/>
        </p:spPr>
        <p:txBody>
          <a:bodyPr wrap="square" lIns="0" tIns="0" rIns="0" bIns="0" rtlCol="0" anchor="ctr"/>
          <a:lstStyle/>
          <a:p>
            <a:pPr indent="0" marL="0">
              <a:buNone/>
            </a:pPr>
            <a:r>
              <a:rPr lang="en-US" sz="850" dirty="0">
                <a:solidFill>
                  <a:srgbClr val="8E9BB8"/>
                </a:solidFill>
                <a:latin typeface="Courier New" pitchFamily="34" charset="0"/>
                <a:ea typeface="Courier New" pitchFamily="34" charset="-122"/>
                <a:cs typeface="Courier New" pitchFamily="34" charset="-120"/>
              </a:rPr>
              <a:t>Mantel  n₂ = 1,46</a:t>
            </a:r>
            <a:endParaRPr lang="en-US" sz="850" dirty="0"/>
          </a:p>
        </p:txBody>
      </p:sp>
      <p:sp>
        <p:nvSpPr>
          <p:cNvPr id="15" name="Text 13"/>
          <p:cNvSpPr txBox="1"/>
          <p:nvPr/>
        </p:nvSpPr>
        <p:spPr>
          <a:xfrm>
            <a:off x="960120" y="2715768"/>
            <a:ext cx="2011680" cy="201168"/>
          </a:xfrm>
          <a:prstGeom prst="rect">
            <a:avLst/>
          </a:prstGeom>
          <a:noFill/>
          <a:ln/>
        </p:spPr>
        <p:txBody>
          <a:bodyPr wrap="square" lIns="0" tIns="0" rIns="0" bIns="0" rtlCol="0" anchor="ctr"/>
          <a:lstStyle/>
          <a:p>
            <a:pPr indent="0" marL="0">
              <a:buNone/>
            </a:pPr>
            <a:r>
              <a:rPr lang="en-US" sz="850" dirty="0">
                <a:solidFill>
                  <a:srgbClr val="9FC7E8"/>
                </a:solidFill>
                <a:latin typeface="Courier New" pitchFamily="34" charset="0"/>
                <a:ea typeface="Courier New" pitchFamily="34" charset="-122"/>
                <a:cs typeface="Courier New" pitchFamily="34" charset="-120"/>
              </a:rPr>
              <a:t>Kern  n₁ = 1,48</a:t>
            </a:r>
            <a:endParaRPr lang="en-US" sz="850" dirty="0"/>
          </a:p>
        </p:txBody>
      </p:sp>
      <p:sp>
        <p:nvSpPr>
          <p:cNvPr id="16" name="Text 14"/>
          <p:cNvSpPr txBox="1"/>
          <p:nvPr/>
        </p:nvSpPr>
        <p:spPr>
          <a:xfrm>
            <a:off x="886968" y="3392424"/>
            <a:ext cx="4937760" cy="292608"/>
          </a:xfrm>
          <a:prstGeom prst="rect">
            <a:avLst/>
          </a:prstGeom>
          <a:noFill/>
          <a:ln/>
        </p:spPr>
        <p:txBody>
          <a:bodyPr wrap="square" lIns="0" tIns="0" rIns="0" bIns="0" rtlCol="0" anchor="ctr"/>
          <a:lstStyle/>
          <a:p>
            <a:pPr indent="0" marL="0">
              <a:buNone/>
            </a:pPr>
            <a:r>
              <a:rPr lang="en-US" sz="1000" dirty="0">
                <a:solidFill>
                  <a:srgbClr val="8E9BB8"/>
                </a:solidFill>
                <a:latin typeface="Calibri" pitchFamily="34" charset="0"/>
                <a:ea typeface="Calibri" pitchFamily="34" charset="-122"/>
                <a:cs typeface="Calibri" pitchFamily="34" charset="-120"/>
              </a:rPr>
              <a:t>Unterhalb des Grenzwinkels von 9,4° zur Faserachse wird das Licht vollständig zurückgeworfen und bleibt im Kern.</a:t>
            </a:r>
            <a:endParaRPr lang="en-US" sz="1000" dirty="0"/>
          </a:p>
        </p:txBody>
      </p:sp>
      <p:sp>
        <p:nvSpPr>
          <p:cNvPr id="17" name="Shape 15"/>
          <p:cNvSpPr/>
          <p:nvPr/>
        </p:nvSpPr>
        <p:spPr>
          <a:xfrm>
            <a:off x="6510528" y="1965960"/>
            <a:ext cx="5114239" cy="1783080"/>
          </a:xfrm>
          <a:prstGeom prst="roundRect">
            <a:avLst>
              <a:gd name="adj" fmla="val 5128"/>
            </a:avLst>
          </a:prstGeom>
          <a:solidFill>
            <a:srgbClr val="111A36"/>
          </a:solidFill>
          <a:ln w="9525">
            <a:solidFill>
              <a:srgbClr val="26335C"/>
            </a:solidFill>
            <a:prstDash val="solid"/>
          </a:ln>
        </p:spPr>
      </p:sp>
      <p:sp>
        <p:nvSpPr>
          <p:cNvPr id="18" name="Text 16"/>
          <p:cNvSpPr txBox="1"/>
          <p:nvPr/>
        </p:nvSpPr>
        <p:spPr>
          <a:xfrm>
            <a:off x="6766560" y="2130552"/>
            <a:ext cx="4602175" cy="219456"/>
          </a:xfrm>
          <a:prstGeom prst="rect">
            <a:avLst/>
          </a:prstGeom>
          <a:noFill/>
          <a:ln/>
        </p:spPr>
        <p:txBody>
          <a:bodyPr wrap="square" lIns="0" tIns="0" rIns="0" bIns="0" rtlCol="0" anchor="ctr"/>
          <a:lstStyle/>
          <a:p>
            <a:pPr indent="0" marL="0">
              <a:buNone/>
            </a:pPr>
            <a:r>
              <a:rPr lang="en-US" sz="850" spc="100" kern="0" dirty="0">
                <a:solidFill>
                  <a:srgbClr val="2EE6FF"/>
                </a:solidFill>
                <a:latin typeface="Courier New" pitchFamily="34" charset="0"/>
                <a:ea typeface="Courier New" pitchFamily="34" charset="-122"/>
                <a:cs typeface="Courier New" pitchFamily="34" charset="-120"/>
              </a:rPr>
              <a:t>SENDER UND EMPFÄNGER</a:t>
            </a:r>
            <a:endParaRPr lang="en-US" sz="850" dirty="0"/>
          </a:p>
        </p:txBody>
      </p:sp>
      <p:sp>
        <p:nvSpPr>
          <p:cNvPr id="19" name="Text 17"/>
          <p:cNvSpPr txBox="1"/>
          <p:nvPr/>
        </p:nvSpPr>
        <p:spPr>
          <a:xfrm>
            <a:off x="6766560" y="2441448"/>
            <a:ext cx="4602175" cy="310896"/>
          </a:xfrm>
          <a:prstGeom prst="rect">
            <a:avLst/>
          </a:prstGeom>
          <a:noFill/>
          <a:ln/>
        </p:spPr>
        <p:txBody>
          <a:bodyPr wrap="square" lIns="0" tIns="0" rIns="0" bIns="0" rtlCol="0" anchor="ctr"/>
          <a:lstStyle/>
          <a:p>
            <a:pPr indent="0" marL="0">
              <a:lnSpc>
                <a:spcPct val="100000"/>
              </a:lnSpc>
              <a:buNone/>
            </a:pPr>
            <a:r>
              <a:rPr lang="en-US" sz="900" dirty="0">
                <a:solidFill>
                  <a:srgbClr val="8E9BB8"/>
                </a:solidFill>
                <a:latin typeface="Courier New" pitchFamily="34" charset="0"/>
                <a:ea typeface="Courier New" pitchFamily="34" charset="-122"/>
                <a:cs typeface="Courier New" pitchFamily="34" charset="-120"/>
              </a:rPr>
              <a:t>Sender</a:t>
            </a:r>
            <a:endParaRPr lang="en-US" sz="90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Laserdiode bei Singlemode, LED oder VCSEL bei Multimode</a:t>
            </a:r>
            <a:endParaRPr lang="en-US" sz="900" dirty="0"/>
          </a:p>
        </p:txBody>
      </p:sp>
      <p:sp>
        <p:nvSpPr>
          <p:cNvPr id="20" name="Text 18"/>
          <p:cNvSpPr txBox="1"/>
          <p:nvPr/>
        </p:nvSpPr>
        <p:spPr>
          <a:xfrm>
            <a:off x="6766560" y="2770632"/>
            <a:ext cx="4602175" cy="310896"/>
          </a:xfrm>
          <a:prstGeom prst="rect">
            <a:avLst/>
          </a:prstGeom>
          <a:noFill/>
          <a:ln/>
        </p:spPr>
        <p:txBody>
          <a:bodyPr wrap="square" lIns="0" tIns="0" rIns="0" bIns="0" rtlCol="0" anchor="ctr"/>
          <a:lstStyle/>
          <a:p>
            <a:pPr indent="0" marL="0">
              <a:lnSpc>
                <a:spcPct val="100000"/>
              </a:lnSpc>
              <a:buNone/>
            </a:pPr>
            <a:r>
              <a:rPr lang="en-US" sz="900" dirty="0">
                <a:solidFill>
                  <a:srgbClr val="8E9BB8"/>
                </a:solidFill>
                <a:latin typeface="Courier New" pitchFamily="34" charset="0"/>
                <a:ea typeface="Courier New" pitchFamily="34" charset="-122"/>
                <a:cs typeface="Courier New" pitchFamily="34" charset="-120"/>
              </a:rPr>
              <a:t>Fenster</a:t>
            </a:r>
            <a:endParaRPr lang="en-US" sz="90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850 nm im LAN, 1310 nm im O-Band, 1550 nm im C-Band</a:t>
            </a:r>
            <a:endParaRPr lang="en-US" sz="900" dirty="0"/>
          </a:p>
        </p:txBody>
      </p:sp>
      <p:sp>
        <p:nvSpPr>
          <p:cNvPr id="21" name="Text 19"/>
          <p:cNvSpPr txBox="1"/>
          <p:nvPr/>
        </p:nvSpPr>
        <p:spPr>
          <a:xfrm>
            <a:off x="6766560" y="3099816"/>
            <a:ext cx="4602175" cy="310896"/>
          </a:xfrm>
          <a:prstGeom prst="rect">
            <a:avLst/>
          </a:prstGeom>
          <a:noFill/>
          <a:ln/>
        </p:spPr>
        <p:txBody>
          <a:bodyPr wrap="square" lIns="0" tIns="0" rIns="0" bIns="0" rtlCol="0" anchor="ctr"/>
          <a:lstStyle/>
          <a:p>
            <a:pPr indent="0" marL="0">
              <a:lnSpc>
                <a:spcPct val="100000"/>
              </a:lnSpc>
              <a:buNone/>
            </a:pPr>
            <a:r>
              <a:rPr lang="en-US" sz="900" dirty="0">
                <a:solidFill>
                  <a:srgbClr val="8E9BB8"/>
                </a:solidFill>
                <a:latin typeface="Courier New" pitchFamily="34" charset="0"/>
                <a:ea typeface="Courier New" pitchFamily="34" charset="-122"/>
                <a:cs typeface="Courier New" pitchFamily="34" charset="-120"/>
              </a:rPr>
              <a:t>Empfänger</a:t>
            </a:r>
            <a:endParaRPr lang="en-US" sz="90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Photodiode, optisch zurück nach elektrisch</a:t>
            </a:r>
            <a:endParaRPr lang="en-US" sz="900" dirty="0"/>
          </a:p>
        </p:txBody>
      </p:sp>
      <p:sp>
        <p:nvSpPr>
          <p:cNvPr id="22" name="Text 20"/>
          <p:cNvSpPr txBox="1"/>
          <p:nvPr/>
        </p:nvSpPr>
        <p:spPr>
          <a:xfrm>
            <a:off x="6766560" y="3429000"/>
            <a:ext cx="4602175" cy="310896"/>
          </a:xfrm>
          <a:prstGeom prst="rect">
            <a:avLst/>
          </a:prstGeom>
          <a:noFill/>
          <a:ln/>
        </p:spPr>
        <p:txBody>
          <a:bodyPr wrap="square" lIns="0" tIns="0" rIns="0" bIns="0" rtlCol="0" anchor="ctr"/>
          <a:lstStyle/>
          <a:p>
            <a:pPr indent="0" marL="0">
              <a:lnSpc>
                <a:spcPct val="100000"/>
              </a:lnSpc>
              <a:buNone/>
            </a:pPr>
            <a:r>
              <a:rPr lang="en-US" sz="900" dirty="0">
                <a:solidFill>
                  <a:srgbClr val="8E9BB8"/>
                </a:solidFill>
                <a:latin typeface="Courier New" pitchFamily="34" charset="0"/>
                <a:ea typeface="Courier New" pitchFamily="34" charset="-122"/>
                <a:cs typeface="Courier New" pitchFamily="34" charset="-120"/>
              </a:rPr>
              <a:t>Budget</a:t>
            </a:r>
            <a:endParaRPr lang="en-US" sz="90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bei GPON rund 28 dB für Faser, Spleiße und Splitter</a:t>
            </a:r>
            <a:endParaRPr lang="en-US" sz="900" dirty="0"/>
          </a:p>
        </p:txBody>
      </p:sp>
      <p:sp>
        <p:nvSpPr>
          <p:cNvPr id="23" name="Text 21"/>
          <p:cNvSpPr txBox="1"/>
          <p:nvPr/>
        </p:nvSpPr>
        <p:spPr>
          <a:xfrm>
            <a:off x="566928" y="3950208"/>
            <a:ext cx="7315200" cy="237744"/>
          </a:xfrm>
          <a:prstGeom prst="rect">
            <a:avLst/>
          </a:prstGeom>
          <a:noFill/>
          <a:ln/>
        </p:spPr>
        <p:txBody>
          <a:bodyPr wrap="square" lIns="0" tIns="0" rIns="0" bIns="0" rtlCol="0" anchor="ctr"/>
          <a:lstStyle/>
          <a:p>
            <a:pPr indent="0" marL="0">
              <a:buNone/>
            </a:pPr>
            <a:r>
              <a:rPr lang="en-US" sz="900" spc="150" kern="0" dirty="0">
                <a:solidFill>
                  <a:srgbClr val="2EE6FF"/>
                </a:solidFill>
                <a:latin typeface="Courier New" pitchFamily="34" charset="0"/>
                <a:ea typeface="Courier New" pitchFamily="34" charset="-122"/>
                <a:cs typeface="Courier New" pitchFamily="34" charset="-120"/>
              </a:rPr>
              <a:t>ÜBERTRAGUNGS- UND MODULATIONSVERFAHREN</a:t>
            </a:r>
            <a:endParaRPr lang="en-US" sz="900" dirty="0"/>
          </a:p>
        </p:txBody>
      </p:sp>
      <p:sp>
        <p:nvSpPr>
          <p:cNvPr id="24" name="Shape 22"/>
          <p:cNvSpPr/>
          <p:nvPr/>
        </p:nvSpPr>
        <p:spPr>
          <a:xfrm>
            <a:off x="566928" y="4261104"/>
            <a:ext cx="3515258" cy="804672"/>
          </a:xfrm>
          <a:prstGeom prst="roundRect">
            <a:avLst>
              <a:gd name="adj" fmla="val 11364"/>
            </a:avLst>
          </a:prstGeom>
          <a:solidFill>
            <a:srgbClr val="111A36"/>
          </a:solidFill>
          <a:ln w="9525">
            <a:solidFill>
              <a:srgbClr val="26335C"/>
            </a:solidFill>
            <a:prstDash val="solid"/>
          </a:ln>
        </p:spPr>
      </p:sp>
      <p:sp>
        <p:nvSpPr>
          <p:cNvPr id="25" name="Shape 23"/>
          <p:cNvSpPr/>
          <p:nvPr/>
        </p:nvSpPr>
        <p:spPr>
          <a:xfrm>
            <a:off x="786384" y="4462272"/>
            <a:ext cx="164592" cy="164592"/>
          </a:xfrm>
          <a:prstGeom prst="ellipse">
            <a:avLst/>
          </a:prstGeom>
          <a:solidFill>
            <a:srgbClr val="2EE6FF"/>
          </a:solidFill>
          <a:ln w="12700">
            <a:solidFill>
              <a:srgbClr val="333333"/>
            </a:solidFill>
            <a:prstDash val="solid"/>
          </a:ln>
        </p:spPr>
      </p:sp>
      <p:sp>
        <p:nvSpPr>
          <p:cNvPr id="26" name="Text 24"/>
          <p:cNvSpPr txBox="1"/>
          <p:nvPr/>
        </p:nvSpPr>
        <p:spPr>
          <a:xfrm>
            <a:off x="1024128" y="4407408"/>
            <a:ext cx="2838602"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NRZ / OOK</a:t>
            </a:r>
            <a:endParaRPr lang="en-US" sz="1200" dirty="0"/>
          </a:p>
        </p:txBody>
      </p:sp>
      <p:sp>
        <p:nvSpPr>
          <p:cNvPr id="27" name="Text 25"/>
          <p:cNvSpPr txBox="1"/>
          <p:nvPr/>
        </p:nvSpPr>
        <p:spPr>
          <a:xfrm>
            <a:off x="786384" y="4663440"/>
            <a:ext cx="3076346" cy="365760"/>
          </a:xfrm>
          <a:prstGeom prst="rect">
            <a:avLst/>
          </a:prstGeom>
          <a:noFill/>
          <a:ln/>
        </p:spPr>
        <p:txBody>
          <a:bodyPr wrap="square" lIns="0" tIns="0" rIns="0" bIns="0" rtlCol="0" anchor="ctr"/>
          <a:lstStyle/>
          <a:p>
            <a:pPr indent="0" marL="0">
              <a:lnSpc>
                <a:spcPct val="105000"/>
              </a:lnSpc>
              <a:buNone/>
            </a:pPr>
            <a:r>
              <a:rPr lang="en-US" sz="950" dirty="0">
                <a:solidFill>
                  <a:srgbClr val="8E9BB8"/>
                </a:solidFill>
                <a:latin typeface="Calibri" pitchFamily="34" charset="0"/>
                <a:ea typeface="Calibri" pitchFamily="34" charset="-122"/>
                <a:cs typeface="Calibri" pitchFamily="34" charset="-120"/>
              </a:rPr>
              <a:t>Licht an ist 1, aus ist 0. Einfach und robust, genutzt bis 10 Gbit/s.</a:t>
            </a:r>
            <a:endParaRPr lang="en-US" sz="950" dirty="0"/>
          </a:p>
        </p:txBody>
      </p:sp>
      <p:sp>
        <p:nvSpPr>
          <p:cNvPr id="28" name="Shape 26"/>
          <p:cNvSpPr/>
          <p:nvPr/>
        </p:nvSpPr>
        <p:spPr>
          <a:xfrm>
            <a:off x="4338218" y="4261104"/>
            <a:ext cx="3515258" cy="804672"/>
          </a:xfrm>
          <a:prstGeom prst="roundRect">
            <a:avLst>
              <a:gd name="adj" fmla="val 11364"/>
            </a:avLst>
          </a:prstGeom>
          <a:solidFill>
            <a:srgbClr val="111A36"/>
          </a:solidFill>
          <a:ln w="9525">
            <a:solidFill>
              <a:srgbClr val="26335C"/>
            </a:solidFill>
            <a:prstDash val="solid"/>
          </a:ln>
        </p:spPr>
      </p:sp>
      <p:sp>
        <p:nvSpPr>
          <p:cNvPr id="29" name="Shape 27"/>
          <p:cNvSpPr/>
          <p:nvPr/>
        </p:nvSpPr>
        <p:spPr>
          <a:xfrm>
            <a:off x="4557674" y="4462272"/>
            <a:ext cx="164592" cy="164592"/>
          </a:xfrm>
          <a:prstGeom prst="ellipse">
            <a:avLst/>
          </a:prstGeom>
          <a:solidFill>
            <a:srgbClr val="FF4FB0"/>
          </a:solidFill>
          <a:ln w="12700">
            <a:solidFill>
              <a:srgbClr val="333333"/>
            </a:solidFill>
            <a:prstDash val="solid"/>
          </a:ln>
        </p:spPr>
      </p:sp>
      <p:sp>
        <p:nvSpPr>
          <p:cNvPr id="30" name="Text 28"/>
          <p:cNvSpPr txBox="1"/>
          <p:nvPr/>
        </p:nvSpPr>
        <p:spPr>
          <a:xfrm>
            <a:off x="4795418" y="4407408"/>
            <a:ext cx="2838602"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PAM4</a:t>
            </a:r>
            <a:endParaRPr lang="en-US" sz="1200" dirty="0"/>
          </a:p>
        </p:txBody>
      </p:sp>
      <p:sp>
        <p:nvSpPr>
          <p:cNvPr id="31" name="Text 29"/>
          <p:cNvSpPr txBox="1"/>
          <p:nvPr/>
        </p:nvSpPr>
        <p:spPr>
          <a:xfrm>
            <a:off x="4557674" y="4663440"/>
            <a:ext cx="3076346" cy="365760"/>
          </a:xfrm>
          <a:prstGeom prst="rect">
            <a:avLst/>
          </a:prstGeom>
          <a:noFill/>
          <a:ln/>
        </p:spPr>
        <p:txBody>
          <a:bodyPr wrap="square" lIns="0" tIns="0" rIns="0" bIns="0" rtlCol="0" anchor="ctr"/>
          <a:lstStyle/>
          <a:p>
            <a:pPr indent="0" marL="0">
              <a:lnSpc>
                <a:spcPct val="105000"/>
              </a:lnSpc>
              <a:buNone/>
            </a:pPr>
            <a:r>
              <a:rPr lang="en-US" sz="950" dirty="0">
                <a:solidFill>
                  <a:srgbClr val="8E9BB8"/>
                </a:solidFill>
                <a:latin typeface="Calibri" pitchFamily="34" charset="0"/>
                <a:ea typeface="Calibri" pitchFamily="34" charset="-122"/>
                <a:cs typeface="Calibri" pitchFamily="34" charset="-120"/>
              </a:rPr>
              <a:t>Vier Helligkeitsstufen, 2 Bit pro Symbol. Für 50G-PON und 400G-Ethernet.</a:t>
            </a:r>
            <a:endParaRPr lang="en-US" sz="950" dirty="0"/>
          </a:p>
        </p:txBody>
      </p:sp>
      <p:sp>
        <p:nvSpPr>
          <p:cNvPr id="32" name="Shape 30"/>
          <p:cNvSpPr/>
          <p:nvPr/>
        </p:nvSpPr>
        <p:spPr>
          <a:xfrm>
            <a:off x="8109509" y="4261104"/>
            <a:ext cx="3515258" cy="804672"/>
          </a:xfrm>
          <a:prstGeom prst="roundRect">
            <a:avLst>
              <a:gd name="adj" fmla="val 11364"/>
            </a:avLst>
          </a:prstGeom>
          <a:solidFill>
            <a:srgbClr val="111A36"/>
          </a:solidFill>
          <a:ln w="9525">
            <a:solidFill>
              <a:srgbClr val="26335C"/>
            </a:solidFill>
            <a:prstDash val="solid"/>
          </a:ln>
        </p:spPr>
      </p:sp>
      <p:sp>
        <p:nvSpPr>
          <p:cNvPr id="33" name="Shape 31"/>
          <p:cNvSpPr/>
          <p:nvPr/>
        </p:nvSpPr>
        <p:spPr>
          <a:xfrm>
            <a:off x="8328965" y="4462272"/>
            <a:ext cx="164592" cy="164592"/>
          </a:xfrm>
          <a:prstGeom prst="ellipse">
            <a:avLst/>
          </a:prstGeom>
          <a:solidFill>
            <a:srgbClr val="FFB43C"/>
          </a:solidFill>
          <a:ln w="12700">
            <a:solidFill>
              <a:srgbClr val="333333"/>
            </a:solidFill>
            <a:prstDash val="solid"/>
          </a:ln>
        </p:spPr>
      </p:sp>
      <p:sp>
        <p:nvSpPr>
          <p:cNvPr id="34" name="Text 32"/>
          <p:cNvSpPr txBox="1"/>
          <p:nvPr/>
        </p:nvSpPr>
        <p:spPr>
          <a:xfrm>
            <a:off x="8566709" y="4407408"/>
            <a:ext cx="2838602"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Kohärent QAM</a:t>
            </a:r>
            <a:endParaRPr lang="en-US" sz="1200" dirty="0"/>
          </a:p>
        </p:txBody>
      </p:sp>
      <p:sp>
        <p:nvSpPr>
          <p:cNvPr id="35" name="Text 33"/>
          <p:cNvSpPr txBox="1"/>
          <p:nvPr/>
        </p:nvSpPr>
        <p:spPr>
          <a:xfrm>
            <a:off x="8328965" y="4663440"/>
            <a:ext cx="3076346" cy="365760"/>
          </a:xfrm>
          <a:prstGeom prst="rect">
            <a:avLst/>
          </a:prstGeom>
          <a:noFill/>
          <a:ln/>
        </p:spPr>
        <p:txBody>
          <a:bodyPr wrap="square" lIns="0" tIns="0" rIns="0" bIns="0" rtlCol="0" anchor="ctr"/>
          <a:lstStyle/>
          <a:p>
            <a:pPr indent="0" marL="0">
              <a:lnSpc>
                <a:spcPct val="105000"/>
              </a:lnSpc>
              <a:buNone/>
            </a:pPr>
            <a:r>
              <a:rPr lang="en-US" sz="950" dirty="0">
                <a:solidFill>
                  <a:srgbClr val="8E9BB8"/>
                </a:solidFill>
                <a:latin typeface="Calibri" pitchFamily="34" charset="0"/>
                <a:ea typeface="Calibri" pitchFamily="34" charset="-122"/>
                <a:cs typeface="Calibri" pitchFamily="34" charset="-120"/>
              </a:rPr>
              <a:t>Phase und Amplitude tragen Bits. 400 bis 800 Gbit/s je Wellenlänge.</a:t>
            </a:r>
            <a:endParaRPr lang="en-US" sz="950" dirty="0"/>
          </a:p>
        </p:txBody>
      </p:sp>
      <p:sp>
        <p:nvSpPr>
          <p:cNvPr id="36" name="Shape 34"/>
          <p:cNvSpPr/>
          <p:nvPr/>
        </p:nvSpPr>
        <p:spPr>
          <a:xfrm>
            <a:off x="566928" y="5248656"/>
            <a:ext cx="3515258" cy="804672"/>
          </a:xfrm>
          <a:prstGeom prst="roundRect">
            <a:avLst>
              <a:gd name="adj" fmla="val 11364"/>
            </a:avLst>
          </a:prstGeom>
          <a:solidFill>
            <a:srgbClr val="111A36"/>
          </a:solidFill>
          <a:ln w="9525">
            <a:solidFill>
              <a:srgbClr val="26335C"/>
            </a:solidFill>
            <a:prstDash val="solid"/>
          </a:ln>
        </p:spPr>
      </p:sp>
      <p:sp>
        <p:nvSpPr>
          <p:cNvPr id="37" name="Shape 35"/>
          <p:cNvSpPr/>
          <p:nvPr/>
        </p:nvSpPr>
        <p:spPr>
          <a:xfrm>
            <a:off x="786384" y="5449824"/>
            <a:ext cx="164592" cy="164592"/>
          </a:xfrm>
          <a:prstGeom prst="ellipse">
            <a:avLst/>
          </a:prstGeom>
          <a:solidFill>
            <a:srgbClr val="5CF2A6"/>
          </a:solidFill>
          <a:ln w="12700">
            <a:solidFill>
              <a:srgbClr val="333333"/>
            </a:solidFill>
            <a:prstDash val="solid"/>
          </a:ln>
        </p:spPr>
      </p:sp>
      <p:sp>
        <p:nvSpPr>
          <p:cNvPr id="38" name="Text 36"/>
          <p:cNvSpPr txBox="1"/>
          <p:nvPr/>
        </p:nvSpPr>
        <p:spPr>
          <a:xfrm>
            <a:off x="1024128" y="5394960"/>
            <a:ext cx="2838602"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WDM / DWDM</a:t>
            </a:r>
            <a:endParaRPr lang="en-US" sz="1200" dirty="0"/>
          </a:p>
        </p:txBody>
      </p:sp>
      <p:sp>
        <p:nvSpPr>
          <p:cNvPr id="39" name="Text 37"/>
          <p:cNvSpPr txBox="1"/>
          <p:nvPr/>
        </p:nvSpPr>
        <p:spPr>
          <a:xfrm>
            <a:off x="786384" y="5650992"/>
            <a:ext cx="3076346" cy="365760"/>
          </a:xfrm>
          <a:prstGeom prst="rect">
            <a:avLst/>
          </a:prstGeom>
          <a:noFill/>
          <a:ln/>
        </p:spPr>
        <p:txBody>
          <a:bodyPr wrap="square" lIns="0" tIns="0" rIns="0" bIns="0" rtlCol="0" anchor="ctr"/>
          <a:lstStyle/>
          <a:p>
            <a:pPr indent="0" marL="0">
              <a:lnSpc>
                <a:spcPct val="105000"/>
              </a:lnSpc>
              <a:buNone/>
            </a:pPr>
            <a:r>
              <a:rPr lang="en-US" sz="950" dirty="0">
                <a:solidFill>
                  <a:srgbClr val="8E9BB8"/>
                </a:solidFill>
                <a:latin typeface="Calibri" pitchFamily="34" charset="0"/>
                <a:ea typeface="Calibri" pitchFamily="34" charset="-122"/>
                <a:cs typeface="Calibri" pitchFamily="34" charset="-120"/>
              </a:rPr>
              <a:t>Mehrere Farben auf einer Faser, bei DWDM bis 96 Kanäle.</a:t>
            </a:r>
            <a:endParaRPr lang="en-US" sz="950" dirty="0"/>
          </a:p>
        </p:txBody>
      </p:sp>
      <p:sp>
        <p:nvSpPr>
          <p:cNvPr id="40" name="Shape 38"/>
          <p:cNvSpPr/>
          <p:nvPr/>
        </p:nvSpPr>
        <p:spPr>
          <a:xfrm>
            <a:off x="4338218" y="5248656"/>
            <a:ext cx="3515258" cy="804672"/>
          </a:xfrm>
          <a:prstGeom prst="roundRect">
            <a:avLst>
              <a:gd name="adj" fmla="val 11364"/>
            </a:avLst>
          </a:prstGeom>
          <a:solidFill>
            <a:srgbClr val="111A36"/>
          </a:solidFill>
          <a:ln w="9525">
            <a:solidFill>
              <a:srgbClr val="26335C"/>
            </a:solidFill>
            <a:prstDash val="solid"/>
          </a:ln>
        </p:spPr>
      </p:sp>
      <p:sp>
        <p:nvSpPr>
          <p:cNvPr id="41" name="Shape 39"/>
          <p:cNvSpPr/>
          <p:nvPr/>
        </p:nvSpPr>
        <p:spPr>
          <a:xfrm>
            <a:off x="4557674" y="5449824"/>
            <a:ext cx="164592" cy="164592"/>
          </a:xfrm>
          <a:prstGeom prst="ellipse">
            <a:avLst/>
          </a:prstGeom>
          <a:solidFill>
            <a:srgbClr val="8AA4FF"/>
          </a:solidFill>
          <a:ln w="12700">
            <a:solidFill>
              <a:srgbClr val="333333"/>
            </a:solidFill>
            <a:prstDash val="solid"/>
          </a:ln>
        </p:spPr>
      </p:sp>
      <p:sp>
        <p:nvSpPr>
          <p:cNvPr id="42" name="Text 40"/>
          <p:cNvSpPr txBox="1"/>
          <p:nvPr/>
        </p:nvSpPr>
        <p:spPr>
          <a:xfrm>
            <a:off x="4795418" y="5394960"/>
            <a:ext cx="2838602"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TDMA im PON</a:t>
            </a:r>
            <a:endParaRPr lang="en-US" sz="1200" dirty="0"/>
          </a:p>
        </p:txBody>
      </p:sp>
      <p:sp>
        <p:nvSpPr>
          <p:cNvPr id="43" name="Text 41"/>
          <p:cNvSpPr txBox="1"/>
          <p:nvPr/>
        </p:nvSpPr>
        <p:spPr>
          <a:xfrm>
            <a:off x="4557674" y="5650992"/>
            <a:ext cx="3076346" cy="365760"/>
          </a:xfrm>
          <a:prstGeom prst="rect">
            <a:avLst/>
          </a:prstGeom>
          <a:noFill/>
          <a:ln/>
        </p:spPr>
        <p:txBody>
          <a:bodyPr wrap="square" lIns="0" tIns="0" rIns="0" bIns="0" rtlCol="0" anchor="ctr"/>
          <a:lstStyle/>
          <a:p>
            <a:pPr indent="0" marL="0">
              <a:lnSpc>
                <a:spcPct val="105000"/>
              </a:lnSpc>
              <a:buNone/>
            </a:pPr>
            <a:r>
              <a:rPr lang="en-US" sz="950" dirty="0">
                <a:solidFill>
                  <a:srgbClr val="8E9BB8"/>
                </a:solidFill>
                <a:latin typeface="Calibri" pitchFamily="34" charset="0"/>
                <a:ea typeface="Calibri" pitchFamily="34" charset="-122"/>
                <a:cs typeface="Calibri" pitchFamily="34" charset="-120"/>
              </a:rPr>
              <a:t>Der OLT teilt jedem ONT einen Zeitschlitz für den Upstream zu.</a:t>
            </a:r>
            <a:endParaRPr lang="en-US" sz="950" dirty="0"/>
          </a:p>
        </p:txBody>
      </p:sp>
      <p:sp>
        <p:nvSpPr>
          <p:cNvPr id="44" name="Shape 42"/>
          <p:cNvSpPr/>
          <p:nvPr/>
        </p:nvSpPr>
        <p:spPr>
          <a:xfrm>
            <a:off x="8109509" y="5248656"/>
            <a:ext cx="3515258" cy="804672"/>
          </a:xfrm>
          <a:prstGeom prst="roundRect">
            <a:avLst>
              <a:gd name="adj" fmla="val 11364"/>
            </a:avLst>
          </a:prstGeom>
          <a:solidFill>
            <a:srgbClr val="111A36"/>
          </a:solidFill>
          <a:ln w="9525">
            <a:solidFill>
              <a:srgbClr val="26335C"/>
            </a:solidFill>
            <a:prstDash val="solid"/>
          </a:ln>
        </p:spPr>
      </p:sp>
      <p:sp>
        <p:nvSpPr>
          <p:cNvPr id="45" name="Shape 43"/>
          <p:cNvSpPr/>
          <p:nvPr/>
        </p:nvSpPr>
        <p:spPr>
          <a:xfrm>
            <a:off x="8328965" y="5449824"/>
            <a:ext cx="164592" cy="164592"/>
          </a:xfrm>
          <a:prstGeom prst="ellipse">
            <a:avLst/>
          </a:prstGeom>
          <a:solidFill>
            <a:srgbClr val="FF7A59"/>
          </a:solidFill>
          <a:ln w="12700">
            <a:solidFill>
              <a:srgbClr val="333333"/>
            </a:solidFill>
            <a:prstDash val="solid"/>
          </a:ln>
        </p:spPr>
      </p:sp>
      <p:sp>
        <p:nvSpPr>
          <p:cNvPr id="46" name="Text 44"/>
          <p:cNvSpPr txBox="1"/>
          <p:nvPr/>
        </p:nvSpPr>
        <p:spPr>
          <a:xfrm>
            <a:off x="8566709" y="5394960"/>
            <a:ext cx="2838602"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Duplex je λ</a:t>
            </a:r>
            <a:endParaRPr lang="en-US" sz="1200" dirty="0"/>
          </a:p>
        </p:txBody>
      </p:sp>
      <p:sp>
        <p:nvSpPr>
          <p:cNvPr id="47" name="Text 45"/>
          <p:cNvSpPr txBox="1"/>
          <p:nvPr/>
        </p:nvSpPr>
        <p:spPr>
          <a:xfrm>
            <a:off x="8328965" y="5650992"/>
            <a:ext cx="3076346" cy="365760"/>
          </a:xfrm>
          <a:prstGeom prst="rect">
            <a:avLst/>
          </a:prstGeom>
          <a:noFill/>
          <a:ln/>
        </p:spPr>
        <p:txBody>
          <a:bodyPr wrap="square" lIns="0" tIns="0" rIns="0" bIns="0" rtlCol="0" anchor="ctr"/>
          <a:lstStyle/>
          <a:p>
            <a:pPr indent="0" marL="0">
              <a:lnSpc>
                <a:spcPct val="105000"/>
              </a:lnSpc>
              <a:buNone/>
            </a:pPr>
            <a:r>
              <a:rPr lang="en-US" sz="950" dirty="0">
                <a:solidFill>
                  <a:srgbClr val="8E9BB8"/>
                </a:solidFill>
                <a:latin typeface="Calibri" pitchFamily="34" charset="0"/>
                <a:ea typeface="Calibri" pitchFamily="34" charset="-122"/>
                <a:cs typeface="Calibri" pitchFamily="34" charset="-120"/>
              </a:rPr>
              <a:t>Hin- und Rückweg auf einer Faser, getrennt durch Filter.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05</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Raten, Frequenzen, Bandbreiten</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Typische Maximalwerte der sechs Anschlussarten im Vergleich. Glasfaser ist die einzige symmetrische Technik.</a:t>
            </a:r>
            <a:endParaRPr lang="en-US" sz="1350" dirty="0"/>
          </a:p>
        </p:txBody>
      </p:sp>
      <p:graphicFrame>
        <p:nvGraphicFramePr>
          <p:cNvPr id="5" name="Chart 0" descr=""/>
          <p:cNvGraphicFramePr/>
          <p:nvPr/>
        </p:nvGraphicFramePr>
        <p:xfrm>
          <a:off x="566928" y="1965960"/>
          <a:ext cx="704088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73568" y="1965960"/>
            <a:ext cx="3651199" cy="2148840"/>
          </a:xfrm>
          <a:prstGeom prst="roundRect">
            <a:avLst>
              <a:gd name="adj" fmla="val 4255"/>
            </a:avLst>
          </a:prstGeom>
          <a:solidFill>
            <a:srgbClr val="111A36"/>
          </a:solidFill>
          <a:ln w="9525">
            <a:solidFill>
              <a:srgbClr val="26335C"/>
            </a:solidFill>
            <a:prstDash val="solid"/>
          </a:ln>
        </p:spPr>
      </p:sp>
      <p:sp>
        <p:nvSpPr>
          <p:cNvPr id="7" name="Text 4"/>
          <p:cNvSpPr txBox="1"/>
          <p:nvPr/>
        </p:nvSpPr>
        <p:spPr>
          <a:xfrm>
            <a:off x="8229600" y="2157984"/>
            <a:ext cx="3139135" cy="219456"/>
          </a:xfrm>
          <a:prstGeom prst="rect">
            <a:avLst/>
          </a:prstGeom>
          <a:noFill/>
          <a:ln/>
        </p:spPr>
        <p:txBody>
          <a:bodyPr wrap="square" lIns="0" tIns="0" rIns="0" bIns="0" rtlCol="0" anchor="ctr"/>
          <a:lstStyle/>
          <a:p>
            <a:pPr indent="0" marL="0">
              <a:buNone/>
            </a:pPr>
            <a:r>
              <a:rPr lang="en-US" sz="850" spc="100" kern="0" dirty="0">
                <a:solidFill>
                  <a:srgbClr val="2EE6FF"/>
                </a:solidFill>
                <a:latin typeface="Courier New" pitchFamily="34" charset="0"/>
                <a:ea typeface="Courier New" pitchFamily="34" charset="-122"/>
                <a:cs typeface="Courier New" pitchFamily="34" charset="-120"/>
              </a:rPr>
              <a:t>FREQUENZEN UND BANDBREITE</a:t>
            </a:r>
            <a:endParaRPr lang="en-US" sz="850" dirty="0"/>
          </a:p>
        </p:txBody>
      </p:sp>
      <p:sp>
        <p:nvSpPr>
          <p:cNvPr id="8" name="Text 5"/>
          <p:cNvSpPr txBox="1"/>
          <p:nvPr/>
        </p:nvSpPr>
        <p:spPr>
          <a:xfrm>
            <a:off x="8229600" y="2432304"/>
            <a:ext cx="3139135" cy="310896"/>
          </a:xfrm>
          <a:prstGeom prst="rect">
            <a:avLst/>
          </a:prstGeom>
          <a:noFill/>
          <a:ln/>
        </p:spPr>
        <p:txBody>
          <a:bodyPr wrap="square" lIns="0" tIns="0" rIns="0" bIns="0" rtlCol="0" anchor="ctr"/>
          <a:lstStyle/>
          <a:p>
            <a:pPr indent="0" marL="0">
              <a:lnSpc>
                <a:spcPct val="100000"/>
              </a:lnSpc>
              <a:buNone/>
            </a:pPr>
            <a:r>
              <a:rPr lang="en-US" sz="850" dirty="0">
                <a:solidFill>
                  <a:srgbClr val="8E9BB8"/>
                </a:solidFill>
                <a:latin typeface="Courier New" pitchFamily="34" charset="0"/>
                <a:ea typeface="Courier New" pitchFamily="34" charset="-122"/>
                <a:cs typeface="Courier New" pitchFamily="34" charset="-120"/>
              </a:rPr>
              <a:t>Wellenlängen</a:t>
            </a:r>
            <a:endParaRPr lang="en-US" sz="85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850 · 1310 · 1490 · 1550 · 1577 nm</a:t>
            </a:r>
            <a:endParaRPr lang="en-US" sz="850" dirty="0"/>
          </a:p>
        </p:txBody>
      </p:sp>
      <p:sp>
        <p:nvSpPr>
          <p:cNvPr id="9" name="Text 6"/>
          <p:cNvSpPr txBox="1"/>
          <p:nvPr/>
        </p:nvSpPr>
        <p:spPr>
          <a:xfrm>
            <a:off x="8229600" y="2761488"/>
            <a:ext cx="3139135" cy="310896"/>
          </a:xfrm>
          <a:prstGeom prst="rect">
            <a:avLst/>
          </a:prstGeom>
          <a:noFill/>
          <a:ln/>
        </p:spPr>
        <p:txBody>
          <a:bodyPr wrap="square" lIns="0" tIns="0" rIns="0" bIns="0" rtlCol="0" anchor="ctr"/>
          <a:lstStyle/>
          <a:p>
            <a:pPr indent="0" marL="0">
              <a:lnSpc>
                <a:spcPct val="100000"/>
              </a:lnSpc>
              <a:buNone/>
            </a:pPr>
            <a:r>
              <a:rPr lang="en-US" sz="850" dirty="0">
                <a:solidFill>
                  <a:srgbClr val="8E9BB8"/>
                </a:solidFill>
                <a:latin typeface="Courier New" pitchFamily="34" charset="0"/>
                <a:ea typeface="Courier New" pitchFamily="34" charset="-122"/>
                <a:cs typeface="Courier New" pitchFamily="34" charset="-120"/>
              </a:rPr>
              <a:t>Frequenz</a:t>
            </a:r>
            <a:endParaRPr lang="en-US" sz="85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rund 190 bis 230 THz, also Infrarot</a:t>
            </a:r>
            <a:endParaRPr lang="en-US" sz="850" dirty="0"/>
          </a:p>
        </p:txBody>
      </p:sp>
      <p:sp>
        <p:nvSpPr>
          <p:cNvPr id="10" name="Text 7"/>
          <p:cNvSpPr txBox="1"/>
          <p:nvPr/>
        </p:nvSpPr>
        <p:spPr>
          <a:xfrm>
            <a:off x="8229600" y="3090672"/>
            <a:ext cx="3139135" cy="310896"/>
          </a:xfrm>
          <a:prstGeom prst="rect">
            <a:avLst/>
          </a:prstGeom>
          <a:noFill/>
          <a:ln/>
        </p:spPr>
        <p:txBody>
          <a:bodyPr wrap="square" lIns="0" tIns="0" rIns="0" bIns="0" rtlCol="0" anchor="ctr"/>
          <a:lstStyle/>
          <a:p>
            <a:pPr indent="0" marL="0">
              <a:lnSpc>
                <a:spcPct val="100000"/>
              </a:lnSpc>
              <a:buNone/>
            </a:pPr>
            <a:r>
              <a:rPr lang="en-US" sz="850" dirty="0">
                <a:solidFill>
                  <a:srgbClr val="8E9BB8"/>
                </a:solidFill>
                <a:latin typeface="Courier New" pitchFamily="34" charset="0"/>
                <a:ea typeface="Courier New" pitchFamily="34" charset="-122"/>
                <a:cs typeface="Courier New" pitchFamily="34" charset="-120"/>
              </a:rPr>
              <a:t>Nutzbare Bandbreite</a:t>
            </a:r>
            <a:endParaRPr lang="en-US" sz="85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O- bis L-Band, zusammen etwa 50 THz</a:t>
            </a:r>
            <a:endParaRPr lang="en-US" sz="850" dirty="0"/>
          </a:p>
        </p:txBody>
      </p:sp>
      <p:sp>
        <p:nvSpPr>
          <p:cNvPr id="11" name="Text 8"/>
          <p:cNvSpPr txBox="1"/>
          <p:nvPr/>
        </p:nvSpPr>
        <p:spPr>
          <a:xfrm>
            <a:off x="8229600" y="3419856"/>
            <a:ext cx="3139135" cy="310896"/>
          </a:xfrm>
          <a:prstGeom prst="rect">
            <a:avLst/>
          </a:prstGeom>
          <a:noFill/>
          <a:ln/>
        </p:spPr>
        <p:txBody>
          <a:bodyPr wrap="square" lIns="0" tIns="0" rIns="0" bIns="0" rtlCol="0" anchor="ctr"/>
          <a:lstStyle/>
          <a:p>
            <a:pPr indent="0" marL="0">
              <a:lnSpc>
                <a:spcPct val="100000"/>
              </a:lnSpc>
              <a:buNone/>
            </a:pPr>
            <a:r>
              <a:rPr lang="en-US" sz="850" dirty="0">
                <a:solidFill>
                  <a:srgbClr val="8E9BB8"/>
                </a:solidFill>
                <a:latin typeface="Courier New" pitchFamily="34" charset="0"/>
                <a:ea typeface="Courier New" pitchFamily="34" charset="-122"/>
                <a:cs typeface="Courier New" pitchFamily="34" charset="-120"/>
              </a:rPr>
              <a:t>Je Wellenlänge</a:t>
            </a:r>
            <a:endParaRPr lang="en-US" sz="85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10 Gbit/s im PON, 400–800 Gbit/s kohärent</a:t>
            </a:r>
            <a:endParaRPr lang="en-US" sz="850" dirty="0"/>
          </a:p>
        </p:txBody>
      </p:sp>
      <p:sp>
        <p:nvSpPr>
          <p:cNvPr id="12" name="Text 9"/>
          <p:cNvSpPr txBox="1"/>
          <p:nvPr/>
        </p:nvSpPr>
        <p:spPr>
          <a:xfrm>
            <a:off x="8229600" y="3749040"/>
            <a:ext cx="3139135" cy="310896"/>
          </a:xfrm>
          <a:prstGeom prst="rect">
            <a:avLst/>
          </a:prstGeom>
          <a:noFill/>
          <a:ln/>
        </p:spPr>
        <p:txBody>
          <a:bodyPr wrap="square" lIns="0" tIns="0" rIns="0" bIns="0" rtlCol="0" anchor="ctr"/>
          <a:lstStyle/>
          <a:p>
            <a:pPr indent="0" marL="0">
              <a:lnSpc>
                <a:spcPct val="100000"/>
              </a:lnSpc>
              <a:buNone/>
            </a:pPr>
            <a:r>
              <a:rPr lang="en-US" sz="850" dirty="0">
                <a:solidFill>
                  <a:srgbClr val="8E9BB8"/>
                </a:solidFill>
                <a:latin typeface="Courier New" pitchFamily="34" charset="0"/>
                <a:ea typeface="Courier New" pitchFamily="34" charset="-122"/>
                <a:cs typeface="Courier New" pitchFamily="34" charset="-120"/>
              </a:rPr>
              <a:t>Latenz</a:t>
            </a:r>
            <a:endParaRPr lang="en-US" sz="850" dirty="0"/>
          </a:p>
          <a:p>
            <a:pPr indent="0" marL="0">
              <a:lnSpc>
                <a:spcPct val="100000"/>
              </a:lnSpc>
              <a:buNone/>
            </a:pPr>
            <a:r>
              <a:rPr lang="en-US" sz="1050" dirty="0">
                <a:solidFill>
                  <a:srgbClr val="E9EFFA"/>
                </a:solidFill>
                <a:latin typeface="Calibri" pitchFamily="34" charset="0"/>
                <a:ea typeface="Calibri" pitchFamily="34" charset="-122"/>
                <a:cs typeface="Calibri" pitchFamily="34" charset="-120"/>
              </a:rPr>
              <a:t>1 bis 5 ms im Zugangsnetz</a:t>
            </a:r>
            <a:endParaRPr lang="en-US" sz="850" dirty="0"/>
          </a:p>
        </p:txBody>
      </p:sp>
      <p:sp>
        <p:nvSpPr>
          <p:cNvPr id="13" name="Shape 10"/>
          <p:cNvSpPr/>
          <p:nvPr/>
        </p:nvSpPr>
        <p:spPr>
          <a:xfrm>
            <a:off x="7973568" y="4279392"/>
            <a:ext cx="3651199" cy="1664208"/>
          </a:xfrm>
          <a:prstGeom prst="roundRect">
            <a:avLst>
              <a:gd name="adj" fmla="val 5495"/>
            </a:avLst>
          </a:prstGeom>
          <a:solidFill>
            <a:srgbClr val="16224A"/>
          </a:solidFill>
          <a:ln w="9525">
            <a:solidFill>
              <a:srgbClr val="2EE6FF"/>
            </a:solidFill>
            <a:prstDash val="solid"/>
          </a:ln>
        </p:spPr>
      </p:sp>
      <p:sp>
        <p:nvSpPr>
          <p:cNvPr id="14" name="Text 11"/>
          <p:cNvSpPr txBox="1"/>
          <p:nvPr/>
        </p:nvSpPr>
        <p:spPr>
          <a:xfrm>
            <a:off x="8229600" y="4462272"/>
            <a:ext cx="3139135" cy="256032"/>
          </a:xfrm>
          <a:prstGeom prst="rect">
            <a:avLst/>
          </a:prstGeom>
          <a:noFill/>
          <a:ln/>
        </p:spPr>
        <p:txBody>
          <a:bodyPr wrap="square" lIns="0" tIns="0" rIns="0" bIns="0" rtlCol="0" anchor="ctr"/>
          <a:lstStyle/>
          <a:p>
            <a:pPr indent="0" marL="0">
              <a:buNone/>
            </a:pPr>
            <a:r>
              <a:rPr lang="en-US" sz="1300" b="1" dirty="0">
                <a:solidFill>
                  <a:srgbClr val="2EE6FF"/>
                </a:solidFill>
                <a:latin typeface="Calibri" pitchFamily="34" charset="0"/>
                <a:ea typeface="Calibri" pitchFamily="34" charset="-122"/>
                <a:cs typeface="Calibri" pitchFamily="34" charset="-120"/>
              </a:rPr>
              <a:t>Warum Glasfaser vorn liegt</a:t>
            </a:r>
            <a:endParaRPr lang="en-US" sz="1300" dirty="0"/>
          </a:p>
        </p:txBody>
      </p:sp>
      <p:sp>
        <p:nvSpPr>
          <p:cNvPr id="15" name="Text 12"/>
          <p:cNvSpPr txBox="1"/>
          <p:nvPr/>
        </p:nvSpPr>
        <p:spPr>
          <a:xfrm>
            <a:off x="8229600" y="4754880"/>
            <a:ext cx="3139135" cy="1060704"/>
          </a:xfrm>
          <a:prstGeom prst="rect">
            <a:avLst/>
          </a:prstGeom>
          <a:noFill/>
          <a:ln/>
        </p:spPr>
        <p:txBody>
          <a:bodyPr wrap="square" lIns="0" tIns="0" rIns="0" bIns="0" rtlCol="0" anchor="ctr"/>
          <a:lstStyle/>
          <a:p>
            <a:pPr indent="0" marL="0">
              <a:lnSpc>
                <a:spcPct val="112000"/>
              </a:lnSpc>
              <a:buNone/>
            </a:pPr>
            <a:r>
              <a:rPr lang="en-US" sz="1050" dirty="0">
                <a:solidFill>
                  <a:srgbClr val="C9D4E8"/>
                </a:solidFill>
                <a:latin typeface="Calibri" pitchFamily="34" charset="0"/>
                <a:ea typeface="Calibri" pitchFamily="34" charset="-122"/>
                <a:cs typeface="Calibri" pitchFamily="34" charset="-120"/>
              </a:rPr>
              <a:t>Kupfer und Funk teilen sich ein schmales Band, das mit der Entfernung schnell schlechter wird. Im Glas stehen rund 50 THz zur Verfügung, und 20 km gehen ohne Verstärker. Ein Upgrade von 1 auf 10 Gbit/s bedeutet deshalb nur neue Endgeräte — die Faser im Boden bleibt dieselbe.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06</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Vor- und Nachteile</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Technisch ist Glasfaser allen Alternativen überlegen. Der Engpass ist nicht die Technik, sondern der Bau.</a:t>
            </a:r>
            <a:endParaRPr lang="en-US" sz="1350" dirty="0"/>
          </a:p>
        </p:txBody>
      </p:sp>
      <p:sp>
        <p:nvSpPr>
          <p:cNvPr id="5" name="Shape 3"/>
          <p:cNvSpPr/>
          <p:nvPr/>
        </p:nvSpPr>
        <p:spPr>
          <a:xfrm>
            <a:off x="566928" y="1938528"/>
            <a:ext cx="5346040" cy="2651760"/>
          </a:xfrm>
          <a:prstGeom prst="roundRect">
            <a:avLst>
              <a:gd name="adj" fmla="val 3448"/>
            </a:avLst>
          </a:prstGeom>
          <a:solidFill>
            <a:srgbClr val="111A36"/>
          </a:solidFill>
          <a:ln w="9525">
            <a:solidFill>
              <a:srgbClr val="26335C"/>
            </a:solidFill>
            <a:prstDash val="solid"/>
          </a:ln>
        </p:spPr>
      </p:sp>
      <p:sp>
        <p:nvSpPr>
          <p:cNvPr id="6" name="Text 4"/>
          <p:cNvSpPr txBox="1"/>
          <p:nvPr/>
        </p:nvSpPr>
        <p:spPr>
          <a:xfrm>
            <a:off x="841248" y="2121408"/>
            <a:ext cx="4797400" cy="237744"/>
          </a:xfrm>
          <a:prstGeom prst="rect">
            <a:avLst/>
          </a:prstGeom>
          <a:noFill/>
          <a:ln/>
        </p:spPr>
        <p:txBody>
          <a:bodyPr wrap="square" lIns="0" tIns="0" rIns="0" bIns="0" rtlCol="0" anchor="ctr"/>
          <a:lstStyle/>
          <a:p>
            <a:pPr indent="0" marL="0">
              <a:buNone/>
            </a:pPr>
            <a:r>
              <a:rPr lang="en-US" sz="900" spc="150" kern="0" dirty="0">
                <a:solidFill>
                  <a:srgbClr val="5CF2A6"/>
                </a:solidFill>
                <a:latin typeface="Courier New" pitchFamily="34" charset="0"/>
                <a:ea typeface="Courier New" pitchFamily="34" charset="-122"/>
                <a:cs typeface="Courier New" pitchFamily="34" charset="-120"/>
              </a:rPr>
              <a:t>VORTEILE</a:t>
            </a:r>
            <a:endParaRPr lang="en-US" sz="900" dirty="0"/>
          </a:p>
        </p:txBody>
      </p:sp>
      <p:sp>
        <p:nvSpPr>
          <p:cNvPr id="7" name="Shape 5"/>
          <p:cNvSpPr/>
          <p:nvPr/>
        </p:nvSpPr>
        <p:spPr>
          <a:xfrm>
            <a:off x="841248" y="2459736"/>
            <a:ext cx="219456" cy="219456"/>
          </a:xfrm>
          <a:prstGeom prst="ellipse">
            <a:avLst/>
          </a:prstGeom>
          <a:solidFill>
            <a:srgbClr val="5CF2A6"/>
          </a:solidFill>
          <a:ln w="12700">
            <a:solidFill>
              <a:srgbClr val="5CF2A6"/>
            </a:solidFill>
            <a:prstDash val="solid"/>
          </a:ln>
        </p:spPr>
      </p:sp>
      <p:sp>
        <p:nvSpPr>
          <p:cNvPr id="8" name="Text 6"/>
          <p:cNvSpPr txBox="1"/>
          <p:nvPr/>
        </p:nvSpPr>
        <p:spPr>
          <a:xfrm>
            <a:off x="841248" y="2459736"/>
            <a:ext cx="219456" cy="219456"/>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a:t>
            </a:r>
            <a:endParaRPr lang="en-US" sz="1100" dirty="0"/>
          </a:p>
        </p:txBody>
      </p:sp>
      <p:sp>
        <p:nvSpPr>
          <p:cNvPr id="9" name="Text 7"/>
          <p:cNvSpPr txBox="1"/>
          <p:nvPr/>
        </p:nvSpPr>
        <p:spPr>
          <a:xfrm>
            <a:off x="1207008" y="2432304"/>
            <a:ext cx="4431640" cy="475488"/>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Symmetrische Gigabit-Raten</a:t>
            </a:r>
            <a:endParaRPr lang="en-US" sz="1200" dirty="0"/>
          </a:p>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später per Gerätetausch aufrüstbar, Faser bleibt liegen</a:t>
            </a:r>
            <a:endParaRPr lang="en-US" sz="1200" dirty="0"/>
          </a:p>
        </p:txBody>
      </p:sp>
      <p:sp>
        <p:nvSpPr>
          <p:cNvPr id="10" name="Shape 8"/>
          <p:cNvSpPr/>
          <p:nvPr/>
        </p:nvSpPr>
        <p:spPr>
          <a:xfrm>
            <a:off x="841248" y="2962656"/>
            <a:ext cx="219456" cy="219456"/>
          </a:xfrm>
          <a:prstGeom prst="ellipse">
            <a:avLst/>
          </a:prstGeom>
          <a:solidFill>
            <a:srgbClr val="5CF2A6"/>
          </a:solidFill>
          <a:ln w="12700">
            <a:solidFill>
              <a:srgbClr val="5CF2A6"/>
            </a:solidFill>
            <a:prstDash val="solid"/>
          </a:ln>
        </p:spPr>
      </p:sp>
      <p:sp>
        <p:nvSpPr>
          <p:cNvPr id="11" name="Text 9"/>
          <p:cNvSpPr txBox="1"/>
          <p:nvPr/>
        </p:nvSpPr>
        <p:spPr>
          <a:xfrm>
            <a:off x="841248" y="2962656"/>
            <a:ext cx="219456" cy="219456"/>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1207008" y="2935224"/>
            <a:ext cx="4431640" cy="475488"/>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Geringe Dämpfung</a:t>
            </a:r>
            <a:endParaRPr lang="en-US" sz="1200" dirty="0"/>
          </a:p>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große Reichweite ohne Verstärker, bis 20 km im PON</a:t>
            </a:r>
            <a:endParaRPr lang="en-US" sz="1200" dirty="0"/>
          </a:p>
        </p:txBody>
      </p:sp>
      <p:sp>
        <p:nvSpPr>
          <p:cNvPr id="13" name="Shape 11"/>
          <p:cNvSpPr/>
          <p:nvPr/>
        </p:nvSpPr>
        <p:spPr>
          <a:xfrm>
            <a:off x="841248" y="3465576"/>
            <a:ext cx="219456" cy="219456"/>
          </a:xfrm>
          <a:prstGeom prst="ellipse">
            <a:avLst/>
          </a:prstGeom>
          <a:solidFill>
            <a:srgbClr val="5CF2A6"/>
          </a:solidFill>
          <a:ln w="12700">
            <a:solidFill>
              <a:srgbClr val="5CF2A6"/>
            </a:solidFill>
            <a:prstDash val="solid"/>
          </a:ln>
        </p:spPr>
      </p:sp>
      <p:sp>
        <p:nvSpPr>
          <p:cNvPr id="14" name="Text 12"/>
          <p:cNvSpPr txBox="1"/>
          <p:nvPr/>
        </p:nvSpPr>
        <p:spPr>
          <a:xfrm>
            <a:off x="841248" y="3465576"/>
            <a:ext cx="219456" cy="219456"/>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1207008" y="3438144"/>
            <a:ext cx="4431640" cy="475488"/>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Immun gegen Störungen</a:t>
            </a:r>
            <a:endParaRPr lang="en-US" sz="1200" dirty="0"/>
          </a:p>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keine EMV-Probleme, kein Übersprechen, kein Blitzweg</a:t>
            </a:r>
            <a:endParaRPr lang="en-US" sz="1200" dirty="0"/>
          </a:p>
        </p:txBody>
      </p:sp>
      <p:sp>
        <p:nvSpPr>
          <p:cNvPr id="16" name="Shape 14"/>
          <p:cNvSpPr/>
          <p:nvPr/>
        </p:nvSpPr>
        <p:spPr>
          <a:xfrm>
            <a:off x="841248" y="3968496"/>
            <a:ext cx="219456" cy="219456"/>
          </a:xfrm>
          <a:prstGeom prst="ellipse">
            <a:avLst/>
          </a:prstGeom>
          <a:solidFill>
            <a:srgbClr val="5CF2A6"/>
          </a:solidFill>
          <a:ln w="12700">
            <a:solidFill>
              <a:srgbClr val="5CF2A6"/>
            </a:solidFill>
            <a:prstDash val="solid"/>
          </a:ln>
        </p:spPr>
      </p:sp>
      <p:sp>
        <p:nvSpPr>
          <p:cNvPr id="17" name="Text 15"/>
          <p:cNvSpPr txBox="1"/>
          <p:nvPr/>
        </p:nvSpPr>
        <p:spPr>
          <a:xfrm>
            <a:off x="841248" y="3968496"/>
            <a:ext cx="219456" cy="219456"/>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a:t>
            </a:r>
            <a:endParaRPr lang="en-US" sz="1100" dirty="0"/>
          </a:p>
        </p:txBody>
      </p:sp>
      <p:sp>
        <p:nvSpPr>
          <p:cNvPr id="18" name="Text 16"/>
          <p:cNvSpPr txBox="1"/>
          <p:nvPr/>
        </p:nvSpPr>
        <p:spPr>
          <a:xfrm>
            <a:off x="1207008" y="3941064"/>
            <a:ext cx="4431640" cy="475488"/>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Passiv und langlebig</a:t>
            </a:r>
            <a:endParaRPr lang="en-US" sz="1200" dirty="0"/>
          </a:p>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wenig Strom im Netz, Lebensdauer über 30 Jahre</a:t>
            </a:r>
            <a:endParaRPr lang="en-US" sz="1200" dirty="0"/>
          </a:p>
        </p:txBody>
      </p:sp>
      <p:sp>
        <p:nvSpPr>
          <p:cNvPr id="19" name="Shape 17"/>
          <p:cNvSpPr/>
          <p:nvPr/>
        </p:nvSpPr>
        <p:spPr>
          <a:xfrm>
            <a:off x="6278728" y="1938528"/>
            <a:ext cx="5346040" cy="2651760"/>
          </a:xfrm>
          <a:prstGeom prst="roundRect">
            <a:avLst>
              <a:gd name="adj" fmla="val 3448"/>
            </a:avLst>
          </a:prstGeom>
          <a:solidFill>
            <a:srgbClr val="111A36"/>
          </a:solidFill>
          <a:ln w="9525">
            <a:solidFill>
              <a:srgbClr val="26335C"/>
            </a:solidFill>
            <a:prstDash val="solid"/>
          </a:ln>
        </p:spPr>
      </p:sp>
      <p:sp>
        <p:nvSpPr>
          <p:cNvPr id="20" name="Text 18"/>
          <p:cNvSpPr txBox="1"/>
          <p:nvPr/>
        </p:nvSpPr>
        <p:spPr>
          <a:xfrm>
            <a:off x="6553048" y="2121408"/>
            <a:ext cx="4797400" cy="237744"/>
          </a:xfrm>
          <a:prstGeom prst="rect">
            <a:avLst/>
          </a:prstGeom>
          <a:noFill/>
          <a:ln/>
        </p:spPr>
        <p:txBody>
          <a:bodyPr wrap="square" lIns="0" tIns="0" rIns="0" bIns="0" rtlCol="0" anchor="ctr"/>
          <a:lstStyle/>
          <a:p>
            <a:pPr indent="0" marL="0">
              <a:buNone/>
            </a:pPr>
            <a:r>
              <a:rPr lang="en-US" sz="900" spc="150" kern="0" dirty="0">
                <a:solidFill>
                  <a:srgbClr val="FF7A59"/>
                </a:solidFill>
                <a:latin typeface="Courier New" pitchFamily="34" charset="0"/>
                <a:ea typeface="Courier New" pitchFamily="34" charset="-122"/>
                <a:cs typeface="Courier New" pitchFamily="34" charset="-120"/>
              </a:rPr>
              <a:t>NACHTEILE</a:t>
            </a:r>
            <a:endParaRPr lang="en-US" sz="900" dirty="0"/>
          </a:p>
        </p:txBody>
      </p:sp>
      <p:sp>
        <p:nvSpPr>
          <p:cNvPr id="21" name="Shape 19"/>
          <p:cNvSpPr/>
          <p:nvPr/>
        </p:nvSpPr>
        <p:spPr>
          <a:xfrm>
            <a:off x="6553048" y="2459736"/>
            <a:ext cx="219456" cy="219456"/>
          </a:xfrm>
          <a:prstGeom prst="ellipse">
            <a:avLst/>
          </a:prstGeom>
          <a:solidFill>
            <a:srgbClr val="FF7A59"/>
          </a:solidFill>
          <a:ln w="12700">
            <a:solidFill>
              <a:srgbClr val="FF7A59"/>
            </a:solidFill>
            <a:prstDash val="solid"/>
          </a:ln>
        </p:spPr>
      </p:sp>
      <p:sp>
        <p:nvSpPr>
          <p:cNvPr id="22" name="Text 20"/>
          <p:cNvSpPr txBox="1"/>
          <p:nvPr/>
        </p:nvSpPr>
        <p:spPr>
          <a:xfrm>
            <a:off x="6553048" y="2459736"/>
            <a:ext cx="219456" cy="219456"/>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a:t>
            </a:r>
            <a:endParaRPr lang="en-US" sz="1100" dirty="0"/>
          </a:p>
        </p:txBody>
      </p:sp>
      <p:sp>
        <p:nvSpPr>
          <p:cNvPr id="23" name="Text 21"/>
          <p:cNvSpPr txBox="1"/>
          <p:nvPr/>
        </p:nvSpPr>
        <p:spPr>
          <a:xfrm>
            <a:off x="6918808" y="2432304"/>
            <a:ext cx="4431640" cy="475488"/>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Tiefbau ist teuer und langsam</a:t>
            </a:r>
            <a:endParaRPr lang="en-US" sz="1200" dirty="0"/>
          </a:p>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die Verfügbarkeit hängt an der einzelnen Adresse</a:t>
            </a:r>
            <a:endParaRPr lang="en-US" sz="1200" dirty="0"/>
          </a:p>
        </p:txBody>
      </p:sp>
      <p:sp>
        <p:nvSpPr>
          <p:cNvPr id="24" name="Shape 22"/>
          <p:cNvSpPr/>
          <p:nvPr/>
        </p:nvSpPr>
        <p:spPr>
          <a:xfrm>
            <a:off x="6553048" y="2962656"/>
            <a:ext cx="219456" cy="219456"/>
          </a:xfrm>
          <a:prstGeom prst="ellipse">
            <a:avLst/>
          </a:prstGeom>
          <a:solidFill>
            <a:srgbClr val="FF7A59"/>
          </a:solidFill>
          <a:ln w="12700">
            <a:solidFill>
              <a:srgbClr val="FF7A59"/>
            </a:solidFill>
            <a:prstDash val="solid"/>
          </a:ln>
        </p:spPr>
      </p:sp>
      <p:sp>
        <p:nvSpPr>
          <p:cNvPr id="25" name="Text 23"/>
          <p:cNvSpPr txBox="1"/>
          <p:nvPr/>
        </p:nvSpPr>
        <p:spPr>
          <a:xfrm>
            <a:off x="6553048" y="2962656"/>
            <a:ext cx="219456" cy="219456"/>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a:t>
            </a:r>
            <a:endParaRPr lang="en-US" sz="1100" dirty="0"/>
          </a:p>
        </p:txBody>
      </p:sp>
      <p:sp>
        <p:nvSpPr>
          <p:cNvPr id="26" name="Text 24"/>
          <p:cNvSpPr txBox="1"/>
          <p:nvPr/>
        </p:nvSpPr>
        <p:spPr>
          <a:xfrm>
            <a:off x="6918808" y="2935224"/>
            <a:ext cx="4431640" cy="475488"/>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Lange Wartezeit</a:t>
            </a:r>
            <a:endParaRPr lang="en-US" sz="1200" dirty="0"/>
          </a:p>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bis zum Hausanschluss oft mehrere Monate</a:t>
            </a:r>
            <a:endParaRPr lang="en-US" sz="1200" dirty="0"/>
          </a:p>
        </p:txBody>
      </p:sp>
      <p:sp>
        <p:nvSpPr>
          <p:cNvPr id="27" name="Shape 25"/>
          <p:cNvSpPr/>
          <p:nvPr/>
        </p:nvSpPr>
        <p:spPr>
          <a:xfrm>
            <a:off x="6553048" y="3465576"/>
            <a:ext cx="219456" cy="219456"/>
          </a:xfrm>
          <a:prstGeom prst="ellipse">
            <a:avLst/>
          </a:prstGeom>
          <a:solidFill>
            <a:srgbClr val="FF7A59"/>
          </a:solidFill>
          <a:ln w="12700">
            <a:solidFill>
              <a:srgbClr val="FF7A59"/>
            </a:solidFill>
            <a:prstDash val="solid"/>
          </a:ln>
        </p:spPr>
      </p:sp>
      <p:sp>
        <p:nvSpPr>
          <p:cNvPr id="28" name="Text 26"/>
          <p:cNvSpPr txBox="1"/>
          <p:nvPr/>
        </p:nvSpPr>
        <p:spPr>
          <a:xfrm>
            <a:off x="6553048" y="3465576"/>
            <a:ext cx="219456" cy="219456"/>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a:t>
            </a:r>
            <a:endParaRPr lang="en-US" sz="1100" dirty="0"/>
          </a:p>
        </p:txBody>
      </p:sp>
      <p:sp>
        <p:nvSpPr>
          <p:cNvPr id="29" name="Text 27"/>
          <p:cNvSpPr txBox="1"/>
          <p:nvPr/>
        </p:nvSpPr>
        <p:spPr>
          <a:xfrm>
            <a:off x="6918808" y="3438144"/>
            <a:ext cx="4431640" cy="475488"/>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Empfindliches Medium</a:t>
            </a:r>
            <a:endParaRPr lang="en-US" sz="1200" dirty="0"/>
          </a:p>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Biegeradius, Staub am Stecker, Spleißen braucht Spezialgerät</a:t>
            </a:r>
            <a:endParaRPr lang="en-US" sz="1200" dirty="0"/>
          </a:p>
        </p:txBody>
      </p:sp>
      <p:sp>
        <p:nvSpPr>
          <p:cNvPr id="30" name="Shape 28"/>
          <p:cNvSpPr/>
          <p:nvPr/>
        </p:nvSpPr>
        <p:spPr>
          <a:xfrm>
            <a:off x="6553048" y="3968496"/>
            <a:ext cx="219456" cy="219456"/>
          </a:xfrm>
          <a:prstGeom prst="ellipse">
            <a:avLst/>
          </a:prstGeom>
          <a:solidFill>
            <a:srgbClr val="FF7A59"/>
          </a:solidFill>
          <a:ln w="12700">
            <a:solidFill>
              <a:srgbClr val="FF7A59"/>
            </a:solidFill>
            <a:prstDash val="solid"/>
          </a:ln>
        </p:spPr>
      </p:sp>
      <p:sp>
        <p:nvSpPr>
          <p:cNvPr id="31" name="Text 29"/>
          <p:cNvSpPr txBox="1"/>
          <p:nvPr/>
        </p:nvSpPr>
        <p:spPr>
          <a:xfrm>
            <a:off x="6553048" y="3968496"/>
            <a:ext cx="219456" cy="219456"/>
          </a:xfrm>
          <a:prstGeom prst="rect">
            <a:avLst/>
          </a:prstGeom>
          <a:noFill/>
          <a:ln/>
        </p:spPr>
        <p:txBody>
          <a:bodyPr wrap="square" lIns="0" tIns="0" rIns="0" bIns="0" rtlCol="0" anchor="ctr"/>
          <a:lstStyle/>
          <a:p>
            <a:pPr algn="ctr" indent="0" marL="0">
              <a:buNone/>
            </a:pPr>
            <a:r>
              <a:rPr lang="en-US" sz="1100" b="1" dirty="0">
                <a:solidFill>
                  <a:srgbClr val="04060F"/>
                </a:solidFill>
                <a:latin typeface="Calibri" pitchFamily="34" charset="0"/>
                <a:ea typeface="Calibri" pitchFamily="34" charset="-122"/>
                <a:cs typeface="Calibri" pitchFamily="34" charset="-120"/>
              </a:rPr>
              <a:t>✕</a:t>
            </a:r>
            <a:endParaRPr lang="en-US" sz="1100" dirty="0"/>
          </a:p>
        </p:txBody>
      </p:sp>
      <p:sp>
        <p:nvSpPr>
          <p:cNvPr id="32" name="Text 30"/>
          <p:cNvSpPr txBox="1"/>
          <p:nvPr/>
        </p:nvSpPr>
        <p:spPr>
          <a:xfrm>
            <a:off x="6918808" y="3941064"/>
            <a:ext cx="4431640" cy="475488"/>
          </a:xfrm>
          <a:prstGeom prst="rect">
            <a:avLst/>
          </a:prstGeom>
          <a:noFill/>
          <a:ln/>
        </p:spPr>
        <p:txBody>
          <a:bodyPr wrap="square" lIns="0" tIns="0" rIns="0" bIns="0" rtlCol="0" anchor="t"/>
          <a:lstStyle/>
          <a:p>
            <a:pPr indent="0" marL="0">
              <a:lnSpc>
                <a:spcPct val="106000"/>
              </a:lnSpc>
              <a:buNone/>
            </a:pPr>
            <a:r>
              <a:rPr lang="en-US" sz="1200" b="1" dirty="0">
                <a:solidFill>
                  <a:srgbClr val="E9EFFA"/>
                </a:solidFill>
                <a:latin typeface="Calibri" pitchFamily="34" charset="0"/>
                <a:ea typeface="Calibri" pitchFamily="34" charset="-122"/>
                <a:cs typeface="Calibri" pitchFamily="34" charset="-120"/>
              </a:rPr>
              <a:t>ONT braucht Strom</a:t>
            </a:r>
            <a:endParaRPr lang="en-US" sz="1200" dirty="0"/>
          </a:p>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ohne USV bei Stromausfall kein Anschluss</a:t>
            </a:r>
            <a:endParaRPr lang="en-US" sz="1200" dirty="0"/>
          </a:p>
        </p:txBody>
      </p:sp>
      <p:sp>
        <p:nvSpPr>
          <p:cNvPr id="33" name="Shape 31"/>
          <p:cNvSpPr/>
          <p:nvPr/>
        </p:nvSpPr>
        <p:spPr>
          <a:xfrm>
            <a:off x="566928" y="4736592"/>
            <a:ext cx="11057839" cy="1371600"/>
          </a:xfrm>
          <a:prstGeom prst="roundRect">
            <a:avLst>
              <a:gd name="adj" fmla="val 6667"/>
            </a:avLst>
          </a:prstGeom>
          <a:solidFill>
            <a:srgbClr val="16224A"/>
          </a:solidFill>
          <a:ln w="9525">
            <a:solidFill>
              <a:srgbClr val="2EE6FF"/>
            </a:solidFill>
            <a:prstDash val="solid"/>
          </a:ln>
        </p:spPr>
      </p:sp>
      <p:sp>
        <p:nvSpPr>
          <p:cNvPr id="34" name="Text 32"/>
          <p:cNvSpPr txBox="1"/>
          <p:nvPr/>
        </p:nvSpPr>
        <p:spPr>
          <a:xfrm>
            <a:off x="886968" y="4919472"/>
            <a:ext cx="10417759" cy="256032"/>
          </a:xfrm>
          <a:prstGeom prst="rect">
            <a:avLst/>
          </a:prstGeom>
          <a:noFill/>
          <a:ln/>
        </p:spPr>
        <p:txBody>
          <a:bodyPr wrap="square" lIns="0" tIns="0" rIns="0" bIns="0" rtlCol="0" anchor="ctr"/>
          <a:lstStyle/>
          <a:p>
            <a:pPr indent="0" marL="0">
              <a:buNone/>
            </a:pPr>
            <a:r>
              <a:rPr lang="en-US" sz="1400" b="1" dirty="0">
                <a:solidFill>
                  <a:srgbClr val="2EE6FF"/>
                </a:solidFill>
                <a:latin typeface="Calibri" pitchFamily="34" charset="0"/>
                <a:ea typeface="Calibri" pitchFamily="34" charset="-122"/>
                <a:cs typeface="Calibri" pitchFamily="34" charset="-120"/>
              </a:rPr>
              <a:t>Einordnung für Teach:In</a:t>
            </a:r>
            <a:endParaRPr lang="en-US" sz="1400" dirty="0"/>
          </a:p>
        </p:txBody>
      </p:sp>
      <p:sp>
        <p:nvSpPr>
          <p:cNvPr id="35" name="Text 33"/>
          <p:cNvSpPr txBox="1"/>
          <p:nvPr/>
        </p:nvSpPr>
        <p:spPr>
          <a:xfrm>
            <a:off x="886968" y="5212080"/>
            <a:ext cx="10417759" cy="749808"/>
          </a:xfrm>
          <a:prstGeom prst="rect">
            <a:avLst/>
          </a:prstGeom>
          <a:noFill/>
          <a:ln/>
        </p:spPr>
        <p:txBody>
          <a:bodyPr wrap="square" lIns="0" tIns="0" rIns="0" bIns="0" rtlCol="0" anchor="ctr"/>
          <a:lstStyle/>
          <a:p>
            <a:pPr indent="0" marL="0">
              <a:lnSpc>
                <a:spcPct val="112000"/>
              </a:lnSpc>
              <a:buNone/>
            </a:pPr>
            <a:r>
              <a:rPr lang="en-US" sz="1150" dirty="0">
                <a:solidFill>
                  <a:srgbClr val="C9D4E8"/>
                </a:solidFill>
                <a:latin typeface="Calibri" pitchFamily="34" charset="0"/>
                <a:ea typeface="Calibri" pitchFamily="34" charset="-122"/>
                <a:cs typeface="Calibri" pitchFamily="34" charset="-120"/>
              </a:rPr>
              <a:t>Ein Schulungs- und Testzentrum lädt große VM-Images, spielt Backups zurück und hält Videokonferenzen. Genau dort zählt der Upload, und da hängt Glasfaser alle anderen Anschlussarten ab. Das Risiko liegt nicht in der Technik, sondern im Termin: Wenn am Standort noch kein Glas liegt, entscheidet die Ausbauplanung. Ein Kabel- oder 5G-Anschluss als Rückfallebene ist deshalb sinnvoll.</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07</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Wo liegt schon Glas?</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Deutschland holt schnell auf, Berlin liegt über dem Bundesschnitt. Entscheidend bleibt aber die einzelne Adresse.</a:t>
            </a:r>
            <a:endParaRPr lang="en-US" sz="1350" dirty="0"/>
          </a:p>
        </p:txBody>
      </p:sp>
      <p:sp>
        <p:nvSpPr>
          <p:cNvPr id="5" name="Shape 3"/>
          <p:cNvSpPr/>
          <p:nvPr/>
        </p:nvSpPr>
        <p:spPr>
          <a:xfrm>
            <a:off x="566928" y="1938528"/>
            <a:ext cx="2558720" cy="1463040"/>
          </a:xfrm>
          <a:prstGeom prst="roundRect">
            <a:avLst>
              <a:gd name="adj" fmla="val 6250"/>
            </a:avLst>
          </a:prstGeom>
          <a:solidFill>
            <a:srgbClr val="111A36"/>
          </a:solidFill>
          <a:ln w="9525">
            <a:solidFill>
              <a:srgbClr val="26335C"/>
            </a:solidFill>
            <a:prstDash val="solid"/>
          </a:ln>
        </p:spPr>
      </p:sp>
      <p:sp>
        <p:nvSpPr>
          <p:cNvPr id="6" name="Text 4"/>
          <p:cNvSpPr txBox="1"/>
          <p:nvPr/>
        </p:nvSpPr>
        <p:spPr>
          <a:xfrm>
            <a:off x="804672" y="2103120"/>
            <a:ext cx="2083232" cy="502920"/>
          </a:xfrm>
          <a:prstGeom prst="rect">
            <a:avLst/>
          </a:prstGeom>
          <a:noFill/>
          <a:ln/>
        </p:spPr>
        <p:txBody>
          <a:bodyPr wrap="square" lIns="0" tIns="0" rIns="0" bIns="0" rtlCol="0" anchor="ctr"/>
          <a:lstStyle/>
          <a:p>
            <a:pPr indent="0" marL="0">
              <a:buNone/>
            </a:pPr>
            <a:r>
              <a:rPr lang="en-US" sz="2800" b="1" dirty="0">
                <a:solidFill>
                  <a:srgbClr val="2EE6FF"/>
                </a:solidFill>
                <a:latin typeface="Courier New" pitchFamily="34" charset="0"/>
                <a:ea typeface="Courier New" pitchFamily="34" charset="-122"/>
                <a:cs typeface="Courier New" pitchFamily="34" charset="-120"/>
              </a:rPr>
              <a:t>62 %</a:t>
            </a:r>
            <a:endParaRPr lang="en-US" sz="2800" dirty="0"/>
          </a:p>
        </p:txBody>
      </p:sp>
      <p:sp>
        <p:nvSpPr>
          <p:cNvPr id="7" name="Text 5"/>
          <p:cNvSpPr txBox="1"/>
          <p:nvPr/>
        </p:nvSpPr>
        <p:spPr>
          <a:xfrm>
            <a:off x="804672" y="2615184"/>
            <a:ext cx="2083232" cy="685800"/>
          </a:xfrm>
          <a:prstGeom prst="rect">
            <a:avLst/>
          </a:prstGeom>
          <a:noFill/>
          <a:ln/>
        </p:spPr>
        <p:txBody>
          <a:bodyPr wrap="square" lIns="0" tIns="0" rIns="0" bIns="0" rtlCol="0" anchor="ctr"/>
          <a:lstStyle/>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der Haushalte in Deutschland erschlossen, Homes Passed im Juni 2026</a:t>
            </a:r>
            <a:endParaRPr lang="en-US" sz="1000" dirty="0"/>
          </a:p>
        </p:txBody>
      </p:sp>
      <p:sp>
        <p:nvSpPr>
          <p:cNvPr id="8" name="Shape 6"/>
          <p:cNvSpPr/>
          <p:nvPr/>
        </p:nvSpPr>
        <p:spPr>
          <a:xfrm>
            <a:off x="3399968" y="1938528"/>
            <a:ext cx="2558720" cy="1463040"/>
          </a:xfrm>
          <a:prstGeom prst="roundRect">
            <a:avLst>
              <a:gd name="adj" fmla="val 6250"/>
            </a:avLst>
          </a:prstGeom>
          <a:solidFill>
            <a:srgbClr val="111A36"/>
          </a:solidFill>
          <a:ln w="9525">
            <a:solidFill>
              <a:srgbClr val="26335C"/>
            </a:solidFill>
            <a:prstDash val="solid"/>
          </a:ln>
        </p:spPr>
      </p:sp>
      <p:sp>
        <p:nvSpPr>
          <p:cNvPr id="9" name="Text 7"/>
          <p:cNvSpPr txBox="1"/>
          <p:nvPr/>
        </p:nvSpPr>
        <p:spPr>
          <a:xfrm>
            <a:off x="3637712" y="2103120"/>
            <a:ext cx="2083232" cy="502920"/>
          </a:xfrm>
          <a:prstGeom prst="rect">
            <a:avLst/>
          </a:prstGeom>
          <a:noFill/>
          <a:ln/>
        </p:spPr>
        <p:txBody>
          <a:bodyPr wrap="square" lIns="0" tIns="0" rIns="0" bIns="0" rtlCol="0" anchor="ctr"/>
          <a:lstStyle/>
          <a:p>
            <a:pPr indent="0" marL="0">
              <a:buNone/>
            </a:pPr>
            <a:r>
              <a:rPr lang="en-US" sz="2800" b="1" dirty="0">
                <a:solidFill>
                  <a:srgbClr val="FF4FB0"/>
                </a:solidFill>
                <a:latin typeface="Courier New" pitchFamily="34" charset="0"/>
                <a:ea typeface="Courier New" pitchFamily="34" charset="-122"/>
                <a:cs typeface="Courier New" pitchFamily="34" charset="-120"/>
              </a:rPr>
              <a:t>27 %</a:t>
            </a:r>
            <a:endParaRPr lang="en-US" sz="2800" dirty="0"/>
          </a:p>
        </p:txBody>
      </p:sp>
      <p:sp>
        <p:nvSpPr>
          <p:cNvPr id="10" name="Text 8"/>
          <p:cNvSpPr txBox="1"/>
          <p:nvPr/>
        </p:nvSpPr>
        <p:spPr>
          <a:xfrm>
            <a:off x="3637712" y="2615184"/>
            <a:ext cx="2083232" cy="685800"/>
          </a:xfrm>
          <a:prstGeom prst="rect">
            <a:avLst/>
          </a:prstGeom>
          <a:noFill/>
          <a:ln/>
        </p:spPr>
        <p:txBody>
          <a:bodyPr wrap="square" lIns="0" tIns="0" rIns="0" bIns="0" rtlCol="0" anchor="ctr"/>
          <a:lstStyle/>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davon tatsächlich gebucht — 7,9 Mio. aktive Anschlüsse</a:t>
            </a:r>
            <a:endParaRPr lang="en-US" sz="1000" dirty="0"/>
          </a:p>
        </p:txBody>
      </p:sp>
      <p:sp>
        <p:nvSpPr>
          <p:cNvPr id="11" name="Shape 9"/>
          <p:cNvSpPr/>
          <p:nvPr/>
        </p:nvSpPr>
        <p:spPr>
          <a:xfrm>
            <a:off x="6233008" y="1938528"/>
            <a:ext cx="2558720" cy="1463040"/>
          </a:xfrm>
          <a:prstGeom prst="roundRect">
            <a:avLst>
              <a:gd name="adj" fmla="val 6250"/>
            </a:avLst>
          </a:prstGeom>
          <a:solidFill>
            <a:srgbClr val="111A36"/>
          </a:solidFill>
          <a:ln w="9525">
            <a:solidFill>
              <a:srgbClr val="26335C"/>
            </a:solidFill>
            <a:prstDash val="solid"/>
          </a:ln>
        </p:spPr>
      </p:sp>
      <p:sp>
        <p:nvSpPr>
          <p:cNvPr id="12" name="Text 10"/>
          <p:cNvSpPr txBox="1"/>
          <p:nvPr/>
        </p:nvSpPr>
        <p:spPr>
          <a:xfrm>
            <a:off x="6470752" y="2103120"/>
            <a:ext cx="2083232" cy="502920"/>
          </a:xfrm>
          <a:prstGeom prst="rect">
            <a:avLst/>
          </a:prstGeom>
          <a:noFill/>
          <a:ln/>
        </p:spPr>
        <p:txBody>
          <a:bodyPr wrap="square" lIns="0" tIns="0" rIns="0" bIns="0" rtlCol="0" anchor="ctr"/>
          <a:lstStyle/>
          <a:p>
            <a:pPr indent="0" marL="0">
              <a:buNone/>
            </a:pPr>
            <a:r>
              <a:rPr lang="en-US" sz="2800" b="1" dirty="0">
                <a:solidFill>
                  <a:srgbClr val="5CF2A6"/>
                </a:solidFill>
                <a:latin typeface="Courier New" pitchFamily="34" charset="0"/>
                <a:ea typeface="Courier New" pitchFamily="34" charset="-122"/>
                <a:cs typeface="Courier New" pitchFamily="34" charset="-120"/>
              </a:rPr>
              <a:t>53,4 %</a:t>
            </a:r>
            <a:endParaRPr lang="en-US" sz="2800" dirty="0"/>
          </a:p>
        </p:txBody>
      </p:sp>
      <p:sp>
        <p:nvSpPr>
          <p:cNvPr id="13" name="Text 11"/>
          <p:cNvSpPr txBox="1"/>
          <p:nvPr/>
        </p:nvSpPr>
        <p:spPr>
          <a:xfrm>
            <a:off x="6470752" y="2615184"/>
            <a:ext cx="2083232" cy="685800"/>
          </a:xfrm>
          <a:prstGeom prst="rect">
            <a:avLst/>
          </a:prstGeom>
          <a:noFill/>
          <a:ln/>
        </p:spPr>
        <p:txBody>
          <a:bodyPr wrap="square" lIns="0" tIns="0" rIns="0" bIns="0" rtlCol="0" anchor="ctr"/>
          <a:lstStyle/>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der Berliner Haushalte versorgt, plus 12,6 Punkte in einem Jahr</a:t>
            </a:r>
            <a:endParaRPr lang="en-US" sz="1000" dirty="0"/>
          </a:p>
        </p:txBody>
      </p:sp>
      <p:sp>
        <p:nvSpPr>
          <p:cNvPr id="14" name="Shape 12"/>
          <p:cNvSpPr/>
          <p:nvPr/>
        </p:nvSpPr>
        <p:spPr>
          <a:xfrm>
            <a:off x="9066047" y="1938528"/>
            <a:ext cx="2558720" cy="1463040"/>
          </a:xfrm>
          <a:prstGeom prst="roundRect">
            <a:avLst>
              <a:gd name="adj" fmla="val 6250"/>
            </a:avLst>
          </a:prstGeom>
          <a:solidFill>
            <a:srgbClr val="111A36"/>
          </a:solidFill>
          <a:ln w="9525">
            <a:solidFill>
              <a:srgbClr val="26335C"/>
            </a:solidFill>
            <a:prstDash val="solid"/>
          </a:ln>
        </p:spPr>
      </p:sp>
      <p:sp>
        <p:nvSpPr>
          <p:cNvPr id="15" name="Text 13"/>
          <p:cNvSpPr txBox="1"/>
          <p:nvPr/>
        </p:nvSpPr>
        <p:spPr>
          <a:xfrm>
            <a:off x="9303791" y="2103120"/>
            <a:ext cx="2083232" cy="502920"/>
          </a:xfrm>
          <a:prstGeom prst="rect">
            <a:avLst/>
          </a:prstGeom>
          <a:noFill/>
          <a:ln/>
        </p:spPr>
        <p:txBody>
          <a:bodyPr wrap="square" lIns="0" tIns="0" rIns="0" bIns="0" rtlCol="0" anchor="ctr"/>
          <a:lstStyle/>
          <a:p>
            <a:pPr indent="0" marL="0">
              <a:buNone/>
            </a:pPr>
            <a:r>
              <a:rPr lang="en-US" sz="2800" b="1" dirty="0">
                <a:solidFill>
                  <a:srgbClr val="FFB43C"/>
                </a:solidFill>
                <a:latin typeface="Courier New" pitchFamily="34" charset="0"/>
                <a:ea typeface="Courier New" pitchFamily="34" charset="-122"/>
                <a:cs typeface="Courier New" pitchFamily="34" charset="-120"/>
              </a:rPr>
              <a:t>96,2 %</a:t>
            </a:r>
            <a:endParaRPr lang="en-US" sz="2800" dirty="0"/>
          </a:p>
        </p:txBody>
      </p:sp>
      <p:sp>
        <p:nvSpPr>
          <p:cNvPr id="16" name="Text 14"/>
          <p:cNvSpPr txBox="1"/>
          <p:nvPr/>
        </p:nvSpPr>
        <p:spPr>
          <a:xfrm>
            <a:off x="9303791" y="2615184"/>
            <a:ext cx="2083232" cy="685800"/>
          </a:xfrm>
          <a:prstGeom prst="rect">
            <a:avLst/>
          </a:prstGeom>
          <a:noFill/>
          <a:ln/>
        </p:spPr>
        <p:txBody>
          <a:bodyPr wrap="square" lIns="0" tIns="0" rIns="0" bIns="0" rtlCol="0" anchor="ctr"/>
          <a:lstStyle/>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Gigabit-Abdeckung in Berlin, überwiegend noch über Kabel</a:t>
            </a:r>
            <a:endParaRPr lang="en-US" sz="1000" dirty="0"/>
          </a:p>
        </p:txBody>
      </p:sp>
      <p:sp>
        <p:nvSpPr>
          <p:cNvPr id="17" name="Shape 15"/>
          <p:cNvSpPr/>
          <p:nvPr/>
        </p:nvSpPr>
        <p:spPr>
          <a:xfrm>
            <a:off x="566928" y="3611880"/>
            <a:ext cx="5346040" cy="2377440"/>
          </a:xfrm>
          <a:prstGeom prst="roundRect">
            <a:avLst>
              <a:gd name="adj" fmla="val 3846"/>
            </a:avLst>
          </a:prstGeom>
          <a:solidFill>
            <a:srgbClr val="111A36"/>
          </a:solidFill>
          <a:ln w="9525">
            <a:solidFill>
              <a:srgbClr val="26335C"/>
            </a:solidFill>
            <a:prstDash val="solid"/>
          </a:ln>
        </p:spPr>
      </p:sp>
      <p:sp>
        <p:nvSpPr>
          <p:cNvPr id="18" name="Text 16"/>
          <p:cNvSpPr txBox="1"/>
          <p:nvPr/>
        </p:nvSpPr>
        <p:spPr>
          <a:xfrm>
            <a:off x="859536" y="3803904"/>
            <a:ext cx="4760824" cy="274320"/>
          </a:xfrm>
          <a:prstGeom prst="rect">
            <a:avLst/>
          </a:prstGeom>
          <a:noFill/>
          <a:ln/>
        </p:spPr>
        <p:txBody>
          <a:bodyPr wrap="square" lIns="0" tIns="0" rIns="0" bIns="0" rtlCol="0" anchor="ctr"/>
          <a:lstStyle/>
          <a:p>
            <a:pPr indent="0" marL="0">
              <a:buNone/>
            </a:pPr>
            <a:r>
              <a:rPr lang="en-US" sz="1500" b="1" dirty="0">
                <a:solidFill>
                  <a:srgbClr val="E9EFFA"/>
                </a:solidFill>
                <a:latin typeface="Calibri" pitchFamily="34" charset="0"/>
                <a:ea typeface="Calibri" pitchFamily="34" charset="-122"/>
                <a:cs typeface="Calibri" pitchFamily="34" charset="-120"/>
              </a:rPr>
              <a:t>Berlin</a:t>
            </a:r>
            <a:endParaRPr lang="en-US" sz="1500" dirty="0"/>
          </a:p>
        </p:txBody>
      </p:sp>
      <p:sp>
        <p:nvSpPr>
          <p:cNvPr id="19" name="Text 17"/>
          <p:cNvSpPr txBox="1"/>
          <p:nvPr/>
        </p:nvSpPr>
        <p:spPr>
          <a:xfrm>
            <a:off x="859536" y="4114800"/>
            <a:ext cx="4760824" cy="1691640"/>
          </a:xfrm>
          <a:prstGeom prst="rect">
            <a:avLst/>
          </a:prstGeom>
          <a:noFill/>
          <a:ln/>
        </p:spPr>
        <p:txBody>
          <a:bodyPr wrap="square" lIns="0" tIns="0" rIns="0" bIns="0" rtlCol="0" anchor="ctr"/>
          <a:lstStyle/>
          <a:p>
            <a:pPr indent="0" marL="0">
              <a:lnSpc>
                <a:spcPct val="114000"/>
              </a:lnSpc>
              <a:buNone/>
            </a:pPr>
            <a:r>
              <a:rPr lang="en-US" sz="1150" dirty="0">
                <a:solidFill>
                  <a:srgbClr val="8E9BB8"/>
                </a:solidFill>
                <a:latin typeface="Calibri" pitchFamily="34" charset="0"/>
                <a:ea typeface="Calibri" pitchFamily="34" charset="-122"/>
                <a:cs typeface="Calibri" pitchFamily="34" charset="-120"/>
              </a:rPr>
              <a:t>Die Innenstadtbezirke sind gut versorgt, die Randbezirke im Ausbau. Die Telekom hat im Mai 2026 eine Million Anschlüsse erreicht und will bis 2030 auf zwei Millionen kommen. Daneben bauen OXG, GlasfaserPlus und DNS:NET.</a:t>
            </a:r>
            <a:endParaRPr lang="en-US" sz="1150" dirty="0"/>
          </a:p>
          <a:p>
            <a:pPr indent="0" marL="0">
              <a:lnSpc>
                <a:spcPct val="114000"/>
              </a:lnSpc>
              <a:buNone/>
            </a:pPr>
            <a:endParaRPr lang="en-US" sz="1150" dirty="0"/>
          </a:p>
          <a:p>
            <a:pPr indent="0" marL="0">
              <a:lnSpc>
                <a:spcPct val="114000"/>
              </a:lnSpc>
              <a:buNone/>
            </a:pPr>
            <a:r>
              <a:rPr lang="en-US" sz="1150" dirty="0">
                <a:solidFill>
                  <a:srgbClr val="8E9BB8"/>
                </a:solidFill>
                <a:latin typeface="Calibri" pitchFamily="34" charset="0"/>
                <a:ea typeface="Calibri" pitchFamily="34" charset="-122"/>
                <a:cs typeface="Calibri" pitchFamily="34" charset="-120"/>
              </a:rPr>
              <a:t>In derselben Straße kann ein Haus FTTH haben und das Nachbarhaus nicht.</a:t>
            </a:r>
            <a:endParaRPr lang="en-US" sz="1150" dirty="0"/>
          </a:p>
        </p:txBody>
      </p:sp>
      <p:sp>
        <p:nvSpPr>
          <p:cNvPr id="20" name="Shape 18"/>
          <p:cNvSpPr/>
          <p:nvPr/>
        </p:nvSpPr>
        <p:spPr>
          <a:xfrm>
            <a:off x="6278728" y="3611880"/>
            <a:ext cx="5346040" cy="2377440"/>
          </a:xfrm>
          <a:prstGeom prst="roundRect">
            <a:avLst>
              <a:gd name="adj" fmla="val 3846"/>
            </a:avLst>
          </a:prstGeom>
          <a:solidFill>
            <a:srgbClr val="16224A"/>
          </a:solidFill>
          <a:ln w="9525">
            <a:solidFill>
              <a:srgbClr val="2EE6FF"/>
            </a:solidFill>
            <a:prstDash val="solid"/>
          </a:ln>
        </p:spPr>
      </p:sp>
      <p:sp>
        <p:nvSpPr>
          <p:cNvPr id="21" name="Text 19"/>
          <p:cNvSpPr txBox="1"/>
          <p:nvPr/>
        </p:nvSpPr>
        <p:spPr>
          <a:xfrm>
            <a:off x="6571336" y="3803904"/>
            <a:ext cx="4760824" cy="274320"/>
          </a:xfrm>
          <a:prstGeom prst="rect">
            <a:avLst/>
          </a:prstGeom>
          <a:noFill/>
          <a:ln/>
        </p:spPr>
        <p:txBody>
          <a:bodyPr wrap="square" lIns="0" tIns="0" rIns="0" bIns="0" rtlCol="0" anchor="ctr"/>
          <a:lstStyle/>
          <a:p>
            <a:pPr indent="0" marL="0">
              <a:buNone/>
            </a:pPr>
            <a:r>
              <a:rPr lang="en-US" sz="1500" b="1" dirty="0">
                <a:solidFill>
                  <a:srgbClr val="2EE6FF"/>
                </a:solidFill>
                <a:latin typeface="Calibri" pitchFamily="34" charset="0"/>
                <a:ea typeface="Calibri" pitchFamily="34" charset="-122"/>
                <a:cs typeface="Calibri" pitchFamily="34" charset="-120"/>
              </a:rPr>
              <a:t>Beim Kunden Teach:In prüfen</a:t>
            </a:r>
            <a:endParaRPr lang="en-US" sz="1500" dirty="0"/>
          </a:p>
        </p:txBody>
      </p:sp>
      <p:sp>
        <p:nvSpPr>
          <p:cNvPr id="22" name="Shape 20"/>
          <p:cNvSpPr/>
          <p:nvPr/>
        </p:nvSpPr>
        <p:spPr>
          <a:xfrm>
            <a:off x="6571336" y="4169664"/>
            <a:ext cx="274320" cy="274320"/>
          </a:xfrm>
          <a:prstGeom prst="ellipse">
            <a:avLst/>
          </a:prstGeom>
          <a:solidFill>
            <a:srgbClr val="111A36"/>
          </a:solidFill>
          <a:ln w="25400">
            <a:solidFill>
              <a:srgbClr val="2EE6FF"/>
            </a:solidFill>
            <a:prstDash val="solid"/>
          </a:ln>
        </p:spPr>
      </p:sp>
      <p:sp>
        <p:nvSpPr>
          <p:cNvPr id="23" name="Text 21"/>
          <p:cNvSpPr txBox="1"/>
          <p:nvPr/>
        </p:nvSpPr>
        <p:spPr>
          <a:xfrm>
            <a:off x="6571336" y="4169664"/>
            <a:ext cx="274320" cy="274320"/>
          </a:xfrm>
          <a:prstGeom prst="rect">
            <a:avLst/>
          </a:prstGeom>
          <a:noFill/>
          <a:ln/>
        </p:spPr>
        <p:txBody>
          <a:bodyPr wrap="square" lIns="0" tIns="0" rIns="0" bIns="0" rtlCol="0" anchor="ctr"/>
          <a:lstStyle/>
          <a:p>
            <a:pPr algn="ctr" indent="0" marL="0">
              <a:buNone/>
            </a:pPr>
            <a:r>
              <a:rPr lang="en-US" sz="1100" b="1" dirty="0">
                <a:solidFill>
                  <a:srgbClr val="2EE6FF"/>
                </a:solidFill>
                <a:latin typeface="Courier New" pitchFamily="34" charset="0"/>
                <a:ea typeface="Courier New" pitchFamily="34" charset="-122"/>
                <a:cs typeface="Courier New" pitchFamily="34" charset="-120"/>
              </a:rPr>
              <a:t>1</a:t>
            </a:r>
            <a:endParaRPr lang="en-US" sz="1100" dirty="0"/>
          </a:p>
        </p:txBody>
      </p:sp>
      <p:sp>
        <p:nvSpPr>
          <p:cNvPr id="24" name="Text 22"/>
          <p:cNvSpPr txBox="1"/>
          <p:nvPr/>
        </p:nvSpPr>
        <p:spPr>
          <a:xfrm>
            <a:off x="6955384" y="4151376"/>
            <a:ext cx="4340200" cy="512064"/>
          </a:xfrm>
          <a:prstGeom prst="rect">
            <a:avLst/>
          </a:prstGeom>
          <a:noFill/>
          <a:ln/>
        </p:spPr>
        <p:txBody>
          <a:bodyPr wrap="square" lIns="0" tIns="0" rIns="0" bIns="0" rtlCol="0" anchor="ctr"/>
          <a:lstStyle/>
          <a:p>
            <a:pPr indent="0" marL="0">
              <a:lnSpc>
                <a:spcPct val="110000"/>
              </a:lnSpc>
              <a:buNone/>
            </a:pPr>
            <a:r>
              <a:rPr lang="en-US" sz="1100" dirty="0">
                <a:solidFill>
                  <a:srgbClr val="C9D4E8"/>
                </a:solidFill>
                <a:latin typeface="Calibri" pitchFamily="34" charset="0"/>
                <a:ea typeface="Calibri" pitchFamily="34" charset="-122"/>
                <a:cs typeface="Calibri" pitchFamily="34" charset="-120"/>
              </a:rPr>
              <a:t>Adresse im Gigabit-Grundbuch des Bundes und bei Telekom, Vodafone und DNS:NET abfragen.</a:t>
            </a:r>
            <a:endParaRPr lang="en-US" sz="1100" dirty="0"/>
          </a:p>
        </p:txBody>
      </p:sp>
      <p:sp>
        <p:nvSpPr>
          <p:cNvPr id="25" name="Shape 23"/>
          <p:cNvSpPr/>
          <p:nvPr/>
        </p:nvSpPr>
        <p:spPr>
          <a:xfrm>
            <a:off x="6571336" y="4736592"/>
            <a:ext cx="274320" cy="274320"/>
          </a:xfrm>
          <a:prstGeom prst="ellipse">
            <a:avLst/>
          </a:prstGeom>
          <a:solidFill>
            <a:srgbClr val="111A36"/>
          </a:solidFill>
          <a:ln w="25400">
            <a:solidFill>
              <a:srgbClr val="2EE6FF"/>
            </a:solidFill>
            <a:prstDash val="solid"/>
          </a:ln>
        </p:spPr>
      </p:sp>
      <p:sp>
        <p:nvSpPr>
          <p:cNvPr id="26" name="Text 24"/>
          <p:cNvSpPr txBox="1"/>
          <p:nvPr/>
        </p:nvSpPr>
        <p:spPr>
          <a:xfrm>
            <a:off x="6571336" y="4736592"/>
            <a:ext cx="274320" cy="274320"/>
          </a:xfrm>
          <a:prstGeom prst="rect">
            <a:avLst/>
          </a:prstGeom>
          <a:noFill/>
          <a:ln/>
        </p:spPr>
        <p:txBody>
          <a:bodyPr wrap="square" lIns="0" tIns="0" rIns="0" bIns="0" rtlCol="0" anchor="ctr"/>
          <a:lstStyle/>
          <a:p>
            <a:pPr algn="ctr" indent="0" marL="0">
              <a:buNone/>
            </a:pPr>
            <a:r>
              <a:rPr lang="en-US" sz="1100" b="1" dirty="0">
                <a:solidFill>
                  <a:srgbClr val="2EE6FF"/>
                </a:solidFill>
                <a:latin typeface="Courier New" pitchFamily="34" charset="0"/>
                <a:ea typeface="Courier New" pitchFamily="34" charset="-122"/>
                <a:cs typeface="Courier New" pitchFamily="34" charset="-120"/>
              </a:rPr>
              <a:t>2</a:t>
            </a:r>
            <a:endParaRPr lang="en-US" sz="1100" dirty="0"/>
          </a:p>
        </p:txBody>
      </p:sp>
      <p:sp>
        <p:nvSpPr>
          <p:cNvPr id="27" name="Text 25"/>
          <p:cNvSpPr txBox="1"/>
          <p:nvPr/>
        </p:nvSpPr>
        <p:spPr>
          <a:xfrm>
            <a:off x="6955384" y="4718304"/>
            <a:ext cx="4340200" cy="512064"/>
          </a:xfrm>
          <a:prstGeom prst="rect">
            <a:avLst/>
          </a:prstGeom>
          <a:noFill/>
          <a:ln/>
        </p:spPr>
        <p:txBody>
          <a:bodyPr wrap="square" lIns="0" tIns="0" rIns="0" bIns="0" rtlCol="0" anchor="ctr"/>
          <a:lstStyle/>
          <a:p>
            <a:pPr indent="0" marL="0">
              <a:lnSpc>
                <a:spcPct val="110000"/>
              </a:lnSpc>
              <a:buNone/>
            </a:pPr>
            <a:r>
              <a:rPr lang="en-US" sz="1100" dirty="0">
                <a:solidFill>
                  <a:srgbClr val="C9D4E8"/>
                </a:solidFill>
                <a:latin typeface="Calibri" pitchFamily="34" charset="0"/>
                <a:ea typeface="Calibri" pitchFamily="34" charset="-122"/>
                <a:cs typeface="Calibri" pitchFamily="34" charset="-120"/>
              </a:rPr>
              <a:t>Hausverwaltung fragen, ob im Keller schon ein Gf-AP sitzt.</a:t>
            </a:r>
            <a:endParaRPr lang="en-US" sz="1100" dirty="0"/>
          </a:p>
        </p:txBody>
      </p:sp>
      <p:sp>
        <p:nvSpPr>
          <p:cNvPr id="28" name="Shape 26"/>
          <p:cNvSpPr/>
          <p:nvPr/>
        </p:nvSpPr>
        <p:spPr>
          <a:xfrm>
            <a:off x="6571336" y="5303520"/>
            <a:ext cx="274320" cy="274320"/>
          </a:xfrm>
          <a:prstGeom prst="ellipse">
            <a:avLst/>
          </a:prstGeom>
          <a:solidFill>
            <a:srgbClr val="111A36"/>
          </a:solidFill>
          <a:ln w="25400">
            <a:solidFill>
              <a:srgbClr val="2EE6FF"/>
            </a:solidFill>
            <a:prstDash val="solid"/>
          </a:ln>
        </p:spPr>
      </p:sp>
      <p:sp>
        <p:nvSpPr>
          <p:cNvPr id="29" name="Text 27"/>
          <p:cNvSpPr txBox="1"/>
          <p:nvPr/>
        </p:nvSpPr>
        <p:spPr>
          <a:xfrm>
            <a:off x="6571336" y="5303520"/>
            <a:ext cx="274320" cy="274320"/>
          </a:xfrm>
          <a:prstGeom prst="rect">
            <a:avLst/>
          </a:prstGeom>
          <a:noFill/>
          <a:ln/>
        </p:spPr>
        <p:txBody>
          <a:bodyPr wrap="square" lIns="0" tIns="0" rIns="0" bIns="0" rtlCol="0" anchor="ctr"/>
          <a:lstStyle/>
          <a:p>
            <a:pPr algn="ctr" indent="0" marL="0">
              <a:buNone/>
            </a:pPr>
            <a:r>
              <a:rPr lang="en-US" sz="1100" b="1" dirty="0">
                <a:solidFill>
                  <a:srgbClr val="2EE6FF"/>
                </a:solidFill>
                <a:latin typeface="Courier New" pitchFamily="34" charset="0"/>
                <a:ea typeface="Courier New" pitchFamily="34" charset="-122"/>
                <a:cs typeface="Courier New" pitchFamily="34" charset="-120"/>
              </a:rPr>
              <a:t>3</a:t>
            </a:r>
            <a:endParaRPr lang="en-US" sz="1100" dirty="0"/>
          </a:p>
        </p:txBody>
      </p:sp>
      <p:sp>
        <p:nvSpPr>
          <p:cNvPr id="30" name="Text 28"/>
          <p:cNvSpPr txBox="1"/>
          <p:nvPr/>
        </p:nvSpPr>
        <p:spPr>
          <a:xfrm>
            <a:off x="6955384" y="5285232"/>
            <a:ext cx="4340200" cy="512064"/>
          </a:xfrm>
          <a:prstGeom prst="rect">
            <a:avLst/>
          </a:prstGeom>
          <a:noFill/>
          <a:ln/>
        </p:spPr>
        <p:txBody>
          <a:bodyPr wrap="square" lIns="0" tIns="0" rIns="0" bIns="0" rtlCol="0" anchor="ctr"/>
          <a:lstStyle/>
          <a:p>
            <a:pPr indent="0" marL="0">
              <a:lnSpc>
                <a:spcPct val="110000"/>
              </a:lnSpc>
              <a:buNone/>
            </a:pPr>
            <a:r>
              <a:rPr lang="en-US" sz="1100" dirty="0">
                <a:solidFill>
                  <a:srgbClr val="C9D4E8"/>
                </a:solidFill>
                <a:latin typeface="Calibri" pitchFamily="34" charset="0"/>
                <a:ea typeface="Calibri" pitchFamily="34" charset="-122"/>
                <a:cs typeface="Calibri" pitchFamily="34" charset="-120"/>
              </a:rPr>
              <a:t>Ohne FTTH: Geschäftskunden bekommen meist eine Direktanbindung gegen Baukostenzuschuss.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08</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Was kostet der Anschluss?</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Richtwerte vom September 2026. Aktionspreise für die ersten Monate sind nicht eingerechnet.</a:t>
            </a:r>
            <a:endParaRPr lang="en-US" sz="1350" dirty="0"/>
          </a:p>
        </p:txBody>
      </p:sp>
      <p:sp>
        <p:nvSpPr>
          <p:cNvPr id="5" name="Shape 3"/>
          <p:cNvSpPr/>
          <p:nvPr/>
        </p:nvSpPr>
        <p:spPr>
          <a:xfrm>
            <a:off x="566928" y="1938528"/>
            <a:ext cx="3490874" cy="2487168"/>
          </a:xfrm>
          <a:prstGeom prst="roundRect">
            <a:avLst>
              <a:gd name="adj" fmla="val 3676"/>
            </a:avLst>
          </a:prstGeom>
          <a:solidFill>
            <a:srgbClr val="111A36"/>
          </a:solidFill>
          <a:ln w="9525">
            <a:solidFill>
              <a:srgbClr val="26335C"/>
            </a:solidFill>
            <a:prstDash val="solid"/>
          </a:ln>
        </p:spPr>
      </p:sp>
      <p:sp>
        <p:nvSpPr>
          <p:cNvPr id="6" name="Shape 4"/>
          <p:cNvSpPr/>
          <p:nvPr/>
        </p:nvSpPr>
        <p:spPr>
          <a:xfrm>
            <a:off x="841248" y="2139696"/>
            <a:ext cx="2011680" cy="274320"/>
          </a:xfrm>
          <a:prstGeom prst="roundRect">
            <a:avLst>
              <a:gd name="adj" fmla="val 50000"/>
            </a:avLst>
          </a:prstGeom>
          <a:ln w="9525">
            <a:solidFill>
              <a:srgbClr val="3A4A78"/>
            </a:solidFill>
            <a:prstDash val="solid"/>
          </a:ln>
        </p:spPr>
      </p:sp>
      <p:sp>
        <p:nvSpPr>
          <p:cNvPr id="7" name="Text 5"/>
          <p:cNvSpPr txBox="1"/>
          <p:nvPr/>
        </p:nvSpPr>
        <p:spPr>
          <a:xfrm>
            <a:off x="841248" y="2139696"/>
            <a:ext cx="2011680" cy="274320"/>
          </a:xfrm>
          <a:prstGeom prst="rect">
            <a:avLst/>
          </a:prstGeom>
          <a:noFill/>
          <a:ln/>
        </p:spPr>
        <p:txBody>
          <a:bodyPr wrap="square" lIns="0" tIns="0" rIns="0" bIns="0" rtlCol="0" anchor="ctr"/>
          <a:lstStyle/>
          <a:p>
            <a:pPr algn="ctr" indent="0" marL="0">
              <a:buNone/>
            </a:pPr>
            <a:r>
              <a:rPr lang="en-US" sz="850" dirty="0">
                <a:solidFill>
                  <a:srgbClr val="8E9BB8"/>
                </a:solidFill>
                <a:latin typeface="Courier New" pitchFamily="34" charset="0"/>
                <a:ea typeface="Courier New" pitchFamily="34" charset="-122"/>
                <a:cs typeface="Courier New" pitchFamily="34" charset="-120"/>
              </a:rPr>
              <a:t>Privat / SoHo</a:t>
            </a:r>
            <a:endParaRPr lang="en-US" sz="850" dirty="0"/>
          </a:p>
        </p:txBody>
      </p:sp>
      <p:sp>
        <p:nvSpPr>
          <p:cNvPr id="8" name="Text 6"/>
          <p:cNvSpPr txBox="1"/>
          <p:nvPr/>
        </p:nvSpPr>
        <p:spPr>
          <a:xfrm>
            <a:off x="841248" y="2523744"/>
            <a:ext cx="2942234" cy="457200"/>
          </a:xfrm>
          <a:prstGeom prst="rect">
            <a:avLst/>
          </a:prstGeom>
          <a:noFill/>
          <a:ln/>
        </p:spPr>
        <p:txBody>
          <a:bodyPr wrap="square" lIns="0" tIns="0" rIns="0" bIns="0" rtlCol="0" anchor="ctr"/>
          <a:lstStyle/>
          <a:p>
            <a:pPr indent="0" marL="0">
              <a:buNone/>
            </a:pPr>
            <a:r>
              <a:rPr lang="en-US" sz="2600" b="1" dirty="0">
                <a:solidFill>
                  <a:srgbClr val="E9EFFA"/>
                </a:solidFill>
                <a:latin typeface="Courier New" pitchFamily="34" charset="0"/>
                <a:ea typeface="Courier New" pitchFamily="34" charset="-122"/>
                <a:cs typeface="Courier New" pitchFamily="34" charset="-120"/>
              </a:rPr>
              <a:t>46–71 €</a:t>
            </a:r>
            <a:endParaRPr lang="en-US" sz="2600" dirty="0"/>
          </a:p>
        </p:txBody>
      </p:sp>
      <p:sp>
        <p:nvSpPr>
          <p:cNvPr id="9" name="Text 7"/>
          <p:cNvSpPr txBox="1"/>
          <p:nvPr/>
        </p:nvSpPr>
        <p:spPr>
          <a:xfrm>
            <a:off x="841248" y="2980944"/>
            <a:ext cx="2942234" cy="219456"/>
          </a:xfrm>
          <a:prstGeom prst="rect">
            <a:avLst/>
          </a:prstGeom>
          <a:noFill/>
          <a:ln/>
        </p:spPr>
        <p:txBody>
          <a:bodyPr wrap="square" lIns="0" tIns="0" rIns="0" bIns="0" rtlCol="0" anchor="ctr"/>
          <a:lstStyle/>
          <a:p>
            <a:pPr indent="0" marL="0">
              <a:buNone/>
            </a:pPr>
            <a:r>
              <a:rPr lang="en-US" sz="1000" dirty="0">
                <a:solidFill>
                  <a:srgbClr val="8E9BB8"/>
                </a:solidFill>
                <a:latin typeface="Calibri" pitchFamily="34" charset="0"/>
                <a:ea typeface="Calibri" pitchFamily="34" charset="-122"/>
                <a:cs typeface="Calibri" pitchFamily="34" charset="-120"/>
              </a:rPr>
              <a:t>pro Monat</a:t>
            </a:r>
            <a:endParaRPr lang="en-US" sz="1000" dirty="0"/>
          </a:p>
        </p:txBody>
      </p:sp>
      <p:sp>
        <p:nvSpPr>
          <p:cNvPr id="10" name="Text 8"/>
          <p:cNvSpPr txBox="1"/>
          <p:nvPr/>
        </p:nvSpPr>
        <p:spPr>
          <a:xfrm>
            <a:off x="841248" y="3273552"/>
            <a:ext cx="2942234" cy="10058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Glasfaser 150 für 45,95 €</a:t>
            </a:r>
            <a:endParaRPr lang="en-US" sz="1050" dirty="0"/>
          </a:p>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Glasfaser 300 für 50,95 €</a:t>
            </a:r>
            <a:endParaRPr lang="en-US" sz="1050" dirty="0"/>
          </a:p>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Glasfaser 1000 für 70,95 €</a:t>
            </a:r>
            <a:endParaRPr lang="en-US" sz="1050" dirty="0"/>
          </a:p>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Bereitstellung einmalig 69,95 €</a:t>
            </a:r>
            <a:endParaRPr lang="en-US" sz="1050" dirty="0"/>
          </a:p>
        </p:txBody>
      </p:sp>
      <p:sp>
        <p:nvSpPr>
          <p:cNvPr id="11" name="Shape 9"/>
          <p:cNvSpPr/>
          <p:nvPr/>
        </p:nvSpPr>
        <p:spPr>
          <a:xfrm>
            <a:off x="4350410" y="1938528"/>
            <a:ext cx="3490874" cy="2487168"/>
          </a:xfrm>
          <a:prstGeom prst="roundRect">
            <a:avLst>
              <a:gd name="adj" fmla="val 3676"/>
            </a:avLst>
          </a:prstGeom>
          <a:solidFill>
            <a:srgbClr val="16224A"/>
          </a:solidFill>
          <a:ln w="9525">
            <a:solidFill>
              <a:srgbClr val="2EE6FF"/>
            </a:solidFill>
            <a:prstDash val="solid"/>
          </a:ln>
        </p:spPr>
      </p:sp>
      <p:sp>
        <p:nvSpPr>
          <p:cNvPr id="12" name="Shape 10"/>
          <p:cNvSpPr/>
          <p:nvPr/>
        </p:nvSpPr>
        <p:spPr>
          <a:xfrm>
            <a:off x="4624730" y="2139696"/>
            <a:ext cx="2011680" cy="274320"/>
          </a:xfrm>
          <a:prstGeom prst="roundRect">
            <a:avLst>
              <a:gd name="adj" fmla="val 50000"/>
            </a:avLst>
          </a:prstGeom>
          <a:ln w="9525">
            <a:solidFill>
              <a:srgbClr val="2EE6FF"/>
            </a:solidFill>
            <a:prstDash val="solid"/>
          </a:ln>
        </p:spPr>
      </p:sp>
      <p:sp>
        <p:nvSpPr>
          <p:cNvPr id="13" name="Text 11"/>
          <p:cNvSpPr txBox="1"/>
          <p:nvPr/>
        </p:nvSpPr>
        <p:spPr>
          <a:xfrm>
            <a:off x="4624730" y="2139696"/>
            <a:ext cx="2011680" cy="274320"/>
          </a:xfrm>
          <a:prstGeom prst="rect">
            <a:avLst/>
          </a:prstGeom>
          <a:noFill/>
          <a:ln/>
        </p:spPr>
        <p:txBody>
          <a:bodyPr wrap="square" lIns="0" tIns="0" rIns="0" bIns="0" rtlCol="0" anchor="ctr"/>
          <a:lstStyle/>
          <a:p>
            <a:pPr algn="ctr" indent="0" marL="0">
              <a:buNone/>
            </a:pPr>
            <a:r>
              <a:rPr lang="en-US" sz="850" dirty="0">
                <a:solidFill>
                  <a:srgbClr val="2EE6FF"/>
                </a:solidFill>
                <a:latin typeface="Courier New" pitchFamily="34" charset="0"/>
                <a:ea typeface="Courier New" pitchFamily="34" charset="-122"/>
                <a:cs typeface="Courier New" pitchFamily="34" charset="-120"/>
              </a:rPr>
              <a:t>Business, feste IP</a:t>
            </a:r>
            <a:endParaRPr lang="en-US" sz="850" dirty="0"/>
          </a:p>
        </p:txBody>
      </p:sp>
      <p:sp>
        <p:nvSpPr>
          <p:cNvPr id="14" name="Text 12"/>
          <p:cNvSpPr txBox="1"/>
          <p:nvPr/>
        </p:nvSpPr>
        <p:spPr>
          <a:xfrm>
            <a:off x="4624730" y="2523744"/>
            <a:ext cx="2942234" cy="457200"/>
          </a:xfrm>
          <a:prstGeom prst="rect">
            <a:avLst/>
          </a:prstGeom>
          <a:noFill/>
          <a:ln/>
        </p:spPr>
        <p:txBody>
          <a:bodyPr wrap="square" lIns="0" tIns="0" rIns="0" bIns="0" rtlCol="0" anchor="ctr"/>
          <a:lstStyle/>
          <a:p>
            <a:pPr indent="0" marL="0">
              <a:buNone/>
            </a:pPr>
            <a:r>
              <a:rPr lang="en-US" sz="2600" b="1" dirty="0">
                <a:solidFill>
                  <a:srgbClr val="2EE6FF"/>
                </a:solidFill>
                <a:latin typeface="Courier New" pitchFamily="34" charset="0"/>
                <a:ea typeface="Courier New" pitchFamily="34" charset="-122"/>
                <a:cs typeface="Courier New" pitchFamily="34" charset="-120"/>
              </a:rPr>
              <a:t>50–120 €</a:t>
            </a:r>
            <a:endParaRPr lang="en-US" sz="2600" dirty="0"/>
          </a:p>
        </p:txBody>
      </p:sp>
      <p:sp>
        <p:nvSpPr>
          <p:cNvPr id="15" name="Text 13"/>
          <p:cNvSpPr txBox="1"/>
          <p:nvPr/>
        </p:nvSpPr>
        <p:spPr>
          <a:xfrm>
            <a:off x="4624730" y="2980944"/>
            <a:ext cx="2942234" cy="219456"/>
          </a:xfrm>
          <a:prstGeom prst="rect">
            <a:avLst/>
          </a:prstGeom>
          <a:noFill/>
          <a:ln/>
        </p:spPr>
        <p:txBody>
          <a:bodyPr wrap="square" lIns="0" tIns="0" rIns="0" bIns="0" rtlCol="0" anchor="ctr"/>
          <a:lstStyle/>
          <a:p>
            <a:pPr indent="0" marL="0">
              <a:buNone/>
            </a:pPr>
            <a:r>
              <a:rPr lang="en-US" sz="1000" dirty="0">
                <a:solidFill>
                  <a:srgbClr val="8E9BB8"/>
                </a:solidFill>
                <a:latin typeface="Calibri" pitchFamily="34" charset="0"/>
                <a:ea typeface="Calibri" pitchFamily="34" charset="-122"/>
                <a:cs typeface="Calibri" pitchFamily="34" charset="-120"/>
              </a:rPr>
              <a:t>pro Monat netto</a:t>
            </a:r>
            <a:endParaRPr lang="en-US" sz="1000" dirty="0"/>
          </a:p>
        </p:txBody>
      </p:sp>
      <p:sp>
        <p:nvSpPr>
          <p:cNvPr id="16" name="Text 14"/>
          <p:cNvSpPr txBox="1"/>
          <p:nvPr/>
        </p:nvSpPr>
        <p:spPr>
          <a:xfrm>
            <a:off x="4624730" y="3273552"/>
            <a:ext cx="2942234" cy="10058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300 bis 1000 Mbit/s, symmetrisch möglich</a:t>
            </a:r>
            <a:endParaRPr lang="en-US" sz="1050" dirty="0"/>
          </a:p>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Feste IPv4, Entstörung am Folgetag</a:t>
            </a:r>
            <a:endParaRPr lang="en-US" sz="1050" dirty="0"/>
          </a:p>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Passend für Schulungsräume und Testlabor</a:t>
            </a:r>
            <a:endParaRPr lang="en-US" sz="1050" dirty="0"/>
          </a:p>
        </p:txBody>
      </p:sp>
      <p:sp>
        <p:nvSpPr>
          <p:cNvPr id="17" name="Shape 15"/>
          <p:cNvSpPr/>
          <p:nvPr/>
        </p:nvSpPr>
        <p:spPr>
          <a:xfrm>
            <a:off x="8133893" y="1938528"/>
            <a:ext cx="3490874" cy="2487168"/>
          </a:xfrm>
          <a:prstGeom prst="roundRect">
            <a:avLst>
              <a:gd name="adj" fmla="val 3676"/>
            </a:avLst>
          </a:prstGeom>
          <a:solidFill>
            <a:srgbClr val="111A36"/>
          </a:solidFill>
          <a:ln w="9525">
            <a:solidFill>
              <a:srgbClr val="26335C"/>
            </a:solidFill>
            <a:prstDash val="solid"/>
          </a:ln>
        </p:spPr>
      </p:sp>
      <p:sp>
        <p:nvSpPr>
          <p:cNvPr id="18" name="Shape 16"/>
          <p:cNvSpPr/>
          <p:nvPr/>
        </p:nvSpPr>
        <p:spPr>
          <a:xfrm>
            <a:off x="8408213" y="2139696"/>
            <a:ext cx="2011680" cy="274320"/>
          </a:xfrm>
          <a:prstGeom prst="roundRect">
            <a:avLst>
              <a:gd name="adj" fmla="val 50000"/>
            </a:avLst>
          </a:prstGeom>
          <a:ln w="9525">
            <a:solidFill>
              <a:srgbClr val="3A4A78"/>
            </a:solidFill>
            <a:prstDash val="solid"/>
          </a:ln>
        </p:spPr>
      </p:sp>
      <p:sp>
        <p:nvSpPr>
          <p:cNvPr id="19" name="Text 17"/>
          <p:cNvSpPr txBox="1"/>
          <p:nvPr/>
        </p:nvSpPr>
        <p:spPr>
          <a:xfrm>
            <a:off x="8408213" y="2139696"/>
            <a:ext cx="2011680" cy="274320"/>
          </a:xfrm>
          <a:prstGeom prst="rect">
            <a:avLst/>
          </a:prstGeom>
          <a:noFill/>
          <a:ln/>
        </p:spPr>
        <p:txBody>
          <a:bodyPr wrap="square" lIns="0" tIns="0" rIns="0" bIns="0" rtlCol="0" anchor="ctr"/>
          <a:lstStyle/>
          <a:p>
            <a:pPr algn="ctr" indent="0" marL="0">
              <a:buNone/>
            </a:pPr>
            <a:r>
              <a:rPr lang="en-US" sz="850" dirty="0">
                <a:solidFill>
                  <a:srgbClr val="8E9BB8"/>
                </a:solidFill>
                <a:latin typeface="Courier New" pitchFamily="34" charset="0"/>
                <a:ea typeface="Courier New" pitchFamily="34" charset="-122"/>
                <a:cs typeface="Courier New" pitchFamily="34" charset="-120"/>
              </a:rPr>
              <a:t>Standleitung mit SLA</a:t>
            </a:r>
            <a:endParaRPr lang="en-US" sz="850" dirty="0"/>
          </a:p>
        </p:txBody>
      </p:sp>
      <p:sp>
        <p:nvSpPr>
          <p:cNvPr id="20" name="Text 18"/>
          <p:cNvSpPr txBox="1"/>
          <p:nvPr/>
        </p:nvSpPr>
        <p:spPr>
          <a:xfrm>
            <a:off x="8408213" y="2523744"/>
            <a:ext cx="2942234" cy="457200"/>
          </a:xfrm>
          <a:prstGeom prst="rect">
            <a:avLst/>
          </a:prstGeom>
          <a:noFill/>
          <a:ln/>
        </p:spPr>
        <p:txBody>
          <a:bodyPr wrap="square" lIns="0" tIns="0" rIns="0" bIns="0" rtlCol="0" anchor="ctr"/>
          <a:lstStyle/>
          <a:p>
            <a:pPr indent="0" marL="0">
              <a:buNone/>
            </a:pPr>
            <a:r>
              <a:rPr lang="en-US" sz="2600" b="1" dirty="0">
                <a:solidFill>
                  <a:srgbClr val="FF4FB0"/>
                </a:solidFill>
                <a:latin typeface="Courier New" pitchFamily="34" charset="0"/>
                <a:ea typeface="Courier New" pitchFamily="34" charset="-122"/>
                <a:cs typeface="Courier New" pitchFamily="34" charset="-120"/>
              </a:rPr>
              <a:t>ab 300 €</a:t>
            </a:r>
            <a:endParaRPr lang="en-US" sz="2600" dirty="0"/>
          </a:p>
        </p:txBody>
      </p:sp>
      <p:sp>
        <p:nvSpPr>
          <p:cNvPr id="21" name="Text 19"/>
          <p:cNvSpPr txBox="1"/>
          <p:nvPr/>
        </p:nvSpPr>
        <p:spPr>
          <a:xfrm>
            <a:off x="8408213" y="2980944"/>
            <a:ext cx="2942234" cy="219456"/>
          </a:xfrm>
          <a:prstGeom prst="rect">
            <a:avLst/>
          </a:prstGeom>
          <a:noFill/>
          <a:ln/>
        </p:spPr>
        <p:txBody>
          <a:bodyPr wrap="square" lIns="0" tIns="0" rIns="0" bIns="0" rtlCol="0" anchor="ctr"/>
          <a:lstStyle/>
          <a:p>
            <a:pPr indent="0" marL="0">
              <a:buNone/>
            </a:pPr>
            <a:r>
              <a:rPr lang="en-US" sz="1000" dirty="0">
                <a:solidFill>
                  <a:srgbClr val="8E9BB8"/>
                </a:solidFill>
                <a:latin typeface="Calibri" pitchFamily="34" charset="0"/>
                <a:ea typeface="Calibri" pitchFamily="34" charset="-122"/>
                <a:cs typeface="Calibri" pitchFamily="34" charset="-120"/>
              </a:rPr>
              <a:t>pro Monat, oft vierstellig</a:t>
            </a:r>
            <a:endParaRPr lang="en-US" sz="1000" dirty="0"/>
          </a:p>
        </p:txBody>
      </p:sp>
      <p:sp>
        <p:nvSpPr>
          <p:cNvPr id="22" name="Text 20"/>
          <p:cNvSpPr txBox="1"/>
          <p:nvPr/>
        </p:nvSpPr>
        <p:spPr>
          <a:xfrm>
            <a:off x="8408213" y="3273552"/>
            <a:ext cx="2942234" cy="10058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Garantierte 1 bis 10 Gbit/s</a:t>
            </a:r>
            <a:endParaRPr lang="en-US" sz="1050" dirty="0"/>
          </a:p>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Entstörung in 4 bis 8 Stunden</a:t>
            </a:r>
            <a:endParaRPr lang="en-US" sz="1050" dirty="0"/>
          </a:p>
          <a:p>
            <a:pPr marL="342900" indent="-342900">
              <a:spcAft>
                <a:spcPts val="500"/>
              </a:spcAft>
              <a:buSzPct val="100000"/>
              <a:buChar char="•"/>
            </a:pPr>
            <a:r>
              <a:rPr lang="en-US" sz="1050" dirty="0">
                <a:solidFill>
                  <a:srgbClr val="8E9BB8"/>
                </a:solidFill>
                <a:latin typeface="Calibri" pitchFamily="34" charset="0"/>
                <a:ea typeface="Calibri" pitchFamily="34" charset="-122"/>
                <a:cs typeface="Calibri" pitchFamily="34" charset="-120"/>
              </a:rPr>
              <a:t>Zusätzlich Baukostenzuschuss</a:t>
            </a:r>
            <a:endParaRPr lang="en-US" sz="1050" dirty="0"/>
          </a:p>
        </p:txBody>
      </p:sp>
      <p:sp>
        <p:nvSpPr>
          <p:cNvPr id="23" name="Shape 21"/>
          <p:cNvSpPr/>
          <p:nvPr/>
        </p:nvSpPr>
        <p:spPr>
          <a:xfrm>
            <a:off x="566928" y="4608576"/>
            <a:ext cx="11057839" cy="1371600"/>
          </a:xfrm>
          <a:prstGeom prst="roundRect">
            <a:avLst>
              <a:gd name="adj" fmla="val 6667"/>
            </a:avLst>
          </a:prstGeom>
          <a:solidFill>
            <a:srgbClr val="111A36"/>
          </a:solidFill>
          <a:ln w="9525">
            <a:solidFill>
              <a:srgbClr val="26335C"/>
            </a:solidFill>
            <a:prstDash val="solid"/>
          </a:ln>
        </p:spPr>
      </p:sp>
      <p:sp>
        <p:nvSpPr>
          <p:cNvPr id="24" name="Text 22"/>
          <p:cNvSpPr txBox="1"/>
          <p:nvPr/>
        </p:nvSpPr>
        <p:spPr>
          <a:xfrm>
            <a:off x="886968" y="4773168"/>
            <a:ext cx="4572000" cy="256032"/>
          </a:xfrm>
          <a:prstGeom prst="rect">
            <a:avLst/>
          </a:prstGeom>
          <a:noFill/>
          <a:ln/>
        </p:spPr>
        <p:txBody>
          <a:bodyPr wrap="square" lIns="0" tIns="0" rIns="0" bIns="0" rtlCol="0" anchor="ctr"/>
          <a:lstStyle/>
          <a:p>
            <a:pPr indent="0" marL="0">
              <a:buNone/>
            </a:pPr>
            <a:r>
              <a:rPr lang="en-US" sz="1400" b="1" dirty="0">
                <a:solidFill>
                  <a:srgbClr val="E9EFFA"/>
                </a:solidFill>
                <a:latin typeface="Calibri" pitchFamily="34" charset="0"/>
                <a:ea typeface="Calibri" pitchFamily="34" charset="-122"/>
                <a:cs typeface="Calibri" pitchFamily="34" charset="-120"/>
              </a:rPr>
              <a:t>Einmalig: der Hausanschluss</a:t>
            </a:r>
            <a:endParaRPr lang="en-US" sz="1400" dirty="0"/>
          </a:p>
        </p:txBody>
      </p:sp>
      <p:sp>
        <p:nvSpPr>
          <p:cNvPr id="25" name="Text 23"/>
          <p:cNvSpPr txBox="1"/>
          <p:nvPr/>
        </p:nvSpPr>
        <p:spPr>
          <a:xfrm>
            <a:off x="886968" y="5084064"/>
            <a:ext cx="3228746" cy="310896"/>
          </a:xfrm>
          <a:prstGeom prst="rect">
            <a:avLst/>
          </a:prstGeom>
          <a:noFill/>
          <a:ln/>
        </p:spPr>
        <p:txBody>
          <a:bodyPr wrap="square" lIns="0" tIns="0" rIns="0" bIns="0" rtlCol="0" anchor="ctr"/>
          <a:lstStyle/>
          <a:p>
            <a:pPr indent="0" marL="0">
              <a:buNone/>
            </a:pPr>
            <a:r>
              <a:rPr lang="en-US" sz="1700" b="1" dirty="0">
                <a:solidFill>
                  <a:srgbClr val="5CF2A6"/>
                </a:solidFill>
                <a:latin typeface="Courier New" pitchFamily="34" charset="0"/>
                <a:ea typeface="Courier New" pitchFamily="34" charset="-122"/>
                <a:cs typeface="Courier New" pitchFamily="34" charset="-120"/>
              </a:rPr>
              <a:t>0 €</a:t>
            </a:r>
            <a:endParaRPr lang="en-US" sz="1700" dirty="0"/>
          </a:p>
        </p:txBody>
      </p:sp>
      <p:sp>
        <p:nvSpPr>
          <p:cNvPr id="26" name="Text 24"/>
          <p:cNvSpPr txBox="1"/>
          <p:nvPr/>
        </p:nvSpPr>
        <p:spPr>
          <a:xfrm>
            <a:off x="886968" y="5413248"/>
            <a:ext cx="3228746" cy="475488"/>
          </a:xfrm>
          <a:prstGeom prst="rect">
            <a:avLst/>
          </a:prstGeom>
          <a:noFill/>
          <a:ln/>
        </p:spPr>
        <p:txBody>
          <a:bodyPr wrap="square" lIns="0" tIns="0" rIns="0" bIns="0" rtlCol="0" anchor="ctr"/>
          <a:lstStyle/>
          <a:p>
            <a:pPr indent="0" marL="0">
              <a:lnSpc>
                <a:spcPct val="106000"/>
              </a:lnSpc>
              <a:buNone/>
            </a:pPr>
            <a:r>
              <a:rPr lang="en-US" sz="950" dirty="0">
                <a:solidFill>
                  <a:srgbClr val="8E9BB8"/>
                </a:solidFill>
                <a:latin typeface="Calibri" pitchFamily="34" charset="0"/>
                <a:ea typeface="Calibri" pitchFamily="34" charset="-122"/>
                <a:cs typeface="Calibri" pitchFamily="34" charset="-120"/>
              </a:rPr>
              <a:t>während Vorvermarktung und Nachfragebündelung — fast alle Anbieter übernehmen den Tiefbau</a:t>
            </a:r>
            <a:endParaRPr lang="en-US" sz="950" dirty="0"/>
          </a:p>
        </p:txBody>
      </p:sp>
      <p:sp>
        <p:nvSpPr>
          <p:cNvPr id="27" name="Text 25"/>
          <p:cNvSpPr txBox="1"/>
          <p:nvPr/>
        </p:nvSpPr>
        <p:spPr>
          <a:xfrm>
            <a:off x="4481474" y="5084064"/>
            <a:ext cx="3228746" cy="310896"/>
          </a:xfrm>
          <a:prstGeom prst="rect">
            <a:avLst/>
          </a:prstGeom>
          <a:noFill/>
          <a:ln/>
        </p:spPr>
        <p:txBody>
          <a:bodyPr wrap="square" lIns="0" tIns="0" rIns="0" bIns="0" rtlCol="0" anchor="ctr"/>
          <a:lstStyle/>
          <a:p>
            <a:pPr indent="0" marL="0">
              <a:buNone/>
            </a:pPr>
            <a:r>
              <a:rPr lang="en-US" sz="1700" b="1" dirty="0">
                <a:solidFill>
                  <a:srgbClr val="FF7A59"/>
                </a:solidFill>
                <a:latin typeface="Courier New" pitchFamily="34" charset="0"/>
                <a:ea typeface="Courier New" pitchFamily="34" charset="-122"/>
                <a:cs typeface="Courier New" pitchFamily="34" charset="-120"/>
              </a:rPr>
              <a:t>800–2 500 €</a:t>
            </a:r>
            <a:endParaRPr lang="en-US" sz="1700" dirty="0"/>
          </a:p>
        </p:txBody>
      </p:sp>
      <p:sp>
        <p:nvSpPr>
          <p:cNvPr id="28" name="Text 26"/>
          <p:cNvSpPr txBox="1"/>
          <p:nvPr/>
        </p:nvSpPr>
        <p:spPr>
          <a:xfrm>
            <a:off x="4481474" y="5413248"/>
            <a:ext cx="3228746" cy="475488"/>
          </a:xfrm>
          <a:prstGeom prst="rect">
            <a:avLst/>
          </a:prstGeom>
          <a:noFill/>
          <a:ln/>
        </p:spPr>
        <p:txBody>
          <a:bodyPr wrap="square" lIns="0" tIns="0" rIns="0" bIns="0" rtlCol="0" anchor="ctr"/>
          <a:lstStyle/>
          <a:p>
            <a:pPr indent="0" marL="0">
              <a:lnSpc>
                <a:spcPct val="106000"/>
              </a:lnSpc>
              <a:buNone/>
            </a:pPr>
            <a:r>
              <a:rPr lang="en-US" sz="950" dirty="0">
                <a:solidFill>
                  <a:srgbClr val="8E9BB8"/>
                </a:solidFill>
                <a:latin typeface="Calibri" pitchFamily="34" charset="0"/>
                <a:ea typeface="Calibri" pitchFamily="34" charset="-122"/>
                <a:cs typeface="Calibri" pitchFamily="34" charset="-120"/>
              </a:rPr>
              <a:t>nachträglich, wenn die Straße schon fertig ist: Grabung, Hauseinführung, Gf-AP</a:t>
            </a:r>
            <a:endParaRPr lang="en-US" sz="950" dirty="0"/>
          </a:p>
        </p:txBody>
      </p:sp>
      <p:sp>
        <p:nvSpPr>
          <p:cNvPr id="29" name="Text 27"/>
          <p:cNvSpPr txBox="1"/>
          <p:nvPr/>
        </p:nvSpPr>
        <p:spPr>
          <a:xfrm>
            <a:off x="8075981" y="5084064"/>
            <a:ext cx="3228746" cy="310896"/>
          </a:xfrm>
          <a:prstGeom prst="rect">
            <a:avLst/>
          </a:prstGeom>
          <a:noFill/>
          <a:ln/>
        </p:spPr>
        <p:txBody>
          <a:bodyPr wrap="square" lIns="0" tIns="0" rIns="0" bIns="0" rtlCol="0" anchor="ctr"/>
          <a:lstStyle/>
          <a:p>
            <a:pPr indent="0" marL="0">
              <a:buNone/>
            </a:pPr>
            <a:r>
              <a:rPr lang="en-US" sz="1700" b="1" dirty="0">
                <a:solidFill>
                  <a:srgbClr val="2EE6FF"/>
                </a:solidFill>
                <a:latin typeface="Courier New" pitchFamily="34" charset="0"/>
                <a:ea typeface="Courier New" pitchFamily="34" charset="-122"/>
                <a:cs typeface="Courier New" pitchFamily="34" charset="-120"/>
              </a:rPr>
              <a:t>Empfehlung</a:t>
            </a:r>
            <a:endParaRPr lang="en-US" sz="1700" dirty="0"/>
          </a:p>
        </p:txBody>
      </p:sp>
      <p:sp>
        <p:nvSpPr>
          <p:cNvPr id="30" name="Text 28"/>
          <p:cNvSpPr txBox="1"/>
          <p:nvPr/>
        </p:nvSpPr>
        <p:spPr>
          <a:xfrm>
            <a:off x="8075981" y="5413248"/>
            <a:ext cx="3228746" cy="475488"/>
          </a:xfrm>
          <a:prstGeom prst="rect">
            <a:avLst/>
          </a:prstGeom>
          <a:noFill/>
          <a:ln/>
        </p:spPr>
        <p:txBody>
          <a:bodyPr wrap="square" lIns="0" tIns="0" rIns="0" bIns="0" rtlCol="0" anchor="ctr"/>
          <a:lstStyle/>
          <a:p>
            <a:pPr indent="0" marL="0">
              <a:lnSpc>
                <a:spcPct val="106000"/>
              </a:lnSpc>
              <a:buNone/>
            </a:pPr>
            <a:r>
              <a:rPr lang="en-US" sz="950" dirty="0">
                <a:solidFill>
                  <a:srgbClr val="8E9BB8"/>
                </a:solidFill>
                <a:latin typeface="Calibri" pitchFamily="34" charset="0"/>
                <a:ea typeface="Calibri" pitchFamily="34" charset="-122"/>
                <a:cs typeface="Calibri" pitchFamily="34" charset="-120"/>
              </a:rPr>
              <a:t>Ausbauphase für die Teach:In-Adresse verfolgen und im richtigen Zeitfenster bestellen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09</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Quiz fürs Plenum</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Fünf Fragen zum Mitdenken. Auflösung im Gespräch.</a:t>
            </a:r>
            <a:endParaRPr lang="en-US" sz="1350" dirty="0"/>
          </a:p>
        </p:txBody>
      </p:sp>
      <p:sp>
        <p:nvSpPr>
          <p:cNvPr id="5" name="Shape 3"/>
          <p:cNvSpPr/>
          <p:nvPr/>
        </p:nvSpPr>
        <p:spPr>
          <a:xfrm>
            <a:off x="566928" y="1993392"/>
            <a:ext cx="5346040" cy="1133856"/>
          </a:xfrm>
          <a:prstGeom prst="roundRect">
            <a:avLst>
              <a:gd name="adj" fmla="val 8065"/>
            </a:avLst>
          </a:prstGeom>
          <a:solidFill>
            <a:srgbClr val="111A36"/>
          </a:solidFill>
          <a:ln w="9525">
            <a:solidFill>
              <a:srgbClr val="26335C"/>
            </a:solidFill>
            <a:prstDash val="solid"/>
          </a:ln>
        </p:spPr>
      </p:sp>
      <p:sp>
        <p:nvSpPr>
          <p:cNvPr id="6" name="Shape 4"/>
          <p:cNvSpPr/>
          <p:nvPr/>
        </p:nvSpPr>
        <p:spPr>
          <a:xfrm>
            <a:off x="822960" y="2212848"/>
            <a:ext cx="274320" cy="274320"/>
          </a:xfrm>
          <a:prstGeom prst="ellipse">
            <a:avLst/>
          </a:prstGeom>
          <a:solidFill>
            <a:srgbClr val="111A36"/>
          </a:solidFill>
          <a:ln w="25400">
            <a:solidFill>
              <a:srgbClr val="2EE6FF"/>
            </a:solidFill>
            <a:prstDash val="solid"/>
          </a:ln>
        </p:spPr>
      </p:sp>
      <p:sp>
        <p:nvSpPr>
          <p:cNvPr id="7" name="Text 5"/>
          <p:cNvSpPr txBox="1"/>
          <p:nvPr/>
        </p:nvSpPr>
        <p:spPr>
          <a:xfrm>
            <a:off x="822960" y="2212848"/>
            <a:ext cx="274320" cy="274320"/>
          </a:xfrm>
          <a:prstGeom prst="rect">
            <a:avLst/>
          </a:prstGeom>
          <a:noFill/>
          <a:ln/>
        </p:spPr>
        <p:txBody>
          <a:bodyPr wrap="square" lIns="0" tIns="0" rIns="0" bIns="0" rtlCol="0" anchor="ctr"/>
          <a:lstStyle/>
          <a:p>
            <a:pPr algn="ctr" indent="0" marL="0">
              <a:buNone/>
            </a:pPr>
            <a:r>
              <a:rPr lang="en-US" sz="1100" b="1" dirty="0">
                <a:solidFill>
                  <a:srgbClr val="2EE6FF"/>
                </a:solidFill>
                <a:latin typeface="Courier New" pitchFamily="34" charset="0"/>
                <a:ea typeface="Courier New" pitchFamily="34" charset="-122"/>
                <a:cs typeface="Courier New" pitchFamily="34" charset="-120"/>
              </a:rPr>
              <a:t>1</a:t>
            </a:r>
            <a:endParaRPr lang="en-US" sz="1100" dirty="0"/>
          </a:p>
        </p:txBody>
      </p:sp>
      <p:sp>
        <p:nvSpPr>
          <p:cNvPr id="8" name="Text 6"/>
          <p:cNvSpPr txBox="1"/>
          <p:nvPr/>
        </p:nvSpPr>
        <p:spPr>
          <a:xfrm>
            <a:off x="1207008" y="2176272"/>
            <a:ext cx="4431640" cy="347472"/>
          </a:xfrm>
          <a:prstGeom prst="rect">
            <a:avLst/>
          </a:prstGeom>
          <a:noFill/>
          <a:ln/>
        </p:spPr>
        <p:txBody>
          <a:bodyPr wrap="square" lIns="0" tIns="0" rIns="0" bIns="0" rtlCol="0" anchor="ctr"/>
          <a:lstStyle/>
          <a:p>
            <a:pPr indent="0" marL="0">
              <a:lnSpc>
                <a:spcPct val="105000"/>
              </a:lnSpc>
              <a:buNone/>
            </a:pPr>
            <a:r>
              <a:rPr lang="en-US" sz="1250" b="1" dirty="0">
                <a:solidFill>
                  <a:srgbClr val="E9EFFA"/>
                </a:solidFill>
                <a:latin typeface="Calibri" pitchFamily="34" charset="0"/>
                <a:ea typeface="Calibri" pitchFamily="34" charset="-122"/>
                <a:cs typeface="Calibri" pitchFamily="34" charset="-120"/>
              </a:rPr>
              <a:t>Warum bleibt das Licht im Kern der Faser?</a:t>
            </a:r>
            <a:endParaRPr lang="en-US" sz="1250" dirty="0"/>
          </a:p>
        </p:txBody>
      </p:sp>
      <p:sp>
        <p:nvSpPr>
          <p:cNvPr id="9" name="Text 7"/>
          <p:cNvSpPr txBox="1"/>
          <p:nvPr/>
        </p:nvSpPr>
        <p:spPr>
          <a:xfrm>
            <a:off x="1207008" y="2560320"/>
            <a:ext cx="4431640" cy="512064"/>
          </a:xfrm>
          <a:prstGeom prst="rect">
            <a:avLst/>
          </a:prstGeom>
          <a:noFill/>
          <a:ln/>
        </p:spPr>
        <p:txBody>
          <a:bodyPr wrap="square" lIns="0" tIns="0" rIns="0" bIns="0" rtlCol="0" anchor="ctr"/>
          <a:lstStyle/>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a)  Der Mantel ist verspiegelt</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b)  Totalreflexion an der Grenze Kern zu Mantel</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c)  Der Kern ist ein Vakuum</a:t>
            </a:r>
            <a:endParaRPr lang="en-US" sz="1000" dirty="0"/>
          </a:p>
        </p:txBody>
      </p:sp>
      <p:sp>
        <p:nvSpPr>
          <p:cNvPr id="10" name="Shape 8"/>
          <p:cNvSpPr/>
          <p:nvPr/>
        </p:nvSpPr>
        <p:spPr>
          <a:xfrm>
            <a:off x="566928" y="3291840"/>
            <a:ext cx="5346040" cy="1133856"/>
          </a:xfrm>
          <a:prstGeom prst="roundRect">
            <a:avLst>
              <a:gd name="adj" fmla="val 8065"/>
            </a:avLst>
          </a:prstGeom>
          <a:solidFill>
            <a:srgbClr val="111A36"/>
          </a:solidFill>
          <a:ln w="9525">
            <a:solidFill>
              <a:srgbClr val="26335C"/>
            </a:solidFill>
            <a:prstDash val="solid"/>
          </a:ln>
        </p:spPr>
      </p:sp>
      <p:sp>
        <p:nvSpPr>
          <p:cNvPr id="11" name="Shape 9"/>
          <p:cNvSpPr/>
          <p:nvPr/>
        </p:nvSpPr>
        <p:spPr>
          <a:xfrm>
            <a:off x="822960" y="3511296"/>
            <a:ext cx="274320" cy="274320"/>
          </a:xfrm>
          <a:prstGeom prst="ellipse">
            <a:avLst/>
          </a:prstGeom>
          <a:solidFill>
            <a:srgbClr val="111A36"/>
          </a:solidFill>
          <a:ln w="25400">
            <a:solidFill>
              <a:srgbClr val="2EE6FF"/>
            </a:solidFill>
            <a:prstDash val="solid"/>
          </a:ln>
        </p:spPr>
      </p:sp>
      <p:sp>
        <p:nvSpPr>
          <p:cNvPr id="12" name="Text 10"/>
          <p:cNvSpPr txBox="1"/>
          <p:nvPr/>
        </p:nvSpPr>
        <p:spPr>
          <a:xfrm>
            <a:off x="822960" y="3511296"/>
            <a:ext cx="274320" cy="274320"/>
          </a:xfrm>
          <a:prstGeom prst="rect">
            <a:avLst/>
          </a:prstGeom>
          <a:noFill/>
          <a:ln/>
        </p:spPr>
        <p:txBody>
          <a:bodyPr wrap="square" lIns="0" tIns="0" rIns="0" bIns="0" rtlCol="0" anchor="ctr"/>
          <a:lstStyle/>
          <a:p>
            <a:pPr algn="ctr" indent="0" marL="0">
              <a:buNone/>
            </a:pPr>
            <a:r>
              <a:rPr lang="en-US" sz="1100" b="1" dirty="0">
                <a:solidFill>
                  <a:srgbClr val="2EE6FF"/>
                </a:solidFill>
                <a:latin typeface="Courier New" pitchFamily="34" charset="0"/>
                <a:ea typeface="Courier New" pitchFamily="34" charset="-122"/>
                <a:cs typeface="Courier New" pitchFamily="34" charset="-120"/>
              </a:rPr>
              <a:t>2</a:t>
            </a:r>
            <a:endParaRPr lang="en-US" sz="1100" dirty="0"/>
          </a:p>
        </p:txBody>
      </p:sp>
      <p:sp>
        <p:nvSpPr>
          <p:cNvPr id="13" name="Text 11"/>
          <p:cNvSpPr txBox="1"/>
          <p:nvPr/>
        </p:nvSpPr>
        <p:spPr>
          <a:xfrm>
            <a:off x="1207008" y="3474720"/>
            <a:ext cx="4431640" cy="347472"/>
          </a:xfrm>
          <a:prstGeom prst="rect">
            <a:avLst/>
          </a:prstGeom>
          <a:noFill/>
          <a:ln/>
        </p:spPr>
        <p:txBody>
          <a:bodyPr wrap="square" lIns="0" tIns="0" rIns="0" bIns="0" rtlCol="0" anchor="ctr"/>
          <a:lstStyle/>
          <a:p>
            <a:pPr indent="0" marL="0">
              <a:lnSpc>
                <a:spcPct val="105000"/>
              </a:lnSpc>
              <a:buNone/>
            </a:pPr>
            <a:r>
              <a:rPr lang="en-US" sz="1250" b="1" dirty="0">
                <a:solidFill>
                  <a:srgbClr val="E9EFFA"/>
                </a:solidFill>
                <a:latin typeface="Calibri" pitchFamily="34" charset="0"/>
                <a:ea typeface="Calibri" pitchFamily="34" charset="-122"/>
                <a:cs typeface="Calibri" pitchFamily="34" charset="-120"/>
              </a:rPr>
              <a:t>Was unterscheidet FTTH von FTTC?</a:t>
            </a:r>
            <a:endParaRPr lang="en-US" sz="1250" dirty="0"/>
          </a:p>
        </p:txBody>
      </p:sp>
      <p:sp>
        <p:nvSpPr>
          <p:cNvPr id="14" name="Text 12"/>
          <p:cNvSpPr txBox="1"/>
          <p:nvPr/>
        </p:nvSpPr>
        <p:spPr>
          <a:xfrm>
            <a:off x="1207008" y="3858768"/>
            <a:ext cx="4431640" cy="512064"/>
          </a:xfrm>
          <a:prstGeom prst="rect">
            <a:avLst/>
          </a:prstGeom>
          <a:noFill/>
          <a:ln/>
        </p:spPr>
        <p:txBody>
          <a:bodyPr wrap="square" lIns="0" tIns="0" rIns="0" bIns="0" rtlCol="0" anchor="ctr"/>
          <a:lstStyle/>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a)  FTTH nutzt Multimode-Fasern</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b)  Bei FTTH endet das Glas im Büro, bei FTTC am Kabelverzweiger</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c)  FTTC ist schneller</a:t>
            </a:r>
            <a:endParaRPr lang="en-US" sz="1000" dirty="0"/>
          </a:p>
        </p:txBody>
      </p:sp>
      <p:sp>
        <p:nvSpPr>
          <p:cNvPr id="15" name="Shape 13"/>
          <p:cNvSpPr/>
          <p:nvPr/>
        </p:nvSpPr>
        <p:spPr>
          <a:xfrm>
            <a:off x="566928" y="4590288"/>
            <a:ext cx="5346040" cy="1133856"/>
          </a:xfrm>
          <a:prstGeom prst="roundRect">
            <a:avLst>
              <a:gd name="adj" fmla="val 8065"/>
            </a:avLst>
          </a:prstGeom>
          <a:solidFill>
            <a:srgbClr val="111A36"/>
          </a:solidFill>
          <a:ln w="9525">
            <a:solidFill>
              <a:srgbClr val="26335C"/>
            </a:solidFill>
            <a:prstDash val="solid"/>
          </a:ln>
        </p:spPr>
      </p:sp>
      <p:sp>
        <p:nvSpPr>
          <p:cNvPr id="16" name="Shape 14"/>
          <p:cNvSpPr/>
          <p:nvPr/>
        </p:nvSpPr>
        <p:spPr>
          <a:xfrm>
            <a:off x="822960" y="4809744"/>
            <a:ext cx="274320" cy="274320"/>
          </a:xfrm>
          <a:prstGeom prst="ellipse">
            <a:avLst/>
          </a:prstGeom>
          <a:solidFill>
            <a:srgbClr val="111A36"/>
          </a:solidFill>
          <a:ln w="25400">
            <a:solidFill>
              <a:srgbClr val="2EE6FF"/>
            </a:solidFill>
            <a:prstDash val="solid"/>
          </a:ln>
        </p:spPr>
      </p:sp>
      <p:sp>
        <p:nvSpPr>
          <p:cNvPr id="17" name="Text 15"/>
          <p:cNvSpPr txBox="1"/>
          <p:nvPr/>
        </p:nvSpPr>
        <p:spPr>
          <a:xfrm>
            <a:off x="822960" y="4809744"/>
            <a:ext cx="274320" cy="274320"/>
          </a:xfrm>
          <a:prstGeom prst="rect">
            <a:avLst/>
          </a:prstGeom>
          <a:noFill/>
          <a:ln/>
        </p:spPr>
        <p:txBody>
          <a:bodyPr wrap="square" lIns="0" tIns="0" rIns="0" bIns="0" rtlCol="0" anchor="ctr"/>
          <a:lstStyle/>
          <a:p>
            <a:pPr algn="ctr" indent="0" marL="0">
              <a:buNone/>
            </a:pPr>
            <a:r>
              <a:rPr lang="en-US" sz="1100" b="1" dirty="0">
                <a:solidFill>
                  <a:srgbClr val="2EE6FF"/>
                </a:solidFill>
                <a:latin typeface="Courier New" pitchFamily="34" charset="0"/>
                <a:ea typeface="Courier New" pitchFamily="34" charset="-122"/>
                <a:cs typeface="Courier New" pitchFamily="34" charset="-120"/>
              </a:rPr>
              <a:t>3</a:t>
            </a:r>
            <a:endParaRPr lang="en-US" sz="1100" dirty="0"/>
          </a:p>
        </p:txBody>
      </p:sp>
      <p:sp>
        <p:nvSpPr>
          <p:cNvPr id="18" name="Text 16"/>
          <p:cNvSpPr txBox="1"/>
          <p:nvPr/>
        </p:nvSpPr>
        <p:spPr>
          <a:xfrm>
            <a:off x="1207008" y="4773168"/>
            <a:ext cx="4431640" cy="347472"/>
          </a:xfrm>
          <a:prstGeom prst="rect">
            <a:avLst/>
          </a:prstGeom>
          <a:noFill/>
          <a:ln/>
        </p:spPr>
        <p:txBody>
          <a:bodyPr wrap="square" lIns="0" tIns="0" rIns="0" bIns="0" rtlCol="0" anchor="ctr"/>
          <a:lstStyle/>
          <a:p>
            <a:pPr indent="0" marL="0">
              <a:lnSpc>
                <a:spcPct val="105000"/>
              </a:lnSpc>
              <a:buNone/>
            </a:pPr>
            <a:r>
              <a:rPr lang="en-US" sz="1250" b="1" dirty="0">
                <a:solidFill>
                  <a:srgbClr val="E9EFFA"/>
                </a:solidFill>
                <a:latin typeface="Calibri" pitchFamily="34" charset="0"/>
                <a:ea typeface="Calibri" pitchFamily="34" charset="-122"/>
                <a:cs typeface="Calibri" pitchFamily="34" charset="-120"/>
              </a:rPr>
              <a:t>Wie viele Teilnehmer teilen sich im PON eine Faser?</a:t>
            </a:r>
            <a:endParaRPr lang="en-US" sz="1250" dirty="0"/>
          </a:p>
        </p:txBody>
      </p:sp>
      <p:sp>
        <p:nvSpPr>
          <p:cNvPr id="19" name="Text 17"/>
          <p:cNvSpPr txBox="1"/>
          <p:nvPr/>
        </p:nvSpPr>
        <p:spPr>
          <a:xfrm>
            <a:off x="1207008" y="5157216"/>
            <a:ext cx="4431640" cy="512064"/>
          </a:xfrm>
          <a:prstGeom prst="rect">
            <a:avLst/>
          </a:prstGeom>
          <a:noFill/>
          <a:ln/>
        </p:spPr>
        <p:txBody>
          <a:bodyPr wrap="square" lIns="0" tIns="0" rIns="0" bIns="0" rtlCol="0" anchor="ctr"/>
          <a:lstStyle/>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a)  2 bis 4</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b)  32 bis 128</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c)  genau einer</a:t>
            </a:r>
            <a:endParaRPr lang="en-US" sz="1000" dirty="0"/>
          </a:p>
        </p:txBody>
      </p:sp>
      <p:sp>
        <p:nvSpPr>
          <p:cNvPr id="20" name="Shape 18"/>
          <p:cNvSpPr/>
          <p:nvPr/>
        </p:nvSpPr>
        <p:spPr>
          <a:xfrm>
            <a:off x="6278728" y="1993392"/>
            <a:ext cx="5346040" cy="1133856"/>
          </a:xfrm>
          <a:prstGeom prst="roundRect">
            <a:avLst>
              <a:gd name="adj" fmla="val 8065"/>
            </a:avLst>
          </a:prstGeom>
          <a:solidFill>
            <a:srgbClr val="111A36"/>
          </a:solidFill>
          <a:ln w="9525">
            <a:solidFill>
              <a:srgbClr val="26335C"/>
            </a:solidFill>
            <a:prstDash val="solid"/>
          </a:ln>
        </p:spPr>
      </p:sp>
      <p:sp>
        <p:nvSpPr>
          <p:cNvPr id="21" name="Shape 19"/>
          <p:cNvSpPr/>
          <p:nvPr/>
        </p:nvSpPr>
        <p:spPr>
          <a:xfrm>
            <a:off x="6534760" y="2212848"/>
            <a:ext cx="274320" cy="274320"/>
          </a:xfrm>
          <a:prstGeom prst="ellipse">
            <a:avLst/>
          </a:prstGeom>
          <a:solidFill>
            <a:srgbClr val="111A36"/>
          </a:solidFill>
          <a:ln w="25400">
            <a:solidFill>
              <a:srgbClr val="2EE6FF"/>
            </a:solidFill>
            <a:prstDash val="solid"/>
          </a:ln>
        </p:spPr>
      </p:sp>
      <p:sp>
        <p:nvSpPr>
          <p:cNvPr id="22" name="Text 20"/>
          <p:cNvSpPr txBox="1"/>
          <p:nvPr/>
        </p:nvSpPr>
        <p:spPr>
          <a:xfrm>
            <a:off x="6534760" y="2212848"/>
            <a:ext cx="274320" cy="274320"/>
          </a:xfrm>
          <a:prstGeom prst="rect">
            <a:avLst/>
          </a:prstGeom>
          <a:noFill/>
          <a:ln/>
        </p:spPr>
        <p:txBody>
          <a:bodyPr wrap="square" lIns="0" tIns="0" rIns="0" bIns="0" rtlCol="0" anchor="ctr"/>
          <a:lstStyle/>
          <a:p>
            <a:pPr algn="ctr" indent="0" marL="0">
              <a:buNone/>
            </a:pPr>
            <a:r>
              <a:rPr lang="en-US" sz="1100" b="1" dirty="0">
                <a:solidFill>
                  <a:srgbClr val="2EE6FF"/>
                </a:solidFill>
                <a:latin typeface="Courier New" pitchFamily="34" charset="0"/>
                <a:ea typeface="Courier New" pitchFamily="34" charset="-122"/>
                <a:cs typeface="Courier New" pitchFamily="34" charset="-120"/>
              </a:rPr>
              <a:t>4</a:t>
            </a:r>
            <a:endParaRPr lang="en-US" sz="1100" dirty="0"/>
          </a:p>
        </p:txBody>
      </p:sp>
      <p:sp>
        <p:nvSpPr>
          <p:cNvPr id="23" name="Text 21"/>
          <p:cNvSpPr txBox="1"/>
          <p:nvPr/>
        </p:nvSpPr>
        <p:spPr>
          <a:xfrm>
            <a:off x="6918808" y="2176272"/>
            <a:ext cx="4431640" cy="347472"/>
          </a:xfrm>
          <a:prstGeom prst="rect">
            <a:avLst/>
          </a:prstGeom>
          <a:noFill/>
          <a:ln/>
        </p:spPr>
        <p:txBody>
          <a:bodyPr wrap="square" lIns="0" tIns="0" rIns="0" bIns="0" rtlCol="0" anchor="ctr"/>
          <a:lstStyle/>
          <a:p>
            <a:pPr indent="0" marL="0">
              <a:lnSpc>
                <a:spcPct val="105000"/>
              </a:lnSpc>
              <a:buNone/>
            </a:pPr>
            <a:r>
              <a:rPr lang="en-US" sz="1250" b="1" dirty="0">
                <a:solidFill>
                  <a:srgbClr val="E9EFFA"/>
                </a:solidFill>
                <a:latin typeface="Calibri" pitchFamily="34" charset="0"/>
                <a:ea typeface="Calibri" pitchFamily="34" charset="-122"/>
                <a:cs typeface="Calibri" pitchFamily="34" charset="-120"/>
              </a:rPr>
              <a:t>Welche Wellenlänge hat die geringste Dämpfung?</a:t>
            </a:r>
            <a:endParaRPr lang="en-US" sz="1250" dirty="0"/>
          </a:p>
        </p:txBody>
      </p:sp>
      <p:sp>
        <p:nvSpPr>
          <p:cNvPr id="24" name="Text 22"/>
          <p:cNvSpPr txBox="1"/>
          <p:nvPr/>
        </p:nvSpPr>
        <p:spPr>
          <a:xfrm>
            <a:off x="6918808" y="2560320"/>
            <a:ext cx="4431640" cy="512064"/>
          </a:xfrm>
          <a:prstGeom prst="rect">
            <a:avLst/>
          </a:prstGeom>
          <a:noFill/>
          <a:ln/>
        </p:spPr>
        <p:txBody>
          <a:bodyPr wrap="square" lIns="0" tIns="0" rIns="0" bIns="0" rtlCol="0" anchor="ctr"/>
          <a:lstStyle/>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a)  850 nm</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b)  1310 nm</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c)  1550 nm</a:t>
            </a:r>
            <a:endParaRPr lang="en-US" sz="1000" dirty="0"/>
          </a:p>
        </p:txBody>
      </p:sp>
      <p:sp>
        <p:nvSpPr>
          <p:cNvPr id="25" name="Shape 23"/>
          <p:cNvSpPr/>
          <p:nvPr/>
        </p:nvSpPr>
        <p:spPr>
          <a:xfrm>
            <a:off x="6278728" y="3291840"/>
            <a:ext cx="5346040" cy="1133856"/>
          </a:xfrm>
          <a:prstGeom prst="roundRect">
            <a:avLst>
              <a:gd name="adj" fmla="val 8065"/>
            </a:avLst>
          </a:prstGeom>
          <a:solidFill>
            <a:srgbClr val="111A36"/>
          </a:solidFill>
          <a:ln w="9525">
            <a:solidFill>
              <a:srgbClr val="26335C"/>
            </a:solidFill>
            <a:prstDash val="solid"/>
          </a:ln>
        </p:spPr>
      </p:sp>
      <p:sp>
        <p:nvSpPr>
          <p:cNvPr id="26" name="Shape 24"/>
          <p:cNvSpPr/>
          <p:nvPr/>
        </p:nvSpPr>
        <p:spPr>
          <a:xfrm>
            <a:off x="6534760" y="3511296"/>
            <a:ext cx="274320" cy="274320"/>
          </a:xfrm>
          <a:prstGeom prst="ellipse">
            <a:avLst/>
          </a:prstGeom>
          <a:solidFill>
            <a:srgbClr val="111A36"/>
          </a:solidFill>
          <a:ln w="25400">
            <a:solidFill>
              <a:srgbClr val="2EE6FF"/>
            </a:solidFill>
            <a:prstDash val="solid"/>
          </a:ln>
        </p:spPr>
      </p:sp>
      <p:sp>
        <p:nvSpPr>
          <p:cNvPr id="27" name="Text 25"/>
          <p:cNvSpPr txBox="1"/>
          <p:nvPr/>
        </p:nvSpPr>
        <p:spPr>
          <a:xfrm>
            <a:off x="6534760" y="3511296"/>
            <a:ext cx="274320" cy="274320"/>
          </a:xfrm>
          <a:prstGeom prst="rect">
            <a:avLst/>
          </a:prstGeom>
          <a:noFill/>
          <a:ln/>
        </p:spPr>
        <p:txBody>
          <a:bodyPr wrap="square" lIns="0" tIns="0" rIns="0" bIns="0" rtlCol="0" anchor="ctr"/>
          <a:lstStyle/>
          <a:p>
            <a:pPr algn="ctr" indent="0" marL="0">
              <a:buNone/>
            </a:pPr>
            <a:r>
              <a:rPr lang="en-US" sz="1100" b="1" dirty="0">
                <a:solidFill>
                  <a:srgbClr val="2EE6FF"/>
                </a:solidFill>
                <a:latin typeface="Courier New" pitchFamily="34" charset="0"/>
                <a:ea typeface="Courier New" pitchFamily="34" charset="-122"/>
                <a:cs typeface="Courier New" pitchFamily="34" charset="-120"/>
              </a:rPr>
              <a:t>5</a:t>
            </a:r>
            <a:endParaRPr lang="en-US" sz="1100" dirty="0"/>
          </a:p>
        </p:txBody>
      </p:sp>
      <p:sp>
        <p:nvSpPr>
          <p:cNvPr id="28" name="Text 26"/>
          <p:cNvSpPr txBox="1"/>
          <p:nvPr/>
        </p:nvSpPr>
        <p:spPr>
          <a:xfrm>
            <a:off x="6918808" y="3474720"/>
            <a:ext cx="4431640" cy="347472"/>
          </a:xfrm>
          <a:prstGeom prst="rect">
            <a:avLst/>
          </a:prstGeom>
          <a:noFill/>
          <a:ln/>
        </p:spPr>
        <p:txBody>
          <a:bodyPr wrap="square" lIns="0" tIns="0" rIns="0" bIns="0" rtlCol="0" anchor="ctr"/>
          <a:lstStyle/>
          <a:p>
            <a:pPr indent="0" marL="0">
              <a:lnSpc>
                <a:spcPct val="105000"/>
              </a:lnSpc>
              <a:buNone/>
            </a:pPr>
            <a:r>
              <a:rPr lang="en-US" sz="1250" b="1" dirty="0">
                <a:solidFill>
                  <a:srgbClr val="E9EFFA"/>
                </a:solidFill>
                <a:latin typeface="Calibri" pitchFamily="34" charset="0"/>
                <a:ea typeface="Calibri" pitchFamily="34" charset="-122"/>
                <a:cs typeface="Calibri" pitchFamily="34" charset="-120"/>
              </a:rPr>
              <a:t>Was ist der größte praktische Nachteil?</a:t>
            </a:r>
            <a:endParaRPr lang="en-US" sz="1250" dirty="0"/>
          </a:p>
        </p:txBody>
      </p:sp>
      <p:sp>
        <p:nvSpPr>
          <p:cNvPr id="29" name="Text 27"/>
          <p:cNvSpPr txBox="1"/>
          <p:nvPr/>
        </p:nvSpPr>
        <p:spPr>
          <a:xfrm>
            <a:off x="6918808" y="3858768"/>
            <a:ext cx="4431640" cy="512064"/>
          </a:xfrm>
          <a:prstGeom prst="rect">
            <a:avLst/>
          </a:prstGeom>
          <a:noFill/>
          <a:ln/>
        </p:spPr>
        <p:txBody>
          <a:bodyPr wrap="square" lIns="0" tIns="0" rIns="0" bIns="0" rtlCol="0" anchor="ctr"/>
          <a:lstStyle/>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a)  Hohe Latenz</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b)  Störanfälligkeit gegen Elektromagnetik</a:t>
            </a:r>
            <a:endParaRPr lang="en-US" sz="1000" dirty="0"/>
          </a:p>
          <a:p>
            <a:pPr indent="0" marL="0">
              <a:lnSpc>
                <a:spcPct val="108000"/>
              </a:lnSpc>
              <a:buNone/>
            </a:pPr>
            <a:r>
              <a:rPr lang="en-US" sz="1000" dirty="0">
                <a:solidFill>
                  <a:srgbClr val="8E9BB8"/>
                </a:solidFill>
                <a:latin typeface="Calibri" pitchFamily="34" charset="0"/>
                <a:ea typeface="Calibri" pitchFamily="34" charset="-122"/>
                <a:cs typeface="Calibri" pitchFamily="34" charset="-120"/>
              </a:rPr>
              <a:t>c)  Teurer, langsamer Tiefbau</a:t>
            </a:r>
            <a:endParaRPr lang="en-US" sz="1000" dirty="0"/>
          </a:p>
        </p:txBody>
      </p:sp>
      <p:sp>
        <p:nvSpPr>
          <p:cNvPr id="30" name="Shape 28"/>
          <p:cNvSpPr/>
          <p:nvPr/>
        </p:nvSpPr>
        <p:spPr>
          <a:xfrm>
            <a:off x="6278728" y="4590288"/>
            <a:ext cx="5346040" cy="1133856"/>
          </a:xfrm>
          <a:prstGeom prst="roundRect">
            <a:avLst>
              <a:gd name="adj" fmla="val 8065"/>
            </a:avLst>
          </a:prstGeom>
          <a:solidFill>
            <a:srgbClr val="16224A"/>
          </a:solidFill>
          <a:ln w="9525">
            <a:solidFill>
              <a:srgbClr val="2EE6FF"/>
            </a:solidFill>
            <a:prstDash val="solid"/>
          </a:ln>
        </p:spPr>
      </p:sp>
      <p:sp>
        <p:nvSpPr>
          <p:cNvPr id="31" name="Text 29"/>
          <p:cNvSpPr txBox="1"/>
          <p:nvPr/>
        </p:nvSpPr>
        <p:spPr>
          <a:xfrm>
            <a:off x="6571336" y="4773168"/>
            <a:ext cx="4760824" cy="256032"/>
          </a:xfrm>
          <a:prstGeom prst="rect">
            <a:avLst/>
          </a:prstGeom>
          <a:noFill/>
          <a:ln/>
        </p:spPr>
        <p:txBody>
          <a:bodyPr wrap="square" lIns="0" tIns="0" rIns="0" bIns="0" rtlCol="0" anchor="ctr"/>
          <a:lstStyle/>
          <a:p>
            <a:pPr indent="0" marL="0">
              <a:buNone/>
            </a:pPr>
            <a:r>
              <a:rPr lang="en-US" sz="1300" b="1" dirty="0">
                <a:solidFill>
                  <a:srgbClr val="2EE6FF"/>
                </a:solidFill>
                <a:latin typeface="Calibri" pitchFamily="34" charset="0"/>
                <a:ea typeface="Calibri" pitchFamily="34" charset="-122"/>
                <a:cs typeface="Calibri" pitchFamily="34" charset="-120"/>
              </a:rPr>
              <a:t>Auflösung</a:t>
            </a:r>
            <a:endParaRPr lang="en-US" sz="1300" dirty="0"/>
          </a:p>
        </p:txBody>
      </p:sp>
      <p:sp>
        <p:nvSpPr>
          <p:cNvPr id="32" name="Text 30"/>
          <p:cNvSpPr txBox="1"/>
          <p:nvPr/>
        </p:nvSpPr>
        <p:spPr>
          <a:xfrm>
            <a:off x="6571336" y="5102352"/>
            <a:ext cx="4760824" cy="292608"/>
          </a:xfrm>
          <a:prstGeom prst="rect">
            <a:avLst/>
          </a:prstGeom>
          <a:noFill/>
          <a:ln/>
        </p:spPr>
        <p:txBody>
          <a:bodyPr wrap="square" lIns="0" tIns="0" rIns="0" bIns="0" rtlCol="0" anchor="ctr"/>
          <a:lstStyle/>
          <a:p>
            <a:pPr indent="0" marL="0">
              <a:buNone/>
            </a:pPr>
            <a:r>
              <a:rPr lang="en-US" sz="1400" b="1" spc="100" kern="0" dirty="0">
                <a:solidFill>
                  <a:srgbClr val="E9EFFA"/>
                </a:solidFill>
                <a:latin typeface="Courier New" pitchFamily="34" charset="0"/>
                <a:ea typeface="Courier New" pitchFamily="34" charset="-122"/>
                <a:cs typeface="Courier New" pitchFamily="34" charset="-120"/>
              </a:rPr>
              <a:t>1 b   ·   2 b   ·   3 b   ·   4 c   ·   5 c</a:t>
            </a:r>
            <a:endParaRPr lang="en-US" sz="1400" dirty="0"/>
          </a:p>
        </p:txBody>
      </p:sp>
      <p:sp>
        <p:nvSpPr>
          <p:cNvPr id="33" name="Text 31"/>
          <p:cNvSpPr txBox="1"/>
          <p:nvPr/>
        </p:nvSpPr>
        <p:spPr>
          <a:xfrm>
            <a:off x="6571336" y="5449824"/>
            <a:ext cx="4760824" cy="219456"/>
          </a:xfrm>
          <a:prstGeom prst="rect">
            <a:avLst/>
          </a:prstGeom>
          <a:noFill/>
          <a:ln/>
        </p:spPr>
        <p:txBody>
          <a:bodyPr wrap="square" lIns="0" tIns="0" rIns="0" bIns="0" rtlCol="0" anchor="ctr"/>
          <a:lstStyle/>
          <a:p>
            <a:pPr indent="0" marL="0">
              <a:buNone/>
            </a:pPr>
            <a:r>
              <a:rPr lang="en-US" sz="950" dirty="0">
                <a:solidFill>
                  <a:srgbClr val="8E9BB8"/>
                </a:solidFill>
                <a:latin typeface="Calibri" pitchFamily="34" charset="0"/>
                <a:ea typeface="Calibri" pitchFamily="34" charset="-122"/>
                <a:cs typeface="Calibri" pitchFamily="34" charset="-120"/>
              </a:rPr>
              <a:t>Diese Karte beim Präsentieren erst am Ende zeigen.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10</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Glossar</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Die Grundbegriffe, die in dieser Präsentation vorkommen.</a:t>
            </a:r>
            <a:endParaRPr lang="en-US" sz="1350" dirty="0"/>
          </a:p>
        </p:txBody>
      </p:sp>
      <p:sp>
        <p:nvSpPr>
          <p:cNvPr id="5" name="Text 3"/>
          <p:cNvSpPr txBox="1"/>
          <p:nvPr/>
        </p:nvSpPr>
        <p:spPr>
          <a:xfrm>
            <a:off x="566928" y="187452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LWL</a:t>
            </a:r>
            <a:endParaRPr lang="en-US" sz="1100" dirty="0"/>
          </a:p>
        </p:txBody>
      </p:sp>
      <p:sp>
        <p:nvSpPr>
          <p:cNvPr id="6" name="Text 4"/>
          <p:cNvSpPr txBox="1"/>
          <p:nvPr/>
        </p:nvSpPr>
        <p:spPr>
          <a:xfrm>
            <a:off x="566928" y="209397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Lichtwellenleiter — Glasfaserkabel, in dem Licht statt Strom das Signal trägt.</a:t>
            </a:r>
            <a:endParaRPr lang="en-US" sz="1050" dirty="0"/>
          </a:p>
        </p:txBody>
      </p:sp>
      <p:sp>
        <p:nvSpPr>
          <p:cNvPr id="7" name="Text 5"/>
          <p:cNvSpPr txBox="1"/>
          <p:nvPr/>
        </p:nvSpPr>
        <p:spPr>
          <a:xfrm>
            <a:off x="566928" y="251460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FTTH</a:t>
            </a:r>
            <a:endParaRPr lang="en-US" sz="1100" dirty="0"/>
          </a:p>
        </p:txBody>
      </p:sp>
      <p:sp>
        <p:nvSpPr>
          <p:cNvPr id="8" name="Text 6"/>
          <p:cNvSpPr txBox="1"/>
          <p:nvPr/>
        </p:nvSpPr>
        <p:spPr>
          <a:xfrm>
            <a:off x="566928" y="273405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Fiber to the Home — die Glasfaser endet in der Wohnung oder im Büro.</a:t>
            </a:r>
            <a:endParaRPr lang="en-US" sz="1050" dirty="0"/>
          </a:p>
        </p:txBody>
      </p:sp>
      <p:sp>
        <p:nvSpPr>
          <p:cNvPr id="9" name="Text 7"/>
          <p:cNvSpPr txBox="1"/>
          <p:nvPr/>
        </p:nvSpPr>
        <p:spPr>
          <a:xfrm>
            <a:off x="566928" y="315468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FTTB / FTTC</a:t>
            </a:r>
            <a:endParaRPr lang="en-US" sz="1100" dirty="0"/>
          </a:p>
        </p:txBody>
      </p:sp>
      <p:sp>
        <p:nvSpPr>
          <p:cNvPr id="10" name="Text 8"/>
          <p:cNvSpPr txBox="1"/>
          <p:nvPr/>
        </p:nvSpPr>
        <p:spPr>
          <a:xfrm>
            <a:off x="566928" y="337413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Glas endet im Keller beziehungsweise am Kabelverzweiger, Rest über Kupfer.</a:t>
            </a:r>
            <a:endParaRPr lang="en-US" sz="1050" dirty="0"/>
          </a:p>
        </p:txBody>
      </p:sp>
      <p:sp>
        <p:nvSpPr>
          <p:cNvPr id="11" name="Text 9"/>
          <p:cNvSpPr txBox="1"/>
          <p:nvPr/>
        </p:nvSpPr>
        <p:spPr>
          <a:xfrm>
            <a:off x="566928" y="379476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ONT</a:t>
            </a:r>
            <a:endParaRPr lang="en-US" sz="1100" dirty="0"/>
          </a:p>
        </p:txBody>
      </p:sp>
      <p:sp>
        <p:nvSpPr>
          <p:cNvPr id="12" name="Text 10"/>
          <p:cNvSpPr txBox="1"/>
          <p:nvPr/>
        </p:nvSpPr>
        <p:spPr>
          <a:xfrm>
            <a:off x="566928" y="401421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Optical Network Termination — das Glasfaser-Modem beim Kunden.</a:t>
            </a:r>
            <a:endParaRPr lang="en-US" sz="1050" dirty="0"/>
          </a:p>
        </p:txBody>
      </p:sp>
      <p:sp>
        <p:nvSpPr>
          <p:cNvPr id="13" name="Text 11"/>
          <p:cNvSpPr txBox="1"/>
          <p:nvPr/>
        </p:nvSpPr>
        <p:spPr>
          <a:xfrm>
            <a:off x="566928" y="443484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OLT</a:t>
            </a:r>
            <a:endParaRPr lang="en-US" sz="1100" dirty="0"/>
          </a:p>
        </p:txBody>
      </p:sp>
      <p:sp>
        <p:nvSpPr>
          <p:cNvPr id="14" name="Text 12"/>
          <p:cNvSpPr txBox="1"/>
          <p:nvPr/>
        </p:nvSpPr>
        <p:spPr>
          <a:xfrm>
            <a:off x="566928" y="465429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Optical Line Termination — Gegenstelle im PoP, bündelt viele hundert ONTs.</a:t>
            </a:r>
            <a:endParaRPr lang="en-US" sz="1050" dirty="0"/>
          </a:p>
        </p:txBody>
      </p:sp>
      <p:sp>
        <p:nvSpPr>
          <p:cNvPr id="15" name="Text 13"/>
          <p:cNvSpPr txBox="1"/>
          <p:nvPr/>
        </p:nvSpPr>
        <p:spPr>
          <a:xfrm>
            <a:off x="566928" y="507492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PON</a:t>
            </a:r>
            <a:endParaRPr lang="en-US" sz="1100" dirty="0"/>
          </a:p>
        </p:txBody>
      </p:sp>
      <p:sp>
        <p:nvSpPr>
          <p:cNvPr id="16" name="Text 14"/>
          <p:cNvSpPr txBox="1"/>
          <p:nvPr/>
        </p:nvSpPr>
        <p:spPr>
          <a:xfrm>
            <a:off x="566928" y="529437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Passive Optical Network — eine Faser per Splitter auf 32 bis 128 Teilnehmer.</a:t>
            </a:r>
            <a:endParaRPr lang="en-US" sz="1050" dirty="0"/>
          </a:p>
        </p:txBody>
      </p:sp>
      <p:sp>
        <p:nvSpPr>
          <p:cNvPr id="17" name="Text 15"/>
          <p:cNvSpPr txBox="1"/>
          <p:nvPr/>
        </p:nvSpPr>
        <p:spPr>
          <a:xfrm>
            <a:off x="566928" y="571500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P2P / AON</a:t>
            </a:r>
            <a:endParaRPr lang="en-US" sz="1100" dirty="0"/>
          </a:p>
        </p:txBody>
      </p:sp>
      <p:sp>
        <p:nvSpPr>
          <p:cNvPr id="18" name="Text 16"/>
          <p:cNvSpPr txBox="1"/>
          <p:nvPr/>
        </p:nvSpPr>
        <p:spPr>
          <a:xfrm>
            <a:off x="566928" y="593445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Punkt zu Punkt — eigene Faser je Kunde mit garantierter Bandbreite.</a:t>
            </a:r>
            <a:endParaRPr lang="en-US" sz="1050" dirty="0"/>
          </a:p>
        </p:txBody>
      </p:sp>
      <p:sp>
        <p:nvSpPr>
          <p:cNvPr id="19" name="Text 17"/>
          <p:cNvSpPr txBox="1"/>
          <p:nvPr/>
        </p:nvSpPr>
        <p:spPr>
          <a:xfrm>
            <a:off x="6255868" y="187452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Splitter</a:t>
            </a:r>
            <a:endParaRPr lang="en-US" sz="1100" dirty="0"/>
          </a:p>
        </p:txBody>
      </p:sp>
      <p:sp>
        <p:nvSpPr>
          <p:cNvPr id="20" name="Text 18"/>
          <p:cNvSpPr txBox="1"/>
          <p:nvPr/>
        </p:nvSpPr>
        <p:spPr>
          <a:xfrm>
            <a:off x="6255868" y="209397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Passiver Glaskörper, teilt ein Signal ohne Strom auf mehrere Fasern.</a:t>
            </a:r>
            <a:endParaRPr lang="en-US" sz="1050" dirty="0"/>
          </a:p>
        </p:txBody>
      </p:sp>
      <p:sp>
        <p:nvSpPr>
          <p:cNvPr id="21" name="Text 19"/>
          <p:cNvSpPr txBox="1"/>
          <p:nvPr/>
        </p:nvSpPr>
        <p:spPr>
          <a:xfrm>
            <a:off x="6255868" y="251460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Gf-AP / APL</a:t>
            </a:r>
            <a:endParaRPr lang="en-US" sz="1100" dirty="0"/>
          </a:p>
        </p:txBody>
      </p:sp>
      <p:sp>
        <p:nvSpPr>
          <p:cNvPr id="22" name="Text 20"/>
          <p:cNvSpPr txBox="1"/>
          <p:nvPr/>
        </p:nvSpPr>
        <p:spPr>
          <a:xfrm>
            <a:off x="6255868" y="273405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Glasfaser-Abschlusspunkt — die Übergabedose im Keller.</a:t>
            </a:r>
            <a:endParaRPr lang="en-US" sz="1050" dirty="0"/>
          </a:p>
        </p:txBody>
      </p:sp>
      <p:sp>
        <p:nvSpPr>
          <p:cNvPr id="23" name="Text 21"/>
          <p:cNvSpPr txBox="1"/>
          <p:nvPr/>
        </p:nvSpPr>
        <p:spPr>
          <a:xfrm>
            <a:off x="6255868" y="315468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Singlemode</a:t>
            </a:r>
            <a:endParaRPr lang="en-US" sz="1100" dirty="0"/>
          </a:p>
        </p:txBody>
      </p:sp>
      <p:sp>
        <p:nvSpPr>
          <p:cNvPr id="24" name="Text 22"/>
          <p:cNvSpPr txBox="1"/>
          <p:nvPr/>
        </p:nvSpPr>
        <p:spPr>
          <a:xfrm>
            <a:off x="6255868" y="337413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9 µm Kern, nur ein Lichtweg, Reichweiten bis 80 km. Standard für FTTH.</a:t>
            </a:r>
            <a:endParaRPr lang="en-US" sz="1050" dirty="0"/>
          </a:p>
        </p:txBody>
      </p:sp>
      <p:sp>
        <p:nvSpPr>
          <p:cNvPr id="25" name="Text 23"/>
          <p:cNvSpPr txBox="1"/>
          <p:nvPr/>
        </p:nvSpPr>
        <p:spPr>
          <a:xfrm>
            <a:off x="6255868" y="379476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Multimode</a:t>
            </a:r>
            <a:endParaRPr lang="en-US" sz="1100" dirty="0"/>
          </a:p>
        </p:txBody>
      </p:sp>
      <p:sp>
        <p:nvSpPr>
          <p:cNvPr id="26" name="Text 24"/>
          <p:cNvSpPr txBox="1"/>
          <p:nvPr/>
        </p:nvSpPr>
        <p:spPr>
          <a:xfrm>
            <a:off x="6255868" y="401421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50 µm Kern, viele Lichtwege, billigere Sender, nur bis etwa 550 m.</a:t>
            </a:r>
            <a:endParaRPr lang="en-US" sz="1050" dirty="0"/>
          </a:p>
        </p:txBody>
      </p:sp>
      <p:sp>
        <p:nvSpPr>
          <p:cNvPr id="27" name="Text 25"/>
          <p:cNvSpPr txBox="1"/>
          <p:nvPr/>
        </p:nvSpPr>
        <p:spPr>
          <a:xfrm>
            <a:off x="6255868" y="443484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Totalreflexion</a:t>
            </a:r>
            <a:endParaRPr lang="en-US" sz="1100" dirty="0"/>
          </a:p>
        </p:txBody>
      </p:sp>
      <p:sp>
        <p:nvSpPr>
          <p:cNvPr id="28" name="Text 26"/>
          <p:cNvSpPr txBox="1"/>
          <p:nvPr/>
        </p:nvSpPr>
        <p:spPr>
          <a:xfrm>
            <a:off x="6255868" y="465429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Licht wird an der Grenze zum dünneren Mantel vollständig zurückgeworfen.</a:t>
            </a:r>
            <a:endParaRPr lang="en-US" sz="1050" dirty="0"/>
          </a:p>
        </p:txBody>
      </p:sp>
      <p:sp>
        <p:nvSpPr>
          <p:cNvPr id="29" name="Text 27"/>
          <p:cNvSpPr txBox="1"/>
          <p:nvPr/>
        </p:nvSpPr>
        <p:spPr>
          <a:xfrm>
            <a:off x="6255868" y="5074920"/>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Brechzahl (n)</a:t>
            </a:r>
            <a:endParaRPr lang="en-US" sz="1100" dirty="0"/>
          </a:p>
        </p:txBody>
      </p:sp>
      <p:sp>
        <p:nvSpPr>
          <p:cNvPr id="30" name="Text 28"/>
          <p:cNvSpPr txBox="1"/>
          <p:nvPr/>
        </p:nvSpPr>
        <p:spPr>
          <a:xfrm>
            <a:off x="6255868" y="5294376"/>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Maß dafür, wie stark ein Material Licht bremst. Kern 1,48, Mantel 1,46.</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10</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Glossar (Fortsetzung)</a:t>
            </a:r>
            <a:endParaRPr lang="en-US" sz="3400" dirty="0"/>
          </a:p>
        </p:txBody>
      </p:sp>
      <p:sp>
        <p:nvSpPr>
          <p:cNvPr id="4" name="Text 2"/>
          <p:cNvSpPr txBox="1"/>
          <p:nvPr/>
        </p:nvSpPr>
        <p:spPr>
          <a:xfrm>
            <a:off x="566928" y="148132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Dämpfung</a:t>
            </a:r>
            <a:endParaRPr lang="en-US" sz="1100" dirty="0"/>
          </a:p>
        </p:txBody>
      </p:sp>
      <p:sp>
        <p:nvSpPr>
          <p:cNvPr id="5" name="Text 3"/>
          <p:cNvSpPr txBox="1"/>
          <p:nvPr/>
        </p:nvSpPr>
        <p:spPr>
          <a:xfrm>
            <a:off x="566928" y="170078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Signalverlust in Dezibel pro Kilometer. Bei 1550 nm rund 0,2 dB/km.</a:t>
            </a:r>
            <a:endParaRPr lang="en-US" sz="1050" dirty="0"/>
          </a:p>
        </p:txBody>
      </p:sp>
      <p:sp>
        <p:nvSpPr>
          <p:cNvPr id="6" name="Text 4"/>
          <p:cNvSpPr txBox="1"/>
          <p:nvPr/>
        </p:nvSpPr>
        <p:spPr>
          <a:xfrm>
            <a:off x="566928" y="212140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nm / Wellenlänge</a:t>
            </a:r>
            <a:endParaRPr lang="en-US" sz="1100" dirty="0"/>
          </a:p>
        </p:txBody>
      </p:sp>
      <p:sp>
        <p:nvSpPr>
          <p:cNvPr id="7" name="Text 5"/>
          <p:cNvSpPr txBox="1"/>
          <p:nvPr/>
        </p:nvSpPr>
        <p:spPr>
          <a:xfrm>
            <a:off x="566928" y="234086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Nanometer, das Farbmaß des Lichts. 1310 und 1550 nm liegen im Infrarot.</a:t>
            </a:r>
            <a:endParaRPr lang="en-US" sz="1050" dirty="0"/>
          </a:p>
        </p:txBody>
      </p:sp>
      <p:sp>
        <p:nvSpPr>
          <p:cNvPr id="8" name="Text 6"/>
          <p:cNvSpPr txBox="1"/>
          <p:nvPr/>
        </p:nvSpPr>
        <p:spPr>
          <a:xfrm>
            <a:off x="566928" y="276148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DWDM</a:t>
            </a:r>
            <a:endParaRPr lang="en-US" sz="1100" dirty="0"/>
          </a:p>
        </p:txBody>
      </p:sp>
      <p:sp>
        <p:nvSpPr>
          <p:cNvPr id="9" name="Text 7"/>
          <p:cNvSpPr txBox="1"/>
          <p:nvPr/>
        </p:nvSpPr>
        <p:spPr>
          <a:xfrm>
            <a:off x="566928" y="298094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Dense Wavelength Division Multiplexing — bis 96 Wellenlängen auf einer Faser.</a:t>
            </a:r>
            <a:endParaRPr lang="en-US" sz="1050" dirty="0"/>
          </a:p>
        </p:txBody>
      </p:sp>
      <p:sp>
        <p:nvSpPr>
          <p:cNvPr id="10" name="Text 8"/>
          <p:cNvSpPr txBox="1"/>
          <p:nvPr/>
        </p:nvSpPr>
        <p:spPr>
          <a:xfrm>
            <a:off x="566928" y="340156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TDMA</a:t>
            </a:r>
            <a:endParaRPr lang="en-US" sz="1100" dirty="0"/>
          </a:p>
        </p:txBody>
      </p:sp>
      <p:sp>
        <p:nvSpPr>
          <p:cNvPr id="11" name="Text 9"/>
          <p:cNvSpPr txBox="1"/>
          <p:nvPr/>
        </p:nvSpPr>
        <p:spPr>
          <a:xfrm>
            <a:off x="566928" y="362102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Time Division Multiple Access — jedes ONT bekommt feste Zeitschlitze.</a:t>
            </a:r>
            <a:endParaRPr lang="en-US" sz="1050" dirty="0"/>
          </a:p>
        </p:txBody>
      </p:sp>
      <p:sp>
        <p:nvSpPr>
          <p:cNvPr id="12" name="Text 10"/>
          <p:cNvSpPr txBox="1"/>
          <p:nvPr/>
        </p:nvSpPr>
        <p:spPr>
          <a:xfrm>
            <a:off x="566928" y="404164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NRZ / OOK</a:t>
            </a:r>
            <a:endParaRPr lang="en-US" sz="1100" dirty="0"/>
          </a:p>
        </p:txBody>
      </p:sp>
      <p:sp>
        <p:nvSpPr>
          <p:cNvPr id="13" name="Text 11"/>
          <p:cNvSpPr txBox="1"/>
          <p:nvPr/>
        </p:nvSpPr>
        <p:spPr>
          <a:xfrm>
            <a:off x="566928" y="426110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On-Off-Keying: Licht an ist 1, Licht aus ist 0.</a:t>
            </a:r>
            <a:endParaRPr lang="en-US" sz="1050" dirty="0"/>
          </a:p>
        </p:txBody>
      </p:sp>
      <p:sp>
        <p:nvSpPr>
          <p:cNvPr id="14" name="Text 12"/>
          <p:cNvSpPr txBox="1"/>
          <p:nvPr/>
        </p:nvSpPr>
        <p:spPr>
          <a:xfrm>
            <a:off x="566928" y="468172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PAM4</a:t>
            </a:r>
            <a:endParaRPr lang="en-US" sz="1100" dirty="0"/>
          </a:p>
        </p:txBody>
      </p:sp>
      <p:sp>
        <p:nvSpPr>
          <p:cNvPr id="15" name="Text 13"/>
          <p:cNvSpPr txBox="1"/>
          <p:nvPr/>
        </p:nvSpPr>
        <p:spPr>
          <a:xfrm>
            <a:off x="566928" y="490118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Vier Helligkeitsstufen, 2 Bit pro Symbol, doppelte Rate je Symbolrate.</a:t>
            </a:r>
            <a:endParaRPr lang="en-US" sz="1050" dirty="0"/>
          </a:p>
        </p:txBody>
      </p:sp>
      <p:sp>
        <p:nvSpPr>
          <p:cNvPr id="16" name="Text 14"/>
          <p:cNvSpPr txBox="1"/>
          <p:nvPr/>
        </p:nvSpPr>
        <p:spPr>
          <a:xfrm>
            <a:off x="566928" y="532180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XGS-PON</a:t>
            </a:r>
            <a:endParaRPr lang="en-US" sz="1100" dirty="0"/>
          </a:p>
        </p:txBody>
      </p:sp>
      <p:sp>
        <p:nvSpPr>
          <p:cNvPr id="17" name="Text 15"/>
          <p:cNvSpPr txBox="1"/>
          <p:nvPr/>
        </p:nvSpPr>
        <p:spPr>
          <a:xfrm>
            <a:off x="566928" y="554126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PON-Generation mit symmetrisch 10 Gbit/s, löst GPON ab.</a:t>
            </a:r>
            <a:endParaRPr lang="en-US" sz="1050" dirty="0"/>
          </a:p>
        </p:txBody>
      </p:sp>
      <p:sp>
        <p:nvSpPr>
          <p:cNvPr id="18" name="Text 16"/>
          <p:cNvSpPr txBox="1"/>
          <p:nvPr/>
        </p:nvSpPr>
        <p:spPr>
          <a:xfrm>
            <a:off x="6255868" y="148132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Symmetrisch</a:t>
            </a:r>
            <a:endParaRPr lang="en-US" sz="1100" dirty="0"/>
          </a:p>
        </p:txBody>
      </p:sp>
      <p:sp>
        <p:nvSpPr>
          <p:cNvPr id="19" name="Text 17"/>
          <p:cNvSpPr txBox="1"/>
          <p:nvPr/>
        </p:nvSpPr>
        <p:spPr>
          <a:xfrm>
            <a:off x="6255868" y="170078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Upload so schnell wie Download — der Vorteil gegenüber DSL und Kabel.</a:t>
            </a:r>
            <a:endParaRPr lang="en-US" sz="1050" dirty="0"/>
          </a:p>
        </p:txBody>
      </p:sp>
      <p:sp>
        <p:nvSpPr>
          <p:cNvPr id="20" name="Text 18"/>
          <p:cNvSpPr txBox="1"/>
          <p:nvPr/>
        </p:nvSpPr>
        <p:spPr>
          <a:xfrm>
            <a:off x="6255868" y="212140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Latenz</a:t>
            </a:r>
            <a:endParaRPr lang="en-US" sz="1100" dirty="0"/>
          </a:p>
        </p:txBody>
      </p:sp>
      <p:sp>
        <p:nvSpPr>
          <p:cNvPr id="21" name="Text 19"/>
          <p:cNvSpPr txBox="1"/>
          <p:nvPr/>
        </p:nvSpPr>
        <p:spPr>
          <a:xfrm>
            <a:off x="6255868" y="234086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Signallaufzeit. Im Glas etwa 5 µs pro Kilometer, FTTH bei 1 bis 5 ms.</a:t>
            </a:r>
            <a:endParaRPr lang="en-US" sz="1050" dirty="0"/>
          </a:p>
        </p:txBody>
      </p:sp>
      <p:sp>
        <p:nvSpPr>
          <p:cNvPr id="22" name="Text 20"/>
          <p:cNvSpPr txBox="1"/>
          <p:nvPr/>
        </p:nvSpPr>
        <p:spPr>
          <a:xfrm>
            <a:off x="6255868" y="276148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Spleißen</a:t>
            </a:r>
            <a:endParaRPr lang="en-US" sz="1100" dirty="0"/>
          </a:p>
        </p:txBody>
      </p:sp>
      <p:sp>
        <p:nvSpPr>
          <p:cNvPr id="23" name="Text 21"/>
          <p:cNvSpPr txBox="1"/>
          <p:nvPr/>
        </p:nvSpPr>
        <p:spPr>
          <a:xfrm>
            <a:off x="6255868" y="298094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Verschweißen zweier Fasern im Lichtbogen, Verlust unter 0,1 dB.</a:t>
            </a:r>
            <a:endParaRPr lang="en-US" sz="1050" dirty="0"/>
          </a:p>
        </p:txBody>
      </p:sp>
      <p:sp>
        <p:nvSpPr>
          <p:cNvPr id="24" name="Text 22"/>
          <p:cNvSpPr txBox="1"/>
          <p:nvPr/>
        </p:nvSpPr>
        <p:spPr>
          <a:xfrm>
            <a:off x="6255868" y="340156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Homes Passed</a:t>
            </a:r>
            <a:endParaRPr lang="en-US" sz="1100" dirty="0"/>
          </a:p>
        </p:txBody>
      </p:sp>
      <p:sp>
        <p:nvSpPr>
          <p:cNvPr id="25" name="Text 23"/>
          <p:cNvSpPr txBox="1"/>
          <p:nvPr/>
        </p:nvSpPr>
        <p:spPr>
          <a:xfrm>
            <a:off x="6255868" y="362102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Adressen, an denen Glasfaser bis vor die Tür liegt, noch ohne Vertrag.</a:t>
            </a:r>
            <a:endParaRPr lang="en-US" sz="1050" dirty="0"/>
          </a:p>
        </p:txBody>
      </p:sp>
      <p:sp>
        <p:nvSpPr>
          <p:cNvPr id="26" name="Text 24"/>
          <p:cNvSpPr txBox="1"/>
          <p:nvPr/>
        </p:nvSpPr>
        <p:spPr>
          <a:xfrm>
            <a:off x="6255868" y="404164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Take-up-Rate</a:t>
            </a:r>
            <a:endParaRPr lang="en-US" sz="1100" dirty="0"/>
          </a:p>
        </p:txBody>
      </p:sp>
      <p:sp>
        <p:nvSpPr>
          <p:cNvPr id="27" name="Text 25"/>
          <p:cNvSpPr txBox="1"/>
          <p:nvPr/>
        </p:nvSpPr>
        <p:spPr>
          <a:xfrm>
            <a:off x="6255868" y="426110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Anteil der erschlossenen Haushalte mit gebuchtem Vertrag, in DE rund 27 %.</a:t>
            </a:r>
            <a:endParaRPr lang="en-US" sz="1050" dirty="0"/>
          </a:p>
        </p:txBody>
      </p:sp>
      <p:sp>
        <p:nvSpPr>
          <p:cNvPr id="28" name="Text 26"/>
          <p:cNvSpPr txBox="1"/>
          <p:nvPr/>
        </p:nvSpPr>
        <p:spPr>
          <a:xfrm>
            <a:off x="6255868" y="4681728"/>
            <a:ext cx="5368900" cy="219456"/>
          </a:xfrm>
          <a:prstGeom prst="rect">
            <a:avLst/>
          </a:prstGeom>
          <a:noFill/>
          <a:ln/>
        </p:spPr>
        <p:txBody>
          <a:bodyPr wrap="square" lIns="0" tIns="0" rIns="0" bIns="0" rtlCol="0" anchor="ctr"/>
          <a:lstStyle/>
          <a:p>
            <a:pPr indent="0" marL="0">
              <a:buNone/>
            </a:pPr>
            <a:r>
              <a:rPr lang="en-US" sz="1100" b="1" dirty="0">
                <a:solidFill>
                  <a:srgbClr val="2EE6FF"/>
                </a:solidFill>
                <a:latin typeface="Courier New" pitchFamily="34" charset="0"/>
                <a:ea typeface="Courier New" pitchFamily="34" charset="-122"/>
                <a:cs typeface="Courier New" pitchFamily="34" charset="-120"/>
              </a:rPr>
              <a:t>BKZ</a:t>
            </a:r>
            <a:endParaRPr lang="en-US" sz="1100" dirty="0"/>
          </a:p>
        </p:txBody>
      </p:sp>
      <p:sp>
        <p:nvSpPr>
          <p:cNvPr id="29" name="Text 27"/>
          <p:cNvSpPr txBox="1"/>
          <p:nvPr/>
        </p:nvSpPr>
        <p:spPr>
          <a:xfrm>
            <a:off x="6255868" y="4901184"/>
            <a:ext cx="5368900" cy="384048"/>
          </a:xfrm>
          <a:prstGeom prst="rect">
            <a:avLst/>
          </a:prstGeom>
          <a:noFill/>
          <a:ln/>
        </p:spPr>
        <p:txBody>
          <a:bodyPr wrap="square" lIns="0" tIns="0" rIns="0" bIns="0" rtlCol="0" anchor="ctr"/>
          <a:lstStyle/>
          <a:p>
            <a:pPr indent="0" marL="0">
              <a:lnSpc>
                <a:spcPct val="106000"/>
              </a:lnSpc>
              <a:buNone/>
            </a:pPr>
            <a:r>
              <a:rPr lang="en-US" sz="1050" dirty="0">
                <a:solidFill>
                  <a:srgbClr val="8E9BB8"/>
                </a:solidFill>
                <a:latin typeface="Calibri" pitchFamily="34" charset="0"/>
                <a:ea typeface="Calibri" pitchFamily="34" charset="-122"/>
                <a:cs typeface="Calibri" pitchFamily="34" charset="-120"/>
              </a:rPr>
              <a:t>Baukostenzuschuss — Beteiligung an den Tiefbaukosten außerhalb der Ausbauphase.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060F"/>
        </a:solidFill>
      </p:bgPr>
    </p:bg>
    <p:spTree>
      <p:nvGrpSpPr>
        <p:cNvPr id="1" name=""/>
        <p:cNvGrpSpPr/>
        <p:nvPr/>
      </p:nvGrpSpPr>
      <p:grpSpPr>
        <a:xfrm>
          <a:off x="0" y="0"/>
          <a:ext cx="0" cy="0"/>
          <a:chOff x="0" y="0"/>
          <a:chExt cx="0" cy="0"/>
        </a:xfrm>
      </p:grpSpPr>
      <p:sp>
        <p:nvSpPr>
          <p:cNvPr id="2" name="Text 0"/>
          <p:cNvSpPr txBox="1"/>
          <p:nvPr/>
        </p:nvSpPr>
        <p:spPr>
          <a:xfrm>
            <a:off x="566928" y="347472"/>
            <a:ext cx="914400" cy="274320"/>
          </a:xfrm>
          <a:prstGeom prst="rect">
            <a:avLst/>
          </a:prstGeom>
          <a:noFill/>
          <a:ln/>
        </p:spPr>
        <p:txBody>
          <a:bodyPr wrap="square" lIns="0" tIns="0" rIns="0" bIns="0" rtlCol="0" anchor="ctr"/>
          <a:lstStyle/>
          <a:p>
            <a:pPr indent="0" marL="0">
              <a:buNone/>
            </a:pPr>
            <a:r>
              <a:rPr lang="en-US" sz="1200" b="1" spc="200" kern="0" dirty="0">
                <a:solidFill>
                  <a:srgbClr val="2EE6FF"/>
                </a:solidFill>
                <a:latin typeface="Courier New" pitchFamily="34" charset="0"/>
                <a:ea typeface="Courier New" pitchFamily="34" charset="-122"/>
                <a:cs typeface="Courier New" pitchFamily="34" charset="-120"/>
              </a:rPr>
              <a:t>11</a:t>
            </a:r>
            <a:endParaRPr lang="en-US" sz="1200" dirty="0"/>
          </a:p>
        </p:txBody>
      </p:sp>
      <p:sp>
        <p:nvSpPr>
          <p:cNvPr id="3" name="Text 1"/>
          <p:cNvSpPr txBox="1"/>
          <p:nvPr/>
        </p:nvSpPr>
        <p:spPr>
          <a:xfrm>
            <a:off x="566928" y="621792"/>
            <a:ext cx="11057839" cy="658368"/>
          </a:xfrm>
          <a:prstGeom prst="rect">
            <a:avLst/>
          </a:prstGeom>
          <a:noFill/>
          <a:ln/>
        </p:spPr>
        <p:txBody>
          <a:bodyPr wrap="square" lIns="0" tIns="0" rIns="0" bIns="0" rtlCol="0" anchor="ctr"/>
          <a:lstStyle/>
          <a:p>
            <a:pPr indent="0" marL="0">
              <a:buNone/>
            </a:pPr>
            <a:r>
              <a:rPr lang="en-US" sz="3400" b="1" dirty="0">
                <a:solidFill>
                  <a:srgbClr val="E9EFFA"/>
                </a:solidFill>
                <a:latin typeface="Calibri" pitchFamily="34" charset="0"/>
                <a:ea typeface="Calibri" pitchFamily="34" charset="-122"/>
                <a:cs typeface="Calibri" pitchFamily="34" charset="-120"/>
              </a:rPr>
              <a:t>Quellen</a:t>
            </a:r>
            <a:endParaRPr lang="en-US" sz="3400" dirty="0"/>
          </a:p>
        </p:txBody>
      </p:sp>
      <p:sp>
        <p:nvSpPr>
          <p:cNvPr id="4" name="Text 2"/>
          <p:cNvSpPr txBox="1"/>
          <p:nvPr/>
        </p:nvSpPr>
        <p:spPr>
          <a:xfrm>
            <a:off x="566928" y="1298448"/>
            <a:ext cx="10692079" cy="384048"/>
          </a:xfrm>
          <a:prstGeom prst="rect">
            <a:avLst/>
          </a:prstGeom>
          <a:noFill/>
          <a:ln/>
        </p:spPr>
        <p:txBody>
          <a:bodyPr wrap="square" lIns="0" tIns="0" rIns="0" bIns="0" rtlCol="0" anchor="ctr"/>
          <a:lstStyle/>
          <a:p>
            <a:pPr indent="0" marL="0">
              <a:lnSpc>
                <a:spcPct val="115000"/>
              </a:lnSpc>
              <a:buNone/>
            </a:pPr>
            <a:r>
              <a:rPr lang="en-US" sz="1350" dirty="0">
                <a:solidFill>
                  <a:srgbClr val="8E9BB8"/>
                </a:solidFill>
                <a:latin typeface="Calibri" pitchFamily="34" charset="0"/>
                <a:ea typeface="Calibri" pitchFamily="34" charset="-122"/>
                <a:cs typeface="Calibri" pitchFamily="34" charset="-120"/>
              </a:rPr>
              <a:t>Stand aller Zahlen: 15. September 2026.</a:t>
            </a:r>
            <a:endParaRPr lang="en-US" sz="1350" dirty="0"/>
          </a:p>
        </p:txBody>
      </p:sp>
      <p:sp>
        <p:nvSpPr>
          <p:cNvPr id="5" name="Text 3"/>
          <p:cNvSpPr txBox="1"/>
          <p:nvPr/>
        </p:nvSpPr>
        <p:spPr>
          <a:xfrm>
            <a:off x="566928" y="1874520"/>
            <a:ext cx="36576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01</a:t>
            </a:r>
            <a:endParaRPr lang="en-US" sz="1000" dirty="0"/>
          </a:p>
        </p:txBody>
      </p:sp>
      <p:sp>
        <p:nvSpPr>
          <p:cNvPr id="6" name="Text 4"/>
          <p:cNvSpPr txBox="1"/>
          <p:nvPr/>
        </p:nvSpPr>
        <p:spPr>
          <a:xfrm>
            <a:off x="978408" y="1874520"/>
            <a:ext cx="4934560" cy="237744"/>
          </a:xfrm>
          <a:prstGeom prst="rect">
            <a:avLst/>
          </a:prstGeom>
          <a:noFill/>
          <a:ln/>
        </p:spPr>
        <p:txBody>
          <a:bodyPr wrap="square" lIns="0" tIns="0" rIns="0" bIns="0" rtlCol="0" anchor="ctr"/>
          <a:lstStyle/>
          <a:p>
            <a:pPr indent="0" marL="0">
              <a:buNone/>
            </a:pPr>
            <a:r>
              <a:rPr lang="en-US" sz="1150" b="1" dirty="0">
                <a:solidFill>
                  <a:srgbClr val="E9EFFA"/>
                </a:solidFill>
                <a:latin typeface="Calibri" pitchFamily="34" charset="0"/>
                <a:ea typeface="Calibri" pitchFamily="34" charset="-122"/>
                <a:cs typeface="Calibri" pitchFamily="34" charset="-120"/>
              </a:rPr>
              <a:t>BREKO Bundesverband Breitbandkommunikation</a:t>
            </a:r>
            <a:endParaRPr lang="en-US" sz="1150" dirty="0"/>
          </a:p>
        </p:txBody>
      </p:sp>
      <p:sp>
        <p:nvSpPr>
          <p:cNvPr id="7" name="Text 5"/>
          <p:cNvSpPr txBox="1"/>
          <p:nvPr/>
        </p:nvSpPr>
        <p:spPr>
          <a:xfrm>
            <a:off x="978408" y="2112264"/>
            <a:ext cx="4934560" cy="402336"/>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BREKO Marktanalyse 2026, 02.09.2026 · brekoverband.de</a:t>
            </a:r>
            <a:endParaRPr lang="en-US" sz="1000" dirty="0"/>
          </a:p>
        </p:txBody>
      </p:sp>
      <p:sp>
        <p:nvSpPr>
          <p:cNvPr id="8" name="Text 6"/>
          <p:cNvSpPr txBox="1"/>
          <p:nvPr/>
        </p:nvSpPr>
        <p:spPr>
          <a:xfrm>
            <a:off x="566928" y="2587752"/>
            <a:ext cx="36576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02</a:t>
            </a:r>
            <a:endParaRPr lang="en-US" sz="1000" dirty="0"/>
          </a:p>
        </p:txBody>
      </p:sp>
      <p:sp>
        <p:nvSpPr>
          <p:cNvPr id="9" name="Text 7"/>
          <p:cNvSpPr txBox="1"/>
          <p:nvPr/>
        </p:nvSpPr>
        <p:spPr>
          <a:xfrm>
            <a:off x="978408" y="2587752"/>
            <a:ext cx="4934560" cy="237744"/>
          </a:xfrm>
          <a:prstGeom prst="rect">
            <a:avLst/>
          </a:prstGeom>
          <a:noFill/>
          <a:ln/>
        </p:spPr>
        <p:txBody>
          <a:bodyPr wrap="square" lIns="0" tIns="0" rIns="0" bIns="0" rtlCol="0" anchor="ctr"/>
          <a:lstStyle/>
          <a:p>
            <a:pPr indent="0" marL="0">
              <a:buNone/>
            </a:pPr>
            <a:r>
              <a:rPr lang="en-US" sz="1150" b="1" dirty="0">
                <a:solidFill>
                  <a:srgbClr val="E9EFFA"/>
                </a:solidFill>
                <a:latin typeface="Calibri" pitchFamily="34" charset="0"/>
                <a:ea typeface="Calibri" pitchFamily="34" charset="-122"/>
                <a:cs typeface="Calibri" pitchFamily="34" charset="-120"/>
              </a:rPr>
              <a:t>Senatsverwaltung für Wirtschaft, Energie und Betriebe Berlin</a:t>
            </a:r>
            <a:endParaRPr lang="en-US" sz="1150" dirty="0"/>
          </a:p>
        </p:txBody>
      </p:sp>
      <p:sp>
        <p:nvSpPr>
          <p:cNvPr id="10" name="Text 8"/>
          <p:cNvSpPr txBox="1"/>
          <p:nvPr/>
        </p:nvSpPr>
        <p:spPr>
          <a:xfrm>
            <a:off x="978408" y="2825496"/>
            <a:ext cx="4934560" cy="402336"/>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Gigabit-Strategie: 53,4 % der Haushalte versorgt, PM 04.03.2026 · berlin.de</a:t>
            </a:r>
            <a:endParaRPr lang="en-US" sz="1000" dirty="0"/>
          </a:p>
        </p:txBody>
      </p:sp>
      <p:sp>
        <p:nvSpPr>
          <p:cNvPr id="11" name="Text 9"/>
          <p:cNvSpPr txBox="1"/>
          <p:nvPr/>
        </p:nvSpPr>
        <p:spPr>
          <a:xfrm>
            <a:off x="566928" y="3300984"/>
            <a:ext cx="36576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03</a:t>
            </a:r>
            <a:endParaRPr lang="en-US" sz="1000" dirty="0"/>
          </a:p>
        </p:txBody>
      </p:sp>
      <p:sp>
        <p:nvSpPr>
          <p:cNvPr id="12" name="Text 10"/>
          <p:cNvSpPr txBox="1"/>
          <p:nvPr/>
        </p:nvSpPr>
        <p:spPr>
          <a:xfrm>
            <a:off x="978408" y="3300984"/>
            <a:ext cx="4934560" cy="237744"/>
          </a:xfrm>
          <a:prstGeom prst="rect">
            <a:avLst/>
          </a:prstGeom>
          <a:noFill/>
          <a:ln/>
        </p:spPr>
        <p:txBody>
          <a:bodyPr wrap="square" lIns="0" tIns="0" rIns="0" bIns="0" rtlCol="0" anchor="ctr"/>
          <a:lstStyle/>
          <a:p>
            <a:pPr indent="0" marL="0">
              <a:buNone/>
            </a:pPr>
            <a:r>
              <a:rPr lang="en-US" sz="1150" b="1" dirty="0">
                <a:solidFill>
                  <a:srgbClr val="E9EFFA"/>
                </a:solidFill>
                <a:latin typeface="Calibri" pitchFamily="34" charset="0"/>
                <a:ea typeface="Calibri" pitchFamily="34" charset="-122"/>
                <a:cs typeface="Calibri" pitchFamily="34" charset="-120"/>
              </a:rPr>
              <a:t>Deutsche Telekom AG</a:t>
            </a:r>
            <a:endParaRPr lang="en-US" sz="1150" dirty="0"/>
          </a:p>
        </p:txBody>
      </p:sp>
      <p:sp>
        <p:nvSpPr>
          <p:cNvPr id="13" name="Text 11"/>
          <p:cNvSpPr txBox="1"/>
          <p:nvPr/>
        </p:nvSpPr>
        <p:spPr>
          <a:xfrm>
            <a:off x="978408" y="3538728"/>
            <a:ext cx="4934560" cy="402336"/>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Telekom knackt 1-Million-Marke beim Glasfaserausbau in Berlin, Mai 2026 · telekom.com</a:t>
            </a:r>
            <a:endParaRPr lang="en-US" sz="1000" dirty="0"/>
          </a:p>
        </p:txBody>
      </p:sp>
      <p:sp>
        <p:nvSpPr>
          <p:cNvPr id="14" name="Text 12"/>
          <p:cNvSpPr txBox="1"/>
          <p:nvPr/>
        </p:nvSpPr>
        <p:spPr>
          <a:xfrm>
            <a:off x="566928" y="4014216"/>
            <a:ext cx="36576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04</a:t>
            </a:r>
            <a:endParaRPr lang="en-US" sz="1000" dirty="0"/>
          </a:p>
        </p:txBody>
      </p:sp>
      <p:sp>
        <p:nvSpPr>
          <p:cNvPr id="15" name="Text 13"/>
          <p:cNvSpPr txBox="1"/>
          <p:nvPr/>
        </p:nvSpPr>
        <p:spPr>
          <a:xfrm>
            <a:off x="978408" y="4014216"/>
            <a:ext cx="4934560" cy="237744"/>
          </a:xfrm>
          <a:prstGeom prst="rect">
            <a:avLst/>
          </a:prstGeom>
          <a:noFill/>
          <a:ln/>
        </p:spPr>
        <p:txBody>
          <a:bodyPr wrap="square" lIns="0" tIns="0" rIns="0" bIns="0" rtlCol="0" anchor="ctr"/>
          <a:lstStyle/>
          <a:p>
            <a:pPr indent="0" marL="0">
              <a:buNone/>
            </a:pPr>
            <a:r>
              <a:rPr lang="en-US" sz="1150" b="1" dirty="0">
                <a:solidFill>
                  <a:srgbClr val="E9EFFA"/>
                </a:solidFill>
                <a:latin typeface="Calibri" pitchFamily="34" charset="0"/>
                <a:ea typeface="Calibri" pitchFamily="34" charset="-122"/>
                <a:cs typeface="Calibri" pitchFamily="34" charset="-120"/>
              </a:rPr>
              <a:t>dslweb.de</a:t>
            </a:r>
            <a:endParaRPr lang="en-US" sz="1150" dirty="0"/>
          </a:p>
        </p:txBody>
      </p:sp>
      <p:sp>
        <p:nvSpPr>
          <p:cNvPr id="16" name="Text 14"/>
          <p:cNvSpPr txBox="1"/>
          <p:nvPr/>
        </p:nvSpPr>
        <p:spPr>
          <a:xfrm>
            <a:off x="978408" y="4251960"/>
            <a:ext cx="4934560" cy="402336"/>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Telekom Glasfaser Tarife im Vergleich, abgerufen 15.09.2026</a:t>
            </a:r>
            <a:endParaRPr lang="en-US" sz="1000" dirty="0"/>
          </a:p>
        </p:txBody>
      </p:sp>
      <p:sp>
        <p:nvSpPr>
          <p:cNvPr id="17" name="Text 15"/>
          <p:cNvSpPr txBox="1"/>
          <p:nvPr/>
        </p:nvSpPr>
        <p:spPr>
          <a:xfrm>
            <a:off x="566928" y="4727448"/>
            <a:ext cx="36576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05</a:t>
            </a:r>
            <a:endParaRPr lang="en-US" sz="1000" dirty="0"/>
          </a:p>
        </p:txBody>
      </p:sp>
      <p:sp>
        <p:nvSpPr>
          <p:cNvPr id="18" name="Text 16"/>
          <p:cNvSpPr txBox="1"/>
          <p:nvPr/>
        </p:nvSpPr>
        <p:spPr>
          <a:xfrm>
            <a:off x="978408" y="4727448"/>
            <a:ext cx="4934560" cy="237744"/>
          </a:xfrm>
          <a:prstGeom prst="rect">
            <a:avLst/>
          </a:prstGeom>
          <a:noFill/>
          <a:ln/>
        </p:spPr>
        <p:txBody>
          <a:bodyPr wrap="square" lIns="0" tIns="0" rIns="0" bIns="0" rtlCol="0" anchor="ctr"/>
          <a:lstStyle/>
          <a:p>
            <a:pPr indent="0" marL="0">
              <a:buNone/>
            </a:pPr>
            <a:r>
              <a:rPr lang="en-US" sz="1150" b="1" dirty="0">
                <a:solidFill>
                  <a:srgbClr val="E9EFFA"/>
                </a:solidFill>
                <a:latin typeface="Calibri" pitchFamily="34" charset="0"/>
                <a:ea typeface="Calibri" pitchFamily="34" charset="-122"/>
                <a:cs typeface="Calibri" pitchFamily="34" charset="-120"/>
              </a:rPr>
              <a:t>kostenlupe.de</a:t>
            </a:r>
            <a:endParaRPr lang="en-US" sz="1150" dirty="0"/>
          </a:p>
        </p:txBody>
      </p:sp>
      <p:sp>
        <p:nvSpPr>
          <p:cNvPr id="19" name="Text 17"/>
          <p:cNvSpPr txBox="1"/>
          <p:nvPr/>
        </p:nvSpPr>
        <p:spPr>
          <a:xfrm>
            <a:off x="978408" y="4965192"/>
            <a:ext cx="4934560" cy="402336"/>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Glasfaseranschluss Kosten 2026: Hausanschluss, Tarife, Mieter, abgerufen 15.09.2026</a:t>
            </a:r>
            <a:endParaRPr lang="en-US" sz="1000" dirty="0"/>
          </a:p>
        </p:txBody>
      </p:sp>
      <p:sp>
        <p:nvSpPr>
          <p:cNvPr id="20" name="Text 18"/>
          <p:cNvSpPr txBox="1"/>
          <p:nvPr/>
        </p:nvSpPr>
        <p:spPr>
          <a:xfrm>
            <a:off x="6278728" y="1874520"/>
            <a:ext cx="36576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06</a:t>
            </a:r>
            <a:endParaRPr lang="en-US" sz="1000" dirty="0"/>
          </a:p>
        </p:txBody>
      </p:sp>
      <p:sp>
        <p:nvSpPr>
          <p:cNvPr id="21" name="Text 19"/>
          <p:cNvSpPr txBox="1"/>
          <p:nvPr/>
        </p:nvSpPr>
        <p:spPr>
          <a:xfrm>
            <a:off x="6690208" y="1874520"/>
            <a:ext cx="4934560" cy="237744"/>
          </a:xfrm>
          <a:prstGeom prst="rect">
            <a:avLst/>
          </a:prstGeom>
          <a:noFill/>
          <a:ln/>
        </p:spPr>
        <p:txBody>
          <a:bodyPr wrap="square" lIns="0" tIns="0" rIns="0" bIns="0" rtlCol="0" anchor="ctr"/>
          <a:lstStyle/>
          <a:p>
            <a:pPr indent="0" marL="0">
              <a:buNone/>
            </a:pPr>
            <a:r>
              <a:rPr lang="en-US" sz="1150" b="1" dirty="0">
                <a:solidFill>
                  <a:srgbClr val="E9EFFA"/>
                </a:solidFill>
                <a:latin typeface="Calibri" pitchFamily="34" charset="0"/>
                <a:ea typeface="Calibri" pitchFamily="34" charset="-122"/>
                <a:cs typeface="Calibri" pitchFamily="34" charset="-120"/>
              </a:rPr>
              <a:t>ITU-T</a:t>
            </a:r>
            <a:endParaRPr lang="en-US" sz="1150" dirty="0"/>
          </a:p>
        </p:txBody>
      </p:sp>
      <p:sp>
        <p:nvSpPr>
          <p:cNvPr id="22" name="Text 20"/>
          <p:cNvSpPr txBox="1"/>
          <p:nvPr/>
        </p:nvSpPr>
        <p:spPr>
          <a:xfrm>
            <a:off x="6690208" y="2112264"/>
            <a:ext cx="4934560" cy="402336"/>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G.984 (GPON), G.9807.1 (XGS-PON), G.9804 (50G-PON), G.652 (Singlemode) · itu.int</a:t>
            </a:r>
            <a:endParaRPr lang="en-US" sz="1000" dirty="0"/>
          </a:p>
        </p:txBody>
      </p:sp>
      <p:sp>
        <p:nvSpPr>
          <p:cNvPr id="23" name="Text 21"/>
          <p:cNvSpPr txBox="1"/>
          <p:nvPr/>
        </p:nvSpPr>
        <p:spPr>
          <a:xfrm>
            <a:off x="6278728" y="2587752"/>
            <a:ext cx="36576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07</a:t>
            </a:r>
            <a:endParaRPr lang="en-US" sz="1000" dirty="0"/>
          </a:p>
        </p:txBody>
      </p:sp>
      <p:sp>
        <p:nvSpPr>
          <p:cNvPr id="24" name="Text 22"/>
          <p:cNvSpPr txBox="1"/>
          <p:nvPr/>
        </p:nvSpPr>
        <p:spPr>
          <a:xfrm>
            <a:off x="6690208" y="2587752"/>
            <a:ext cx="4934560" cy="237744"/>
          </a:xfrm>
          <a:prstGeom prst="rect">
            <a:avLst/>
          </a:prstGeom>
          <a:noFill/>
          <a:ln/>
        </p:spPr>
        <p:txBody>
          <a:bodyPr wrap="square" lIns="0" tIns="0" rIns="0" bIns="0" rtlCol="0" anchor="ctr"/>
          <a:lstStyle/>
          <a:p>
            <a:pPr indent="0" marL="0">
              <a:buNone/>
            </a:pPr>
            <a:r>
              <a:rPr lang="en-US" sz="1150" b="1" dirty="0">
                <a:solidFill>
                  <a:srgbClr val="E9EFFA"/>
                </a:solidFill>
                <a:latin typeface="Calibri" pitchFamily="34" charset="0"/>
                <a:ea typeface="Calibri" pitchFamily="34" charset="-122"/>
                <a:cs typeface="Calibri" pitchFamily="34" charset="-120"/>
              </a:rPr>
              <a:t>BMDV / Gigabitbüro des Bundes</a:t>
            </a:r>
            <a:endParaRPr lang="en-US" sz="1150" dirty="0"/>
          </a:p>
        </p:txBody>
      </p:sp>
      <p:sp>
        <p:nvSpPr>
          <p:cNvPr id="25" name="Text 23"/>
          <p:cNvSpPr txBox="1"/>
          <p:nvPr/>
        </p:nvSpPr>
        <p:spPr>
          <a:xfrm>
            <a:off x="6690208" y="2825496"/>
            <a:ext cx="4934560" cy="402336"/>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Gigabit-Grundbuch und Breitbandatlas · gigabitgrundbuch.bund.de</a:t>
            </a:r>
            <a:endParaRPr lang="en-US" sz="1000" dirty="0"/>
          </a:p>
        </p:txBody>
      </p:sp>
      <p:sp>
        <p:nvSpPr>
          <p:cNvPr id="26" name="Text 24"/>
          <p:cNvSpPr txBox="1"/>
          <p:nvPr/>
        </p:nvSpPr>
        <p:spPr>
          <a:xfrm>
            <a:off x="6278728" y="3300984"/>
            <a:ext cx="36576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08</a:t>
            </a:r>
            <a:endParaRPr lang="en-US" sz="1000" dirty="0"/>
          </a:p>
        </p:txBody>
      </p:sp>
      <p:sp>
        <p:nvSpPr>
          <p:cNvPr id="27" name="Text 25"/>
          <p:cNvSpPr txBox="1"/>
          <p:nvPr/>
        </p:nvSpPr>
        <p:spPr>
          <a:xfrm>
            <a:off x="6690208" y="3300984"/>
            <a:ext cx="4934560" cy="237744"/>
          </a:xfrm>
          <a:prstGeom prst="rect">
            <a:avLst/>
          </a:prstGeom>
          <a:noFill/>
          <a:ln/>
        </p:spPr>
        <p:txBody>
          <a:bodyPr wrap="square" lIns="0" tIns="0" rIns="0" bIns="0" rtlCol="0" anchor="ctr"/>
          <a:lstStyle/>
          <a:p>
            <a:pPr indent="0" marL="0">
              <a:buNone/>
            </a:pPr>
            <a:r>
              <a:rPr lang="en-US" sz="1150" b="1" dirty="0">
                <a:solidFill>
                  <a:srgbClr val="E9EFFA"/>
                </a:solidFill>
                <a:latin typeface="Calibri" pitchFamily="34" charset="0"/>
                <a:ea typeface="Calibri" pitchFamily="34" charset="-122"/>
                <a:cs typeface="Calibri" pitchFamily="34" charset="-120"/>
              </a:rPr>
              <a:t>FTTH Council Europe</a:t>
            </a:r>
            <a:endParaRPr lang="en-US" sz="1150" dirty="0"/>
          </a:p>
        </p:txBody>
      </p:sp>
      <p:sp>
        <p:nvSpPr>
          <p:cNvPr id="28" name="Text 26"/>
          <p:cNvSpPr txBox="1"/>
          <p:nvPr/>
        </p:nvSpPr>
        <p:spPr>
          <a:xfrm>
            <a:off x="6690208" y="3538728"/>
            <a:ext cx="4934560" cy="402336"/>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Market Panorama 2026 · ftthcouncil.eu</a:t>
            </a:r>
            <a:endParaRPr lang="en-US" sz="1000" dirty="0"/>
          </a:p>
        </p:txBody>
      </p:sp>
      <p:sp>
        <p:nvSpPr>
          <p:cNvPr id="29" name="Text 27"/>
          <p:cNvSpPr txBox="1"/>
          <p:nvPr/>
        </p:nvSpPr>
        <p:spPr>
          <a:xfrm>
            <a:off x="6278728" y="4014216"/>
            <a:ext cx="365760" cy="219456"/>
          </a:xfrm>
          <a:prstGeom prst="rect">
            <a:avLst/>
          </a:prstGeom>
          <a:noFill/>
          <a:ln/>
        </p:spPr>
        <p:txBody>
          <a:bodyPr wrap="square" lIns="0" tIns="0" rIns="0" bIns="0" rtlCol="0" anchor="ctr"/>
          <a:lstStyle/>
          <a:p>
            <a:pPr indent="0" marL="0">
              <a:buNone/>
            </a:pPr>
            <a:r>
              <a:rPr lang="en-US" sz="1000" b="1" dirty="0">
                <a:solidFill>
                  <a:srgbClr val="2EE6FF"/>
                </a:solidFill>
                <a:latin typeface="Courier New" pitchFamily="34" charset="0"/>
                <a:ea typeface="Courier New" pitchFamily="34" charset="-122"/>
                <a:cs typeface="Courier New" pitchFamily="34" charset="-120"/>
              </a:rPr>
              <a:t>09</a:t>
            </a:r>
            <a:endParaRPr lang="en-US" sz="1000" dirty="0"/>
          </a:p>
        </p:txBody>
      </p:sp>
      <p:sp>
        <p:nvSpPr>
          <p:cNvPr id="30" name="Text 28"/>
          <p:cNvSpPr txBox="1"/>
          <p:nvPr/>
        </p:nvSpPr>
        <p:spPr>
          <a:xfrm>
            <a:off x="6690208" y="4014216"/>
            <a:ext cx="4934560" cy="237744"/>
          </a:xfrm>
          <a:prstGeom prst="rect">
            <a:avLst/>
          </a:prstGeom>
          <a:noFill/>
          <a:ln/>
        </p:spPr>
        <p:txBody>
          <a:bodyPr wrap="square" lIns="0" tIns="0" rIns="0" bIns="0" rtlCol="0" anchor="ctr"/>
          <a:lstStyle/>
          <a:p>
            <a:pPr indent="0" marL="0">
              <a:buNone/>
            </a:pPr>
            <a:r>
              <a:rPr lang="en-US" sz="1150" b="1" dirty="0">
                <a:solidFill>
                  <a:srgbClr val="E9EFFA"/>
                </a:solidFill>
                <a:latin typeface="Calibri" pitchFamily="34" charset="0"/>
                <a:ea typeface="Calibri" pitchFamily="34" charset="-122"/>
                <a:cs typeface="Calibri" pitchFamily="34" charset="-120"/>
              </a:rPr>
              <a:t>Elektronik-Kompendium</a:t>
            </a:r>
            <a:endParaRPr lang="en-US" sz="1150" dirty="0"/>
          </a:p>
        </p:txBody>
      </p:sp>
      <p:sp>
        <p:nvSpPr>
          <p:cNvPr id="31" name="Text 29"/>
          <p:cNvSpPr txBox="1"/>
          <p:nvPr/>
        </p:nvSpPr>
        <p:spPr>
          <a:xfrm>
            <a:off x="6690208" y="4251960"/>
            <a:ext cx="4934560" cy="402336"/>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Lichtwellenleiter, Glasfaser, FTTx · elektronik-kompendium.de</a:t>
            </a:r>
            <a:endParaRPr lang="en-US" sz="1000" dirty="0"/>
          </a:p>
        </p:txBody>
      </p:sp>
      <p:sp>
        <p:nvSpPr>
          <p:cNvPr id="32" name="Shape 30"/>
          <p:cNvSpPr/>
          <p:nvPr/>
        </p:nvSpPr>
        <p:spPr>
          <a:xfrm>
            <a:off x="6278728" y="4727448"/>
            <a:ext cx="5346040" cy="914400"/>
          </a:xfrm>
          <a:prstGeom prst="roundRect">
            <a:avLst>
              <a:gd name="adj" fmla="val 10000"/>
            </a:avLst>
          </a:prstGeom>
          <a:solidFill>
            <a:srgbClr val="16224A"/>
          </a:solidFill>
          <a:ln w="9525">
            <a:solidFill>
              <a:srgbClr val="2EE6FF"/>
            </a:solidFill>
            <a:prstDash val="solid"/>
          </a:ln>
        </p:spPr>
      </p:sp>
      <p:sp>
        <p:nvSpPr>
          <p:cNvPr id="33" name="Text 31"/>
          <p:cNvSpPr txBox="1"/>
          <p:nvPr/>
        </p:nvSpPr>
        <p:spPr>
          <a:xfrm>
            <a:off x="6571336" y="4873752"/>
            <a:ext cx="4760824" cy="237744"/>
          </a:xfrm>
          <a:prstGeom prst="rect">
            <a:avLst/>
          </a:prstGeom>
          <a:noFill/>
          <a:ln/>
        </p:spPr>
        <p:txBody>
          <a:bodyPr wrap="square" lIns="0" tIns="0" rIns="0" bIns="0" rtlCol="0" anchor="ctr"/>
          <a:lstStyle/>
          <a:p>
            <a:pPr indent="0" marL="0">
              <a:buNone/>
            </a:pPr>
            <a:r>
              <a:rPr lang="en-US" sz="1200" b="1" dirty="0">
                <a:solidFill>
                  <a:srgbClr val="2EE6FF"/>
                </a:solidFill>
                <a:latin typeface="Calibri" pitchFamily="34" charset="0"/>
                <a:ea typeface="Calibri" pitchFamily="34" charset="-122"/>
                <a:cs typeface="Calibri" pitchFamily="34" charset="-120"/>
              </a:rPr>
              <a:t>Interaktive Fassung</a:t>
            </a:r>
            <a:endParaRPr lang="en-US" sz="1200" dirty="0"/>
          </a:p>
        </p:txBody>
      </p:sp>
      <p:sp>
        <p:nvSpPr>
          <p:cNvPr id="34" name="Text 32"/>
          <p:cNvSpPr txBox="1"/>
          <p:nvPr/>
        </p:nvSpPr>
        <p:spPr>
          <a:xfrm>
            <a:off x="6571336" y="5129784"/>
            <a:ext cx="4760824" cy="438912"/>
          </a:xfrm>
          <a:prstGeom prst="rect">
            <a:avLst/>
          </a:prstGeom>
          <a:noFill/>
          <a:ln/>
        </p:spPr>
        <p:txBody>
          <a:bodyPr wrap="square" lIns="0" tIns="0" rIns="0" bIns="0" rtlCol="0" anchor="ctr"/>
          <a:lstStyle/>
          <a:p>
            <a:pPr indent="0" marL="0">
              <a:lnSpc>
                <a:spcPct val="106000"/>
              </a:lnSpc>
              <a:buNone/>
            </a:pPr>
            <a:r>
              <a:rPr lang="en-US" sz="1000" dirty="0">
                <a:solidFill>
                  <a:srgbClr val="8E9BB8"/>
                </a:solidFill>
                <a:latin typeface="Calibri" pitchFamily="34" charset="0"/>
                <a:ea typeface="Calibri" pitchFamily="34" charset="-122"/>
                <a:cs typeface="Calibri" pitchFamily="34" charset="-120"/>
              </a:rPr>
              <a:t>Begehbarer 3D-Netzraum mit Klickpunkten, Download-Rechner und Glossar-Suche als eigenständige HTML-Datei.</a:t>
            </a:r>
            <a:endParaRPr lang="en-US" sz="1000" dirty="0"/>
          </a:p>
        </p:txBody>
      </p:sp>
      <p:sp>
        <p:nvSpPr>
          <p:cNvPr id="35" name="Text 33"/>
          <p:cNvSpPr txBox="1"/>
          <p:nvPr/>
        </p:nvSpPr>
        <p:spPr>
          <a:xfrm>
            <a:off x="566928" y="6291072"/>
            <a:ext cx="11057839" cy="274320"/>
          </a:xfrm>
          <a:prstGeom prst="rect">
            <a:avLst/>
          </a:prstGeom>
          <a:noFill/>
          <a:ln/>
        </p:spPr>
        <p:txBody>
          <a:bodyPr wrap="square" lIns="0" tIns="0" rIns="0" bIns="0" rtlCol="0" anchor="ctr"/>
          <a:lstStyle/>
          <a:p>
            <a:pPr indent="0" marL="0">
              <a:buNone/>
            </a:pPr>
            <a:r>
              <a:rPr lang="en-US" sz="900" dirty="0">
                <a:solidFill>
                  <a:srgbClr val="6A7799"/>
                </a:solidFill>
                <a:latin typeface="Courier New" pitchFamily="34" charset="0"/>
                <a:ea typeface="Courier New" pitchFamily="34" charset="-122"/>
                <a:cs typeface="Courier New" pitchFamily="34" charset="-120"/>
              </a:rPr>
              <a:t>Erstellt für das Modul WAN-Anbindung Teach:In · Anschlussart LWL / Glasfaser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Glasfaser für Teach:In</dc:title>
  <dc:subject>Anschlussart LWL / Glasfaser</dc:subject>
  <dc:creator>Teach:In · WAN-Anbindung</dc:creator>
  <cp:lastModifiedBy>Teach:In · WAN-Anbindung</cp:lastModifiedBy>
  <cp:revision>1</cp:revision>
  <dcterms:created xsi:type="dcterms:W3CDTF">2026-09-16T08:19:45Z</dcterms:created>
  <dcterms:modified xsi:type="dcterms:W3CDTF">2026-09-16T08:19:45Z</dcterms:modified>
</cp:coreProperties>
</file>